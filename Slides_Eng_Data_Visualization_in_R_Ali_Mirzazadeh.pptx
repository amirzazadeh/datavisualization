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78" r:id="rId4"/>
    <p:sldMasterId id="2147483943" r:id="rId5"/>
  </p:sldMasterIdLst>
  <p:notesMasterIdLst>
    <p:notesMasterId r:id="rId46"/>
  </p:notesMasterIdLst>
  <p:handoutMasterIdLst>
    <p:handoutMasterId r:id="rId47"/>
  </p:handoutMasterIdLst>
  <p:sldIdLst>
    <p:sldId id="2147471252" r:id="rId6"/>
    <p:sldId id="259" r:id="rId7"/>
    <p:sldId id="272" r:id="rId8"/>
    <p:sldId id="2147471315" r:id="rId9"/>
    <p:sldId id="260" r:id="rId10"/>
    <p:sldId id="261" r:id="rId11"/>
    <p:sldId id="2147471319" r:id="rId12"/>
    <p:sldId id="2147471316" r:id="rId13"/>
    <p:sldId id="262" r:id="rId14"/>
    <p:sldId id="2147471322" r:id="rId15"/>
    <p:sldId id="2147471323" r:id="rId16"/>
    <p:sldId id="2147471321" r:id="rId17"/>
    <p:sldId id="2147471324" r:id="rId18"/>
    <p:sldId id="2147471325" r:id="rId19"/>
    <p:sldId id="2147471326" r:id="rId20"/>
    <p:sldId id="2147471327" r:id="rId21"/>
    <p:sldId id="2147471317" r:id="rId22"/>
    <p:sldId id="263" r:id="rId23"/>
    <p:sldId id="258" r:id="rId24"/>
    <p:sldId id="2147471329" r:id="rId25"/>
    <p:sldId id="2147471330" r:id="rId26"/>
    <p:sldId id="2147471331" r:id="rId27"/>
    <p:sldId id="2147471333" r:id="rId28"/>
    <p:sldId id="271" r:id="rId29"/>
    <p:sldId id="2147471318" r:id="rId30"/>
    <p:sldId id="2147471314" r:id="rId31"/>
    <p:sldId id="273" r:id="rId32"/>
    <p:sldId id="274" r:id="rId33"/>
    <p:sldId id="2147471334" r:id="rId34"/>
    <p:sldId id="2147471336" r:id="rId35"/>
    <p:sldId id="275" r:id="rId36"/>
    <p:sldId id="276" r:id="rId37"/>
    <p:sldId id="277" r:id="rId38"/>
    <p:sldId id="768" r:id="rId39"/>
    <p:sldId id="278" r:id="rId40"/>
    <p:sldId id="2147471294" r:id="rId41"/>
    <p:sldId id="2147471313" r:id="rId42"/>
    <p:sldId id="2147471337" r:id="rId43"/>
    <p:sldId id="2147471312" r:id="rId44"/>
    <p:sldId id="517" r:id="rId45"/>
  </p:sldIdLst>
  <p:sldSz cx="9144000" cy="5143500" type="screen16x9"/>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89" userDrawn="1">
          <p15:clr>
            <a:srgbClr val="A4A3A4"/>
          </p15:clr>
        </p15:guide>
        <p15:guide id="2" orient="horz" pos="2608" userDrawn="1">
          <p15:clr>
            <a:srgbClr val="A4A3A4"/>
          </p15:clr>
        </p15:guide>
        <p15:guide id="3" orient="horz" pos="3024" userDrawn="1">
          <p15:clr>
            <a:srgbClr val="A4A3A4"/>
          </p15:clr>
        </p15:guide>
        <p15:guide id="4" orient="horz" pos="1637" userDrawn="1">
          <p15:clr>
            <a:srgbClr val="A4A3A4"/>
          </p15:clr>
        </p15:guide>
        <p15:guide id="5" orient="horz" pos="215" userDrawn="1">
          <p15:clr>
            <a:srgbClr val="A4A3A4"/>
          </p15:clr>
        </p15:guide>
        <p15:guide id="6" orient="horz" pos="1103" userDrawn="1">
          <p15:clr>
            <a:srgbClr val="A4A3A4"/>
          </p15:clr>
        </p15:guide>
        <p15:guide id="7" orient="horz" pos="401" userDrawn="1">
          <p15:clr>
            <a:srgbClr val="A4A3A4"/>
          </p15:clr>
        </p15:guide>
        <p15:guide id="8" orient="horz" pos="2954" userDrawn="1">
          <p15:clr>
            <a:srgbClr val="A4A3A4"/>
          </p15:clr>
        </p15:guide>
        <p15:guide id="9" orient="horz" pos="173" userDrawn="1">
          <p15:clr>
            <a:srgbClr val="A4A3A4"/>
          </p15:clr>
        </p15:guide>
        <p15:guide id="10" pos="175" userDrawn="1">
          <p15:clr>
            <a:srgbClr val="A4A3A4"/>
          </p15:clr>
        </p15:guide>
        <p15:guide id="11" pos="5590" userDrawn="1">
          <p15:clr>
            <a:srgbClr val="A4A3A4"/>
          </p15:clr>
        </p15:guide>
        <p15:guide id="12" pos="2880" userDrawn="1">
          <p15:clr>
            <a:srgbClr val="A4A3A4"/>
          </p15:clr>
        </p15:guide>
        <p15:guide id="13" pos="776" userDrawn="1">
          <p15:clr>
            <a:srgbClr val="A4A3A4"/>
          </p15:clr>
        </p15:guide>
        <p15:guide id="14" pos="1411" userDrawn="1">
          <p15:clr>
            <a:srgbClr val="A4A3A4"/>
          </p15:clr>
        </p15:guide>
        <p15:guide id="15" pos="5287" userDrawn="1">
          <p15:clr>
            <a:srgbClr val="A4A3A4"/>
          </p15:clr>
        </p15:guide>
        <p15:guide id="16" pos="346" userDrawn="1">
          <p15:clr>
            <a:srgbClr val="A4A3A4"/>
          </p15:clr>
        </p15:guide>
        <p15:guide id="17" pos="4090" userDrawn="1">
          <p15:clr>
            <a:srgbClr val="A4A3A4"/>
          </p15:clr>
        </p15:guide>
      </p15:sldGuideLst>
    </p:ext>
    <p:ext uri="{2D200454-40CA-4A62-9FC3-DE9A4176ACB9}">
      <p15:notesGuideLst xmlns:p15="http://schemas.microsoft.com/office/powerpoint/2012/main">
        <p15:guide id="1" orient="horz" pos="2592" userDrawn="1">
          <p15:clr>
            <a:srgbClr val="A4A3A4"/>
          </p15:clr>
        </p15:guide>
        <p15:guide id="2" orient="horz" pos="5542" userDrawn="1">
          <p15:clr>
            <a:srgbClr val="A4A3A4"/>
          </p15:clr>
        </p15:guide>
        <p15:guide id="3" orient="horz" pos="5777" userDrawn="1">
          <p15:clr>
            <a:srgbClr val="A4A3A4"/>
          </p15:clr>
        </p15:guide>
        <p15:guide id="4" pos="286" userDrawn="1">
          <p15:clr>
            <a:srgbClr val="A4A3A4"/>
          </p15:clr>
        </p15:guide>
        <p15:guide id="5" pos="403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82C4806-E75D-8695-526E-CF2350718B9E}" name="Nguyen, Asia (CDC/DDPHSIS/CGH/DGHT) (CTR)" initials="NA((" userId="Nguyen, Asia (CDC/DDPHSIS/CGH/DGHT) (CTR)" providerId="None"/>
  <p188:author id="{B516C23D-9F48-62D4-14C2-BC56DB3B3867}" name="Mcfarland, Willi" initials="WM" userId="S::Willi.McFarland@ucsf.edu::c645bd91-98ac-42fc-93b6-d92f94e10f64" providerId="AD"/>
  <p188:author id="{8E67C668-85AB-246D-B9C5-201A2179400D}" name="Microsoft Office User" initials="MOU" userId="10272014444_tp_box_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1848"/>
    <a:srgbClr val="178CCB"/>
    <a:srgbClr val="18A3AC"/>
    <a:srgbClr val="6C62D0"/>
    <a:srgbClr val="052049"/>
    <a:srgbClr val="90BD31"/>
    <a:srgbClr val="000000"/>
    <a:srgbClr val="F48024"/>
    <a:srgbClr val="E8E7DE"/>
    <a:srgbClr val="F5F0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1" autoAdjust="0"/>
    <p:restoredTop sz="86712" autoAdjust="0"/>
  </p:normalViewPr>
  <p:slideViewPr>
    <p:cSldViewPr snapToGrid="0" showGuides="1">
      <p:cViewPr varScale="1">
        <p:scale>
          <a:sx n="126" d="100"/>
          <a:sy n="126" d="100"/>
        </p:scale>
        <p:origin x="192" y="408"/>
      </p:cViewPr>
      <p:guideLst>
        <p:guide orient="horz" pos="789"/>
        <p:guide orient="horz" pos="2608"/>
        <p:guide orient="horz" pos="3024"/>
        <p:guide orient="horz" pos="1637"/>
        <p:guide orient="horz" pos="215"/>
        <p:guide orient="horz" pos="1103"/>
        <p:guide orient="horz" pos="401"/>
        <p:guide orient="horz" pos="2954"/>
        <p:guide orient="horz" pos="173"/>
        <p:guide pos="175"/>
        <p:guide pos="5590"/>
        <p:guide pos="2880"/>
        <p:guide pos="776"/>
        <p:guide pos="1411"/>
        <p:guide pos="5287"/>
        <p:guide pos="346"/>
        <p:guide pos="4090"/>
      </p:guideLst>
    </p:cSldViewPr>
  </p:slideViewPr>
  <p:outlineViewPr>
    <p:cViewPr>
      <p:scale>
        <a:sx n="33" d="100"/>
        <a:sy n="33" d="100"/>
      </p:scale>
      <p:origin x="0" y="0"/>
    </p:cViewPr>
  </p:outlineViewPr>
  <p:notesTextViewPr>
    <p:cViewPr>
      <p:scale>
        <a:sx n="3" d="2"/>
        <a:sy n="3" d="2"/>
      </p:scale>
      <p:origin x="0" y="0"/>
    </p:cViewPr>
  </p:notesTextViewPr>
  <p:sorterViewPr>
    <p:cViewPr>
      <p:scale>
        <a:sx n="71" d="100"/>
        <a:sy n="71" d="100"/>
      </p:scale>
      <p:origin x="0" y="0"/>
    </p:cViewPr>
  </p:sorterViewPr>
  <p:notesViewPr>
    <p:cSldViewPr snapToGrid="0">
      <p:cViewPr>
        <p:scale>
          <a:sx n="108" d="100"/>
          <a:sy n="108" d="100"/>
        </p:scale>
        <p:origin x="2576" y="-240"/>
      </p:cViewPr>
      <p:guideLst>
        <p:guide orient="horz" pos="2592"/>
        <p:guide orient="horz" pos="5542"/>
        <p:guide orient="horz" pos="5777"/>
        <p:guide pos="286"/>
        <p:guide pos="403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44" name="Straight Connector 43"/>
          <p:cNvCxnSpPr/>
          <p:nvPr/>
        </p:nvCxnSpPr>
        <p:spPr>
          <a:xfrm>
            <a:off x="455585" y="8795705"/>
            <a:ext cx="5943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Slide Number Placeholder 6"/>
          <p:cNvSpPr>
            <a:spLocks noGrp="1"/>
          </p:cNvSpPr>
          <p:nvPr>
            <p:ph type="sldNum" sz="quarter" idx="3"/>
          </p:nvPr>
        </p:nvSpPr>
        <p:spPr>
          <a:xfrm>
            <a:off x="403350" y="8880855"/>
            <a:ext cx="281232" cy="105317"/>
          </a:xfrm>
          <a:prstGeom prst="rect">
            <a:avLst/>
          </a:prstGeom>
        </p:spPr>
        <p:txBody>
          <a:bodyPr vert="horz" wrap="square" lIns="0" tIns="0" rIns="0" bIns="0" rtlCol="0" anchor="b" anchorCtr="0"/>
          <a:lstStyle>
            <a:lvl1pPr marL="0" algn="l" defTabSz="914400" rtl="0" eaLnBrk="1" latinLnBrk="0" hangingPunct="1">
              <a:defRPr lang="en-US" sz="800" kern="1200" smtClean="0">
                <a:solidFill>
                  <a:schemeClr val="tx1"/>
                </a:solidFill>
                <a:latin typeface="+mn-lt"/>
                <a:ea typeface="+mn-ea"/>
                <a:cs typeface="+mn-cs"/>
              </a:defRPr>
            </a:lvl1pPr>
          </a:lstStyle>
          <a:p>
            <a:pPr algn="r"/>
            <a:fld id="{111E5896-917A-4035-A860-408E1EC3CD51}" type="slidenum">
              <a:rPr lang="en-US">
                <a:solidFill>
                  <a:srgbClr val="052049"/>
                </a:solidFill>
                <a:latin typeface="Arial" panose="020B0604020202020204" pitchFamily="34" charset="0"/>
                <a:cs typeface="Arial" panose="020B0604020202020204" pitchFamily="34" charset="0"/>
              </a:rPr>
              <a:pPr algn="r"/>
              <a:t>‹#›</a:t>
            </a:fld>
            <a:endParaRPr lang="en-US" dirty="0">
              <a:solidFill>
                <a:srgbClr val="052049"/>
              </a:solidFill>
              <a:latin typeface="Arial" panose="020B0604020202020204" pitchFamily="34" charset="0"/>
              <a:cs typeface="Arial" panose="020B0604020202020204" pitchFamily="34" charset="0"/>
            </a:endParaRPr>
          </a:p>
        </p:txBody>
      </p:sp>
      <p:pic>
        <p:nvPicPr>
          <p:cNvPr id="20" name="Picture 7"/>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802407" y="8866372"/>
            <a:ext cx="599982" cy="29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2"/>
          </p:nvPr>
        </p:nvSpPr>
        <p:spPr>
          <a:xfrm>
            <a:off x="636536" y="8821324"/>
            <a:ext cx="2971800" cy="131586"/>
          </a:xfrm>
          <a:prstGeom prst="rect">
            <a:avLst/>
          </a:prstGeom>
        </p:spPr>
        <p:txBody>
          <a:bodyPr vert="horz" lIns="91440" tIns="45720" rIns="91440" bIns="45720" rtlCol="0" anchor="t"/>
          <a:lstStyle>
            <a:lvl1pPr algn="l">
              <a:defRPr sz="1200"/>
            </a:lvl1pPr>
          </a:lstStyle>
          <a:p>
            <a:r>
              <a:rPr lang="en-US" sz="800" dirty="0">
                <a:solidFill>
                  <a:srgbClr val="052049"/>
                </a:solidFill>
                <a:latin typeface="Arial" panose="020B0604020202020204" pitchFamily="34" charset="0"/>
              </a:rPr>
              <a:t>| [footer text here]</a:t>
            </a:r>
          </a:p>
        </p:txBody>
      </p:sp>
    </p:spTree>
    <p:extLst>
      <p:ext uri="{BB962C8B-B14F-4D97-AF65-F5344CB8AC3E}">
        <p14:creationId xmlns:p14="http://schemas.microsoft.com/office/powerpoint/2010/main" val="1828329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12750" y="400050"/>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441268" y="4080297"/>
            <a:ext cx="5961120" cy="4480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29" name="Straight Connector 28"/>
          <p:cNvCxnSpPr/>
          <p:nvPr/>
        </p:nvCxnSpPr>
        <p:spPr>
          <a:xfrm>
            <a:off x="455585" y="8795705"/>
            <a:ext cx="59436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3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2407" y="8866372"/>
            <a:ext cx="599982" cy="29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Slide Number Placeholder 6"/>
          <p:cNvSpPr>
            <a:spLocks noGrp="1"/>
          </p:cNvSpPr>
          <p:nvPr>
            <p:ph type="sldNum" sz="quarter" idx="5"/>
          </p:nvPr>
        </p:nvSpPr>
        <p:spPr>
          <a:xfrm>
            <a:off x="403350" y="8880855"/>
            <a:ext cx="281232" cy="105317"/>
          </a:xfrm>
          <a:prstGeom prst="rect">
            <a:avLst/>
          </a:prstGeom>
        </p:spPr>
        <p:txBody>
          <a:bodyPr vert="horz" wrap="square" lIns="0" tIns="0" rIns="0" bIns="0" rtlCol="0" anchor="b" anchorCtr="0"/>
          <a:lstStyle>
            <a:lvl1pPr marL="0" algn="l" defTabSz="914400" rtl="0" eaLnBrk="1" latinLnBrk="0" hangingPunct="1">
              <a:defRPr lang="en-US" sz="800" b="0" i="0" kern="1200" smtClean="0">
                <a:solidFill>
                  <a:schemeClr val="tx1"/>
                </a:solidFill>
                <a:latin typeface="Arial" panose="020B0604020202020204" pitchFamily="34" charset="0"/>
                <a:ea typeface="+mn-ea"/>
                <a:cs typeface="Arial" panose="020B0604020202020204" pitchFamily="34" charset="0"/>
              </a:defRPr>
            </a:lvl1pPr>
          </a:lstStyle>
          <a:p>
            <a:pPr algn="r"/>
            <a:fld id="{111E5896-917A-4035-A860-408E1EC3CD51}" type="slidenum">
              <a:rPr lang="en-US" smtClean="0">
                <a:solidFill>
                  <a:srgbClr val="052049"/>
                </a:solidFill>
              </a:rPr>
              <a:pPr algn="r"/>
              <a:t>‹#›</a:t>
            </a:fld>
            <a:endParaRPr lang="en-US" dirty="0">
              <a:solidFill>
                <a:srgbClr val="052049"/>
              </a:solidFill>
            </a:endParaRPr>
          </a:p>
        </p:txBody>
      </p:sp>
      <p:sp>
        <p:nvSpPr>
          <p:cNvPr id="10" name="Footer Placeholder 3"/>
          <p:cNvSpPr>
            <a:spLocks noGrp="1"/>
          </p:cNvSpPr>
          <p:nvPr>
            <p:ph type="ftr" sz="quarter" idx="4"/>
          </p:nvPr>
        </p:nvSpPr>
        <p:spPr>
          <a:xfrm>
            <a:off x="636536" y="8821324"/>
            <a:ext cx="2971800" cy="131586"/>
          </a:xfrm>
          <a:prstGeom prst="rect">
            <a:avLst/>
          </a:prstGeom>
        </p:spPr>
        <p:txBody>
          <a:bodyPr vert="horz" lIns="91440" tIns="45720" rIns="91440" bIns="45720" rtlCol="0" anchor="t"/>
          <a:lstStyle>
            <a:lvl1pPr algn="l">
              <a:defRPr sz="1200" b="0" i="0">
                <a:latin typeface="Arial" panose="020B0604020202020204" pitchFamily="34" charset="0"/>
              </a:defRPr>
            </a:lvl1pPr>
          </a:lstStyle>
          <a:p>
            <a:r>
              <a:rPr lang="en-US" sz="800" dirty="0">
                <a:solidFill>
                  <a:srgbClr val="052049"/>
                </a:solidFill>
              </a:rPr>
              <a:t>| [footer text here]</a:t>
            </a:r>
          </a:p>
        </p:txBody>
      </p:sp>
      <p:sp>
        <p:nvSpPr>
          <p:cNvPr id="2" name="Date Placeholder 1"/>
          <p:cNvSpPr>
            <a:spLocks noGrp="1"/>
          </p:cNvSpPr>
          <p:nvPr>
            <p:ph type="dt" idx="1"/>
          </p:nvPr>
        </p:nvSpPr>
        <p:spPr>
          <a:xfrm>
            <a:off x="3884613" y="3"/>
            <a:ext cx="2971800" cy="466725"/>
          </a:xfrm>
          <a:prstGeom prst="rect">
            <a:avLst/>
          </a:prstGeom>
        </p:spPr>
        <p:txBody>
          <a:bodyPr vert="horz" lIns="91440" tIns="45720" rIns="91440" bIns="45720" rtlCol="0"/>
          <a:lstStyle>
            <a:lvl1pPr algn="r">
              <a:defRPr sz="1200" b="0" i="0">
                <a:latin typeface="Arial" panose="020B0604020202020204" pitchFamily="34" charset="0"/>
              </a:defRPr>
            </a:lvl1pPr>
          </a:lstStyle>
          <a:p>
            <a:fld id="{EF798EC2-7587-174C-8F9B-BEC1CFBF2B9A}" type="datetimeFigureOut">
              <a:rPr lang="en-US" smtClean="0"/>
              <a:pPr/>
              <a:t>3/17/26</a:t>
            </a:fld>
            <a:endParaRPr lang="en-US" dirty="0"/>
          </a:p>
        </p:txBody>
      </p:sp>
    </p:spTree>
    <p:extLst>
      <p:ext uri="{BB962C8B-B14F-4D97-AF65-F5344CB8AC3E}">
        <p14:creationId xmlns:p14="http://schemas.microsoft.com/office/powerpoint/2010/main" val="450748310"/>
      </p:ext>
    </p:extLst>
  </p:cSld>
  <p:clrMap bg1="lt1" tx1="dk1" bg2="lt2" tx2="dk2" accent1="accent1" accent2="accent2" accent3="accent3" accent4="accent4" accent5="accent5" accent6="accent6" hlink="hlink" folHlink="folHlink"/>
  <p:hf hdr="0" dt="0"/>
  <p:notesStyle>
    <a:lvl1pPr marL="114300" indent="-114300" algn="l" defTabSz="914400" rtl="0" eaLnBrk="1" latinLnBrk="0" hangingPunct="1">
      <a:spcBef>
        <a:spcPts val="800"/>
      </a:spcBef>
      <a:buClr>
        <a:srgbClr val="178CCB"/>
      </a:buClr>
      <a:buFont typeface="Arial" pitchFamily="34" charset="0"/>
      <a:buChar char="•"/>
      <a:defRPr sz="1200" b="0" i="0" kern="1200">
        <a:solidFill>
          <a:srgbClr val="052049"/>
        </a:solidFill>
        <a:latin typeface="Arial" panose="020B0604020202020204" pitchFamily="34" charset="0"/>
        <a:ea typeface="+mn-ea"/>
        <a:cs typeface="Arial" panose="020B0604020202020204" pitchFamily="34" charset="0"/>
      </a:defRPr>
    </a:lvl1pPr>
    <a:lvl2pPr marL="285750" indent="-112713" algn="l" defTabSz="914400" rtl="0" eaLnBrk="1" latinLnBrk="0" hangingPunct="1">
      <a:spcBef>
        <a:spcPts val="200"/>
      </a:spcBef>
      <a:buClr>
        <a:srgbClr val="178CCB"/>
      </a:buClr>
      <a:buFont typeface="Arial" pitchFamily="34" charset="0"/>
      <a:buChar char="•"/>
      <a:defRPr sz="1100" b="0" i="0" kern="1200">
        <a:solidFill>
          <a:srgbClr val="052049"/>
        </a:solidFill>
        <a:latin typeface="Arial" panose="020B0604020202020204" pitchFamily="34" charset="0"/>
        <a:ea typeface="+mn-ea"/>
        <a:cs typeface="Arial" panose="020B0604020202020204" pitchFamily="34" charset="0"/>
      </a:defRPr>
    </a:lvl2pPr>
    <a:lvl3pPr marL="403225" indent="-117475" algn="l" defTabSz="914400" rtl="0" eaLnBrk="1" latinLnBrk="0" hangingPunct="1">
      <a:spcBef>
        <a:spcPts val="200"/>
      </a:spcBef>
      <a:buClr>
        <a:srgbClr val="178CCB"/>
      </a:buClr>
      <a:buFont typeface="Arial" pitchFamily="34" charset="0"/>
      <a:buChar char="•"/>
      <a:defRPr sz="1050" b="0" i="0" kern="1200">
        <a:solidFill>
          <a:srgbClr val="052049"/>
        </a:solidFill>
        <a:latin typeface="Arial" panose="020B0604020202020204" pitchFamily="34" charset="0"/>
        <a:ea typeface="+mn-ea"/>
        <a:cs typeface="Arial" panose="020B0604020202020204" pitchFamily="34" charset="0"/>
      </a:defRPr>
    </a:lvl3pPr>
    <a:lvl4pPr marL="569913" indent="-112713" algn="l" defTabSz="914400" rtl="0" eaLnBrk="1" latinLnBrk="0" hangingPunct="1">
      <a:spcBef>
        <a:spcPts val="200"/>
      </a:spcBef>
      <a:buClr>
        <a:srgbClr val="178CCB"/>
      </a:buClr>
      <a:buFont typeface="Arial" pitchFamily="34" charset="0"/>
      <a:buChar char="•"/>
      <a:defRPr sz="1050" b="0" i="0" kern="1200">
        <a:solidFill>
          <a:srgbClr val="052049"/>
        </a:solidFill>
        <a:latin typeface="Arial" panose="020B0604020202020204" pitchFamily="34" charset="0"/>
        <a:ea typeface="+mn-ea"/>
        <a:cs typeface="Arial" panose="020B0604020202020204" pitchFamily="34" charset="0"/>
      </a:defRPr>
    </a:lvl4pPr>
    <a:lvl5pPr marL="457200" indent="114300" algn="l" defTabSz="914400" rtl="0" eaLnBrk="1" latinLnBrk="0" hangingPunct="1">
      <a:buFont typeface="Arial" pitchFamily="34" charset="0"/>
      <a:buChar char="•"/>
      <a:defRPr sz="1050" kern="1200">
        <a:solidFill>
          <a:schemeClr val="tx1"/>
        </a:solidFill>
        <a:latin typeface="+mn-lt"/>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gadm.org/"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1</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50303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703147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924742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D96E0-2AC2-289C-A6D7-CABCDCC39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5DC83-F853-4D34-D2DD-D1CCF42D53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F126F0-084E-15BF-80F5-2742E2B8AE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4BA6C2-9F35-70E4-3DEB-31336ECDAE07}"/>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4</a:t>
            </a:fld>
            <a:endParaRPr lang="en-US" dirty="0">
              <a:solidFill>
                <a:srgbClr val="052049"/>
              </a:solidFill>
            </a:endParaRPr>
          </a:p>
        </p:txBody>
      </p:sp>
      <p:sp>
        <p:nvSpPr>
          <p:cNvPr id="5" name="Footer Placeholder 4">
            <a:extLst>
              <a:ext uri="{FF2B5EF4-FFF2-40B4-BE49-F238E27FC236}">
                <a16:creationId xmlns:a16="http://schemas.microsoft.com/office/drawing/2014/main" id="{35AEC56E-AEB2-E0FD-D57E-CBBACA85D8EA}"/>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08712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5</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649469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6</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5585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B3FE-3366-8A4E-76AE-C7736D7AB3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8612D-DDD7-0D08-E13E-967DAF6996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E2770E-6B67-CFD1-ED99-6FB71A880CC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3857DD-8F20-2261-78A6-F34001F9C34C}"/>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7</a:t>
            </a:fld>
            <a:endParaRPr lang="en-US" dirty="0">
              <a:solidFill>
                <a:srgbClr val="052049"/>
              </a:solidFill>
            </a:endParaRPr>
          </a:p>
        </p:txBody>
      </p:sp>
      <p:sp>
        <p:nvSpPr>
          <p:cNvPr id="5" name="Footer Placeholder 4">
            <a:extLst>
              <a:ext uri="{FF2B5EF4-FFF2-40B4-BE49-F238E27FC236}">
                <a16:creationId xmlns:a16="http://schemas.microsoft.com/office/drawing/2014/main" id="{B2E25A45-8C14-DC5D-2C41-038A0BAC46EE}"/>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983335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5DE7A-23F9-1AA0-7D34-1D0B82042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898E2-C1DE-A698-9616-49F9ECCF74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7FE3F7-1C56-A9D3-82CD-6B97C38F8F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126E24-7B0B-8C99-043C-1B1DD7D19DD1}"/>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8</a:t>
            </a:fld>
            <a:endParaRPr lang="en-US" dirty="0">
              <a:solidFill>
                <a:srgbClr val="052049"/>
              </a:solidFill>
            </a:endParaRPr>
          </a:p>
        </p:txBody>
      </p:sp>
      <p:sp>
        <p:nvSpPr>
          <p:cNvPr id="5" name="Footer Placeholder 4">
            <a:extLst>
              <a:ext uri="{FF2B5EF4-FFF2-40B4-BE49-F238E27FC236}">
                <a16:creationId xmlns:a16="http://schemas.microsoft.com/office/drawing/2014/main" id="{F4F6C6A5-AB07-7828-113B-E91212AE4A1A}"/>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222216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9</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511101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A9437-01E7-A33D-12BB-75EEA7E02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0AA86-7A64-7B2B-86C8-ABEBE1BA99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B9186F-C8AA-0F95-4E0F-32FF5AE4E0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F83B07-E878-4ABC-1456-1D3E835BC711}"/>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10</a:t>
            </a:fld>
            <a:endParaRPr lang="en-US" dirty="0">
              <a:solidFill>
                <a:srgbClr val="052049"/>
              </a:solidFill>
            </a:endParaRPr>
          </a:p>
        </p:txBody>
      </p:sp>
      <p:sp>
        <p:nvSpPr>
          <p:cNvPr id="5" name="Footer Placeholder 4">
            <a:extLst>
              <a:ext uri="{FF2B5EF4-FFF2-40B4-BE49-F238E27FC236}">
                <a16:creationId xmlns:a16="http://schemas.microsoft.com/office/drawing/2014/main" id="{3A797C27-8D5A-5CED-BA13-3318F215125D}"/>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635331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7C2B7-6228-9686-1990-08D57EB4F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3DB55-31FA-E416-8CCE-EC0AD143C4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A9939B8-25D9-4B40-109C-65DD71B868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EA1097-3841-6DE9-7849-21DA59262579}"/>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11</a:t>
            </a:fld>
            <a:endParaRPr lang="en-US" dirty="0">
              <a:solidFill>
                <a:srgbClr val="052049"/>
              </a:solidFill>
            </a:endParaRPr>
          </a:p>
        </p:txBody>
      </p:sp>
      <p:sp>
        <p:nvSpPr>
          <p:cNvPr id="5" name="Footer Placeholder 4">
            <a:extLst>
              <a:ext uri="{FF2B5EF4-FFF2-40B4-BE49-F238E27FC236}">
                <a16:creationId xmlns:a16="http://schemas.microsoft.com/office/drawing/2014/main" id="{7E435E79-926F-3EB2-C448-5B94A0AED027}"/>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733854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60EFE-1BD9-85C0-3864-FCD5F525D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736FF-9C32-A5EA-2EDC-E15FDEDB43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3F57F8-8056-2D05-970A-E68A2C7676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AFD52C-F194-D00A-ACCD-0F4C08192180}"/>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12</a:t>
            </a:fld>
            <a:endParaRPr lang="en-US" dirty="0">
              <a:solidFill>
                <a:srgbClr val="052049"/>
              </a:solidFill>
            </a:endParaRPr>
          </a:p>
        </p:txBody>
      </p:sp>
      <p:sp>
        <p:nvSpPr>
          <p:cNvPr id="5" name="Footer Placeholder 4">
            <a:extLst>
              <a:ext uri="{FF2B5EF4-FFF2-40B4-BE49-F238E27FC236}">
                <a16:creationId xmlns:a16="http://schemas.microsoft.com/office/drawing/2014/main" id="{931CB5DA-3442-2236-EA89-C3D3C5D68E34}"/>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979692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4F74F-BC74-E30E-339E-0A04193D0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9456C-5E4B-D5C0-2EC9-DD58370EF1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F25540-22BB-1C4F-721C-C9122AE189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ED7AD3-891C-E503-EF92-BEDEBB38D913}"/>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13</a:t>
            </a:fld>
            <a:endParaRPr lang="en-US" dirty="0">
              <a:solidFill>
                <a:srgbClr val="052049"/>
              </a:solidFill>
            </a:endParaRPr>
          </a:p>
        </p:txBody>
      </p:sp>
      <p:sp>
        <p:nvSpPr>
          <p:cNvPr id="5" name="Footer Placeholder 4">
            <a:extLst>
              <a:ext uri="{FF2B5EF4-FFF2-40B4-BE49-F238E27FC236}">
                <a16:creationId xmlns:a16="http://schemas.microsoft.com/office/drawing/2014/main" id="{94330103-8E5D-444D-A390-B9207E1A2AC5}"/>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467857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FE489-60B1-0F9F-4737-785DF1A63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38A02-8CA4-6BC1-B5AD-1C552EE988A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D47A24-B366-29A3-C55F-B3C5BC7DAF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A39563-B82B-03AE-1103-5B471143E516}"/>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14</a:t>
            </a:fld>
            <a:endParaRPr lang="en-US" dirty="0">
              <a:solidFill>
                <a:srgbClr val="052049"/>
              </a:solidFill>
            </a:endParaRPr>
          </a:p>
        </p:txBody>
      </p:sp>
      <p:sp>
        <p:nvSpPr>
          <p:cNvPr id="5" name="Footer Placeholder 4">
            <a:extLst>
              <a:ext uri="{FF2B5EF4-FFF2-40B4-BE49-F238E27FC236}">
                <a16:creationId xmlns:a16="http://schemas.microsoft.com/office/drawing/2014/main" id="{A39C41DF-A6CC-9D77-1A96-944F46FD26F4}"/>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799751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167B-C91A-9A79-C3E2-203492FDB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2E9D9-2888-5E06-FDF4-7EEC37EB12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BCE33C-20A1-112A-DEC7-1526D3780D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EC4081-0A63-4374-92D0-BC2AB5034DEB}"/>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15</a:t>
            </a:fld>
            <a:endParaRPr lang="en-US" dirty="0">
              <a:solidFill>
                <a:srgbClr val="052049"/>
              </a:solidFill>
            </a:endParaRPr>
          </a:p>
        </p:txBody>
      </p:sp>
      <p:sp>
        <p:nvSpPr>
          <p:cNvPr id="5" name="Footer Placeholder 4">
            <a:extLst>
              <a:ext uri="{FF2B5EF4-FFF2-40B4-BE49-F238E27FC236}">
                <a16:creationId xmlns:a16="http://schemas.microsoft.com/office/drawing/2014/main" id="{630BAD2F-F923-C8F1-D41E-D0D7CC648A23}"/>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8576919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78CA0-68CD-C387-82C5-B8BD57289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CB60E-2C69-4F97-E1AD-9259ED714F2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28ECD2-14C1-22C0-D4CB-BD5876C15B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AE87A3-3C7D-FFDA-EA3D-A3C942D095A4}"/>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16</a:t>
            </a:fld>
            <a:endParaRPr lang="en-US" dirty="0">
              <a:solidFill>
                <a:srgbClr val="052049"/>
              </a:solidFill>
            </a:endParaRPr>
          </a:p>
        </p:txBody>
      </p:sp>
      <p:sp>
        <p:nvSpPr>
          <p:cNvPr id="5" name="Footer Placeholder 4">
            <a:extLst>
              <a:ext uri="{FF2B5EF4-FFF2-40B4-BE49-F238E27FC236}">
                <a16:creationId xmlns:a16="http://schemas.microsoft.com/office/drawing/2014/main" id="{7218A383-86BC-3D30-38E5-51B5B8D24095}"/>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753749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0B2DE-DB90-4E83-4C65-08FA8B355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75513-F27B-12B8-BED6-B31D923E29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A58C0B-F3D6-B195-1767-0142473710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7FCEF1-3048-A005-2B3F-D3C9E3AA71A1}"/>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17</a:t>
            </a:fld>
            <a:endParaRPr lang="en-US" dirty="0">
              <a:solidFill>
                <a:srgbClr val="052049"/>
              </a:solidFill>
            </a:endParaRPr>
          </a:p>
        </p:txBody>
      </p:sp>
      <p:sp>
        <p:nvSpPr>
          <p:cNvPr id="5" name="Footer Placeholder 4">
            <a:extLst>
              <a:ext uri="{FF2B5EF4-FFF2-40B4-BE49-F238E27FC236}">
                <a16:creationId xmlns:a16="http://schemas.microsoft.com/office/drawing/2014/main" id="{2154279B-2E09-D31D-9BAC-8C6395B2F8BF}"/>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750744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18</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511990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19</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856273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20</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8786831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21</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42055601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DCD35-9CD0-E433-A838-F99A0C5CD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4935F-98B0-A05F-8C8C-3B3C0C4F348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0FBA39-06E4-AD7A-F34B-0AC193F78C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345F83-54B1-2999-A7B9-0DEA2E591014}"/>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22</a:t>
            </a:fld>
            <a:endParaRPr lang="en-US" dirty="0">
              <a:solidFill>
                <a:srgbClr val="052049"/>
              </a:solidFill>
            </a:endParaRPr>
          </a:p>
        </p:txBody>
      </p:sp>
      <p:sp>
        <p:nvSpPr>
          <p:cNvPr id="5" name="Footer Placeholder 4">
            <a:extLst>
              <a:ext uri="{FF2B5EF4-FFF2-40B4-BE49-F238E27FC236}">
                <a16:creationId xmlns:a16="http://schemas.microsoft.com/office/drawing/2014/main" id="{BD43D72D-CB55-4E7B-742F-186E99619452}"/>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6691308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7C80E-2E91-C50D-9A2E-3D7585759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27EC8-F734-05FA-F568-7FCA697A15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06B23BA-DBF3-3C40-D80F-267E2E48FF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07CF146-21BF-99CA-8348-C083B08B94A4}"/>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23</a:t>
            </a:fld>
            <a:endParaRPr lang="en-US" dirty="0">
              <a:solidFill>
                <a:srgbClr val="052049"/>
              </a:solidFill>
            </a:endParaRPr>
          </a:p>
        </p:txBody>
      </p:sp>
      <p:sp>
        <p:nvSpPr>
          <p:cNvPr id="5" name="Footer Placeholder 4">
            <a:extLst>
              <a:ext uri="{FF2B5EF4-FFF2-40B4-BE49-F238E27FC236}">
                <a16:creationId xmlns:a16="http://schemas.microsoft.com/office/drawing/2014/main" id="{1E09E3FF-E529-B889-DD36-59BF87E0AF2D}"/>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0585491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24</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505075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0429C-9F3E-1399-4DAF-E02D2D86C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89A7A-7F3E-15EF-F898-8321160C93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6883FE-673A-06E7-80B7-18E12B5D5C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E687D8-99CB-E3EE-CCF0-710E7168F466}"/>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25</a:t>
            </a:fld>
            <a:endParaRPr lang="en-US" dirty="0">
              <a:solidFill>
                <a:srgbClr val="052049"/>
              </a:solidFill>
            </a:endParaRPr>
          </a:p>
        </p:txBody>
      </p:sp>
      <p:sp>
        <p:nvSpPr>
          <p:cNvPr id="5" name="Footer Placeholder 4">
            <a:extLst>
              <a:ext uri="{FF2B5EF4-FFF2-40B4-BE49-F238E27FC236}">
                <a16:creationId xmlns:a16="http://schemas.microsoft.com/office/drawing/2014/main" id="{C80D0C0B-70C4-23F0-4EC1-B6BEB47C2F56}"/>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4060893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26</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7026314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27</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8230138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r>
              <a:rPr lang="en-US" sz="1200" b="1" dirty="0">
                <a:solidFill>
                  <a:srgbClr val="178CCB"/>
                </a:solidFill>
              </a:rPr>
              <a:t>library(geodata)</a:t>
            </a:r>
          </a:p>
          <a:p>
            <a:pPr marL="0" indent="0">
              <a:buNone/>
            </a:pPr>
            <a:r>
              <a:rPr lang="en-US" sz="1200" dirty="0">
                <a:solidFill>
                  <a:srgbClr val="178CCB"/>
                </a:solidFill>
              </a:rPr>
              <a:t># download Vietnam province boundaries from GADM (</a:t>
            </a:r>
            <a:r>
              <a:rPr lang="en-US" sz="1200" dirty="0">
                <a:solidFill>
                  <a:srgbClr val="178CCB"/>
                </a:solidFill>
                <a:hlinkClick r:id="rId3"/>
              </a:rPr>
              <a:t>https://gadm.org/</a:t>
            </a:r>
            <a:r>
              <a:rPr lang="en-US" sz="1200" dirty="0">
                <a:solidFill>
                  <a:srgbClr val="178CCB"/>
                </a:solidFill>
              </a:rPr>
              <a:t>)</a:t>
            </a:r>
          </a:p>
          <a:p>
            <a:pPr marL="0" indent="0">
              <a:buNone/>
            </a:pPr>
            <a:r>
              <a:rPr lang="en-US" sz="1200" dirty="0">
                <a:solidFill>
                  <a:srgbClr val="178CCB"/>
                </a:solidFill>
              </a:rPr>
              <a:t>map &lt;- geodata::</a:t>
            </a:r>
            <a:r>
              <a:rPr lang="en-US" sz="1200" dirty="0" err="1">
                <a:solidFill>
                  <a:srgbClr val="178CCB"/>
                </a:solidFill>
              </a:rPr>
              <a:t>gadm</a:t>
            </a:r>
            <a:r>
              <a:rPr lang="en-US" sz="1200" dirty="0">
                <a:solidFill>
                  <a:srgbClr val="178CCB"/>
                </a:solidFill>
              </a:rPr>
              <a:t>(country = "VNM", level = 1, path = </a:t>
            </a:r>
            <a:r>
              <a:rPr lang="en-US" sz="1200" dirty="0" err="1">
                <a:solidFill>
                  <a:srgbClr val="178CCB"/>
                </a:solidFill>
              </a:rPr>
              <a:t>tempdir</a:t>
            </a:r>
            <a:r>
              <a:rPr lang="en-US" sz="1200" dirty="0">
                <a:solidFill>
                  <a:srgbClr val="178CCB"/>
                </a:solidFill>
              </a:rPr>
              <a:t>())</a:t>
            </a:r>
          </a:p>
          <a:p>
            <a:pPr marL="0" indent="0">
              <a:buNone/>
            </a:pPr>
            <a:endParaRPr lang="en-US" sz="1200" dirty="0">
              <a:solidFill>
                <a:srgbClr val="178CCB"/>
              </a:solidFill>
            </a:endParaRPr>
          </a:p>
          <a:p>
            <a:pPr marL="0" indent="0">
              <a:buNone/>
            </a:pPr>
            <a:endParaRPr lang="en-US" sz="1200" b="1" dirty="0">
              <a:solidFill>
                <a:srgbClr val="178CCB"/>
              </a:solidFill>
            </a:endParaRPr>
          </a:p>
          <a:p>
            <a:pPr marL="0" indent="0">
              <a:buNone/>
            </a:pPr>
            <a:r>
              <a:rPr lang="en-US" sz="1200" b="1" dirty="0">
                <a:solidFill>
                  <a:srgbClr val="178CCB"/>
                </a:solidFill>
              </a:rPr>
              <a:t>library(sf)</a:t>
            </a:r>
          </a:p>
          <a:p>
            <a:pPr marL="0" indent="0">
              <a:buNone/>
            </a:pPr>
            <a:r>
              <a:rPr lang="en-US" sz="1200" dirty="0">
                <a:solidFill>
                  <a:srgbClr val="178CCB"/>
                </a:solidFill>
              </a:rPr>
              <a:t># converts the map to sf spatial format</a:t>
            </a:r>
          </a:p>
          <a:p>
            <a:pPr marL="0" indent="0">
              <a:buNone/>
            </a:pPr>
            <a:r>
              <a:rPr lang="en-US" sz="1200" dirty="0">
                <a:solidFill>
                  <a:srgbClr val="178CCB"/>
                </a:solidFill>
              </a:rPr>
              <a:t>map &lt;- </a:t>
            </a:r>
            <a:r>
              <a:rPr lang="en-US" sz="1200" dirty="0" err="1">
                <a:solidFill>
                  <a:srgbClr val="178CCB"/>
                </a:solidFill>
              </a:rPr>
              <a:t>st_as_sf</a:t>
            </a:r>
            <a:r>
              <a:rPr lang="en-US" sz="1200" dirty="0">
                <a:solidFill>
                  <a:srgbClr val="178CCB"/>
                </a:solidFill>
              </a:rPr>
              <a:t>(map)</a:t>
            </a:r>
          </a:p>
          <a:p>
            <a:pPr marL="0" indent="0">
              <a:buNone/>
            </a:pPr>
            <a:endParaRPr lang="en-US" sz="1200" dirty="0">
              <a:solidFill>
                <a:srgbClr val="178CCB"/>
              </a:solidFill>
            </a:endParaRPr>
          </a:p>
          <a:p>
            <a:pPr marL="0" indent="0">
              <a:buNone/>
            </a:pPr>
            <a:r>
              <a:rPr lang="en-US" sz="1200" b="1" dirty="0">
                <a:solidFill>
                  <a:srgbClr val="178CCB"/>
                </a:solidFill>
              </a:rPr>
              <a:t>library(ggplot2)</a:t>
            </a:r>
          </a:p>
          <a:p>
            <a:pPr marL="0" indent="0">
              <a:buNone/>
            </a:pPr>
            <a:r>
              <a:rPr lang="en-US" sz="1200" dirty="0">
                <a:solidFill>
                  <a:srgbClr val="178CCB"/>
                </a:solidFill>
              </a:rPr>
              <a:t># plot simple map</a:t>
            </a:r>
          </a:p>
          <a:p>
            <a:pPr marL="0" indent="0">
              <a:buNone/>
            </a:pPr>
            <a:r>
              <a:rPr lang="en-US" sz="1200" dirty="0" err="1">
                <a:solidFill>
                  <a:srgbClr val="178CCB"/>
                </a:solidFill>
              </a:rPr>
              <a:t>ggplot</a:t>
            </a:r>
            <a:r>
              <a:rPr lang="en-US" sz="1200" dirty="0">
                <a:solidFill>
                  <a:srgbClr val="178CCB"/>
                </a:solidFill>
              </a:rPr>
              <a:t>(map) +</a:t>
            </a:r>
          </a:p>
          <a:p>
            <a:pPr marL="0" indent="0">
              <a:buNone/>
            </a:pPr>
            <a:r>
              <a:rPr lang="en-US" sz="1200" dirty="0">
                <a:solidFill>
                  <a:srgbClr val="178CCB"/>
                </a:solidFill>
              </a:rPr>
              <a:t>  </a:t>
            </a:r>
            <a:r>
              <a:rPr lang="en-US" sz="1200" dirty="0" err="1">
                <a:solidFill>
                  <a:srgbClr val="178CCB"/>
                </a:solidFill>
              </a:rPr>
              <a:t>geom_sf</a:t>
            </a:r>
            <a:r>
              <a:rPr lang="en-US" sz="1200" dirty="0">
                <a:solidFill>
                  <a:srgbClr val="178CCB"/>
                </a:solidFill>
              </a:rPr>
              <a:t>() +</a:t>
            </a:r>
          </a:p>
          <a:p>
            <a:pPr marL="0" indent="0">
              <a:buNone/>
            </a:pPr>
            <a:r>
              <a:rPr lang="en-US" sz="1200" dirty="0">
                <a:solidFill>
                  <a:srgbClr val="178CCB"/>
                </a:solidFill>
              </a:rPr>
              <a:t>  labs(title = "Map of Vietnam Provinces") +</a:t>
            </a:r>
          </a:p>
          <a:p>
            <a:pPr marL="0" indent="0">
              <a:buNone/>
            </a:pPr>
            <a:r>
              <a:rPr lang="en-US" sz="1200" dirty="0">
                <a:solidFill>
                  <a:srgbClr val="178CCB"/>
                </a:solidFill>
              </a:rPr>
              <a:t>  </a:t>
            </a:r>
            <a:r>
              <a:rPr lang="en-US" sz="1200" dirty="0" err="1">
                <a:solidFill>
                  <a:srgbClr val="178CCB"/>
                </a:solidFill>
              </a:rPr>
              <a:t>theme_void</a:t>
            </a:r>
            <a:r>
              <a:rPr lang="en-US" sz="1200" dirty="0">
                <a:solidFill>
                  <a:srgbClr val="178CCB"/>
                </a:solidFill>
              </a:rPr>
              <a:t>()</a:t>
            </a:r>
          </a:p>
          <a:p>
            <a:endParaRPr lang="en-US" dirty="0"/>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28</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2914168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83A57-094B-7772-63C6-9B92A2FD3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B9472-AFF0-3B8E-C3DD-149E6CB70D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825FCF-2D1B-31C9-4390-4ABC7D31C89B}"/>
              </a:ext>
            </a:extLst>
          </p:cNvPr>
          <p:cNvSpPr>
            <a:spLocks noGrp="1"/>
          </p:cNvSpPr>
          <p:nvPr>
            <p:ph type="body" idx="1"/>
          </p:nvPr>
        </p:nvSpPr>
        <p:spPr/>
        <p:txBody>
          <a:bodyPr>
            <a:normAutofit lnSpcReduction="10000"/>
          </a:bodyPr>
          <a:lstStyle/>
          <a:p>
            <a:pPr marL="0" indent="0">
              <a:buNone/>
            </a:pPr>
            <a:r>
              <a:rPr lang="en-US" sz="1200" dirty="0">
                <a:solidFill>
                  <a:srgbClr val="178CCB"/>
                </a:solidFill>
              </a:rPr>
              <a:t>library(geodata) </a:t>
            </a:r>
          </a:p>
          <a:p>
            <a:pPr marL="0" indent="0">
              <a:buNone/>
            </a:pPr>
            <a:r>
              <a:rPr lang="en-US" sz="1200" dirty="0">
                <a:solidFill>
                  <a:srgbClr val="178CCB"/>
                </a:solidFill>
              </a:rPr>
              <a:t>map &lt;- geodata::</a:t>
            </a:r>
            <a:r>
              <a:rPr lang="en-US" sz="1200" dirty="0" err="1">
                <a:solidFill>
                  <a:srgbClr val="178CCB"/>
                </a:solidFill>
              </a:rPr>
              <a:t>gadm</a:t>
            </a:r>
            <a:r>
              <a:rPr lang="en-US" sz="1200" dirty="0">
                <a:solidFill>
                  <a:srgbClr val="178CCB"/>
                </a:solidFill>
              </a:rPr>
              <a:t>(country = "VNM", level = 1, path = </a:t>
            </a:r>
            <a:r>
              <a:rPr lang="en-US" sz="1200" dirty="0" err="1">
                <a:solidFill>
                  <a:srgbClr val="178CCB"/>
                </a:solidFill>
              </a:rPr>
              <a:t>tempdir</a:t>
            </a:r>
            <a:r>
              <a:rPr lang="en-US" sz="1200" dirty="0">
                <a:solidFill>
                  <a:srgbClr val="178CCB"/>
                </a:solidFill>
              </a:rPr>
              <a:t>())</a:t>
            </a:r>
          </a:p>
          <a:p>
            <a:pPr marL="0" indent="0">
              <a:buNone/>
            </a:pPr>
            <a:endParaRPr lang="en-US" sz="1200" dirty="0">
              <a:solidFill>
                <a:srgbClr val="178CCB"/>
              </a:solidFill>
            </a:endParaRPr>
          </a:p>
          <a:p>
            <a:pPr marL="0" indent="0">
              <a:buNone/>
            </a:pPr>
            <a:r>
              <a:rPr lang="en-US" sz="1200" dirty="0">
                <a:solidFill>
                  <a:srgbClr val="178CCB"/>
                </a:solidFill>
              </a:rPr>
              <a:t>library(sf)</a:t>
            </a:r>
          </a:p>
          <a:p>
            <a:pPr marL="0" indent="0">
              <a:buNone/>
            </a:pPr>
            <a:r>
              <a:rPr lang="en-US" sz="1200" dirty="0">
                <a:solidFill>
                  <a:srgbClr val="178CCB"/>
                </a:solidFill>
              </a:rPr>
              <a:t>map &lt;- </a:t>
            </a:r>
            <a:r>
              <a:rPr lang="en-US" sz="1200" dirty="0" err="1">
                <a:solidFill>
                  <a:srgbClr val="178CCB"/>
                </a:solidFill>
              </a:rPr>
              <a:t>st_as_sf</a:t>
            </a:r>
            <a:r>
              <a:rPr lang="en-US" sz="1200" dirty="0">
                <a:solidFill>
                  <a:srgbClr val="178CCB"/>
                </a:solidFill>
              </a:rPr>
              <a:t>(map)</a:t>
            </a:r>
          </a:p>
          <a:p>
            <a:pPr marL="0" indent="0">
              <a:buNone/>
            </a:pPr>
            <a:endParaRPr lang="en-US" sz="1200" dirty="0">
              <a:solidFill>
                <a:srgbClr val="178CCB"/>
              </a:solidFill>
            </a:endParaRPr>
          </a:p>
          <a:p>
            <a:pPr marL="0" indent="0">
              <a:buNone/>
            </a:pPr>
            <a:r>
              <a:rPr lang="en-US" sz="1200" dirty="0">
                <a:solidFill>
                  <a:srgbClr val="178CCB"/>
                </a:solidFill>
              </a:rPr>
              <a:t>library(</a:t>
            </a:r>
            <a:r>
              <a:rPr lang="en-US" sz="1200" dirty="0" err="1">
                <a:solidFill>
                  <a:srgbClr val="178CCB"/>
                </a:solidFill>
              </a:rPr>
              <a:t>dplyr</a:t>
            </a:r>
            <a:r>
              <a:rPr lang="en-US" sz="1200" dirty="0">
                <a:solidFill>
                  <a:srgbClr val="178CCB"/>
                </a:solidFill>
              </a:rPr>
              <a:t>)</a:t>
            </a:r>
          </a:p>
          <a:p>
            <a:pPr marL="0" indent="0">
              <a:buNone/>
            </a:pPr>
            <a:r>
              <a:rPr lang="en-US" sz="1200" dirty="0">
                <a:solidFill>
                  <a:srgbClr val="178CCB"/>
                </a:solidFill>
              </a:rPr>
              <a:t># join literacy rate from dataset V to map</a:t>
            </a:r>
          </a:p>
          <a:p>
            <a:pPr marL="0" indent="0">
              <a:buNone/>
            </a:pPr>
            <a:r>
              <a:rPr lang="en-US" sz="1200" dirty="0" err="1">
                <a:solidFill>
                  <a:srgbClr val="178CCB"/>
                </a:solidFill>
              </a:rPr>
              <a:t>map_data</a:t>
            </a:r>
            <a:r>
              <a:rPr lang="en-US" sz="1200" dirty="0">
                <a:solidFill>
                  <a:srgbClr val="178CCB"/>
                </a:solidFill>
              </a:rPr>
              <a:t> &lt;- map %&gt;%</a:t>
            </a:r>
          </a:p>
          <a:p>
            <a:pPr marL="0" indent="0">
              <a:buNone/>
            </a:pPr>
            <a:r>
              <a:rPr lang="en-US" sz="1200" dirty="0">
                <a:solidFill>
                  <a:srgbClr val="178CCB"/>
                </a:solidFill>
              </a:rPr>
              <a:t>  </a:t>
            </a:r>
            <a:r>
              <a:rPr lang="en-US" sz="1200" dirty="0" err="1">
                <a:solidFill>
                  <a:srgbClr val="178CCB"/>
                </a:solidFill>
              </a:rPr>
              <a:t>left_join</a:t>
            </a:r>
            <a:r>
              <a:rPr lang="en-US" sz="1200" dirty="0">
                <a:solidFill>
                  <a:srgbClr val="178CCB"/>
                </a:solidFill>
              </a:rPr>
              <a:t>(V, by = c("VARNAME_1" = "province"))</a:t>
            </a:r>
          </a:p>
          <a:p>
            <a:pPr marL="0" indent="0">
              <a:buNone/>
            </a:pPr>
            <a:endParaRPr lang="en-US" sz="1200" dirty="0">
              <a:solidFill>
                <a:srgbClr val="178CCB"/>
              </a:solidFill>
            </a:endParaRPr>
          </a:p>
          <a:p>
            <a:pPr marL="0" indent="0">
              <a:buNone/>
            </a:pPr>
            <a:r>
              <a:rPr lang="en-US" sz="1200" dirty="0">
                <a:solidFill>
                  <a:srgbClr val="178CCB"/>
                </a:solidFill>
              </a:rPr>
              <a:t>library(ggplot2)</a:t>
            </a:r>
          </a:p>
          <a:p>
            <a:pPr marL="0" indent="0">
              <a:buNone/>
            </a:pPr>
            <a:r>
              <a:rPr lang="en-US" sz="1200" dirty="0">
                <a:solidFill>
                  <a:srgbClr val="178CCB"/>
                </a:solidFill>
              </a:rPr>
              <a:t># plot map with literacy rate</a:t>
            </a:r>
          </a:p>
          <a:p>
            <a:pPr marL="0" indent="0">
              <a:buNone/>
            </a:pPr>
            <a:r>
              <a:rPr lang="en-US" sz="1200" dirty="0" err="1">
                <a:solidFill>
                  <a:srgbClr val="178CCB"/>
                </a:solidFill>
              </a:rPr>
              <a:t>ggplot</a:t>
            </a:r>
            <a:r>
              <a:rPr lang="en-US" sz="1200" dirty="0">
                <a:solidFill>
                  <a:srgbClr val="178CCB"/>
                </a:solidFill>
              </a:rPr>
              <a:t>(</a:t>
            </a:r>
            <a:r>
              <a:rPr lang="en-US" sz="1200" dirty="0" err="1">
                <a:solidFill>
                  <a:srgbClr val="178CCB"/>
                </a:solidFill>
              </a:rPr>
              <a:t>map_data</a:t>
            </a:r>
            <a:r>
              <a:rPr lang="en-US" sz="1200" dirty="0">
                <a:solidFill>
                  <a:srgbClr val="178CCB"/>
                </a:solidFill>
              </a:rPr>
              <a:t>) +</a:t>
            </a:r>
          </a:p>
          <a:p>
            <a:pPr marL="0" indent="0">
              <a:buNone/>
            </a:pPr>
            <a:r>
              <a:rPr lang="en-US" sz="1200" dirty="0">
                <a:solidFill>
                  <a:srgbClr val="178CCB"/>
                </a:solidFill>
              </a:rPr>
              <a:t>  </a:t>
            </a:r>
            <a:r>
              <a:rPr lang="en-US" sz="1200" dirty="0" err="1">
                <a:solidFill>
                  <a:srgbClr val="178CCB"/>
                </a:solidFill>
              </a:rPr>
              <a:t>geom_sf</a:t>
            </a:r>
            <a:r>
              <a:rPr lang="en-US" sz="1200" dirty="0">
                <a:solidFill>
                  <a:srgbClr val="178CCB"/>
                </a:solidFill>
              </a:rPr>
              <a:t>(</a:t>
            </a:r>
            <a:r>
              <a:rPr lang="en-US" sz="1200" dirty="0" err="1">
                <a:solidFill>
                  <a:srgbClr val="178CCB"/>
                </a:solidFill>
              </a:rPr>
              <a:t>aes</a:t>
            </a:r>
            <a:r>
              <a:rPr lang="en-US" sz="1200" dirty="0">
                <a:solidFill>
                  <a:srgbClr val="178CCB"/>
                </a:solidFill>
              </a:rPr>
              <a:t>(fill = </a:t>
            </a:r>
            <a:r>
              <a:rPr lang="en-US" sz="1200" dirty="0" err="1">
                <a:solidFill>
                  <a:srgbClr val="178CCB"/>
                </a:solidFill>
              </a:rPr>
              <a:t>literacy_rate</a:t>
            </a:r>
            <a:r>
              <a:rPr lang="en-US" sz="1200" dirty="0">
                <a:solidFill>
                  <a:srgbClr val="178CCB"/>
                </a:solidFill>
              </a:rPr>
              <a:t>)) +</a:t>
            </a:r>
          </a:p>
          <a:p>
            <a:pPr marL="0" indent="0">
              <a:buNone/>
            </a:pPr>
            <a:r>
              <a:rPr lang="en-US" sz="1200" dirty="0">
                <a:solidFill>
                  <a:srgbClr val="178CCB"/>
                </a:solidFill>
              </a:rPr>
              <a:t>  labs(title = "Literacy Rate by Province in Vietnam") +</a:t>
            </a:r>
          </a:p>
          <a:p>
            <a:pPr marL="0" indent="0">
              <a:buNone/>
            </a:pPr>
            <a:r>
              <a:rPr lang="en-US" sz="1200" dirty="0">
                <a:solidFill>
                  <a:srgbClr val="178CCB"/>
                </a:solidFill>
              </a:rPr>
              <a:t>  </a:t>
            </a:r>
            <a:r>
              <a:rPr lang="en-US" sz="1200" dirty="0" err="1">
                <a:solidFill>
                  <a:srgbClr val="178CCB"/>
                </a:solidFill>
              </a:rPr>
              <a:t>theme_void</a:t>
            </a:r>
            <a:r>
              <a:rPr lang="en-US" sz="1200" dirty="0">
                <a:solidFill>
                  <a:srgbClr val="178CCB"/>
                </a:solidFill>
              </a:rPr>
              <a:t>()</a:t>
            </a:r>
          </a:p>
          <a:p>
            <a:pPr marL="0" indent="0">
              <a:buNone/>
            </a:pPr>
            <a:endParaRPr lang="en-US" sz="1200" dirty="0">
              <a:solidFill>
                <a:srgbClr val="178CCB"/>
              </a:solidFill>
            </a:endParaRPr>
          </a:p>
        </p:txBody>
      </p:sp>
      <p:sp>
        <p:nvSpPr>
          <p:cNvPr id="4" name="Slide Number Placeholder 3">
            <a:extLst>
              <a:ext uri="{FF2B5EF4-FFF2-40B4-BE49-F238E27FC236}">
                <a16:creationId xmlns:a16="http://schemas.microsoft.com/office/drawing/2014/main" id="{BDBECBC5-9B65-0E02-A65B-C9C08CC8C248}"/>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29</a:t>
            </a:fld>
            <a:endParaRPr lang="en-US" dirty="0">
              <a:solidFill>
                <a:srgbClr val="052049"/>
              </a:solidFill>
            </a:endParaRPr>
          </a:p>
        </p:txBody>
      </p:sp>
      <p:sp>
        <p:nvSpPr>
          <p:cNvPr id="5" name="Footer Placeholder 4">
            <a:extLst>
              <a:ext uri="{FF2B5EF4-FFF2-40B4-BE49-F238E27FC236}">
                <a16:creationId xmlns:a16="http://schemas.microsoft.com/office/drawing/2014/main" id="{53854604-5F96-4E03-D734-84E8F68970D8}"/>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5558135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D596B-31AF-3933-82B0-7C450F153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708F9C-C30D-3838-D6F5-39040C5F7D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7EFA70-4BF8-7CCA-5128-4FE5151F2DE1}"/>
              </a:ext>
            </a:extLst>
          </p:cNvPr>
          <p:cNvSpPr>
            <a:spLocks noGrp="1"/>
          </p:cNvSpPr>
          <p:nvPr>
            <p:ph type="body" idx="1"/>
          </p:nvPr>
        </p:nvSpPr>
        <p:spPr/>
        <p:txBody>
          <a:bodyPr>
            <a:normAutofit fontScale="77500" lnSpcReduction="20000"/>
          </a:bodyPr>
          <a:lstStyle/>
          <a:p>
            <a:pPr marL="0" indent="0">
              <a:buNone/>
            </a:pPr>
            <a:endParaRPr lang="en-US" dirty="0"/>
          </a:p>
          <a:p>
            <a:pPr marL="0" indent="0">
              <a:buNone/>
            </a:pPr>
            <a:endParaRPr lang="en-US" dirty="0"/>
          </a:p>
          <a:p>
            <a:pPr marL="0" indent="0">
              <a:buNone/>
            </a:pPr>
            <a:r>
              <a:rPr lang="en-US" dirty="0"/>
              <a:t>library(geodata) </a:t>
            </a:r>
          </a:p>
          <a:p>
            <a:pPr marL="0" indent="0">
              <a:buNone/>
            </a:pPr>
            <a:r>
              <a:rPr lang="en-US" dirty="0"/>
              <a:t>map &lt;- geodata::</a:t>
            </a:r>
            <a:r>
              <a:rPr lang="en-US" dirty="0" err="1"/>
              <a:t>gadm</a:t>
            </a:r>
            <a:r>
              <a:rPr lang="en-US" dirty="0"/>
              <a:t>(country = "VNM", level = 1, path = </a:t>
            </a:r>
            <a:r>
              <a:rPr lang="en-US" dirty="0" err="1"/>
              <a:t>tempdir</a:t>
            </a:r>
            <a:r>
              <a:rPr lang="en-US" dirty="0"/>
              <a:t>())</a:t>
            </a:r>
          </a:p>
          <a:p>
            <a:pPr marL="0" indent="0">
              <a:buNone/>
            </a:pPr>
            <a:endParaRPr lang="en-US" dirty="0"/>
          </a:p>
          <a:p>
            <a:pPr marL="0" indent="0">
              <a:buNone/>
            </a:pPr>
            <a:r>
              <a:rPr lang="en-US" dirty="0"/>
              <a:t>library(sf)</a:t>
            </a:r>
          </a:p>
          <a:p>
            <a:pPr marL="0" indent="0">
              <a:buNone/>
            </a:pPr>
            <a:r>
              <a:rPr lang="en-US" dirty="0"/>
              <a:t>map &lt;- </a:t>
            </a:r>
            <a:r>
              <a:rPr lang="en-US" dirty="0" err="1"/>
              <a:t>st_as_sf</a:t>
            </a:r>
            <a:r>
              <a:rPr lang="en-US" dirty="0"/>
              <a:t>(map)</a:t>
            </a:r>
          </a:p>
          <a:p>
            <a:pPr marL="0" indent="0">
              <a:buNone/>
            </a:pPr>
            <a:endParaRPr lang="en-US" dirty="0"/>
          </a:p>
          <a:p>
            <a:pPr marL="0" indent="0">
              <a:buNone/>
            </a:pPr>
            <a:r>
              <a:rPr lang="en-US" dirty="0"/>
              <a:t>library(</a:t>
            </a:r>
            <a:r>
              <a:rPr lang="en-US" dirty="0" err="1"/>
              <a:t>dplyr</a:t>
            </a:r>
            <a:r>
              <a:rPr lang="en-US" dirty="0"/>
              <a:t>)</a:t>
            </a:r>
          </a:p>
          <a:p>
            <a:pPr marL="0" indent="0">
              <a:buNone/>
            </a:pPr>
            <a:r>
              <a:rPr lang="en-US" dirty="0"/>
              <a:t># join literacy rate from dataset V to map</a:t>
            </a:r>
          </a:p>
          <a:p>
            <a:pPr marL="0" indent="0">
              <a:buNone/>
            </a:pPr>
            <a:r>
              <a:rPr lang="en-US" dirty="0" err="1"/>
              <a:t>map_data</a:t>
            </a:r>
            <a:r>
              <a:rPr lang="en-US" dirty="0"/>
              <a:t> &lt;- map %&gt;%</a:t>
            </a:r>
          </a:p>
          <a:p>
            <a:pPr marL="0" indent="0">
              <a:buNone/>
            </a:pPr>
            <a:r>
              <a:rPr lang="en-US" dirty="0"/>
              <a:t>  </a:t>
            </a:r>
            <a:r>
              <a:rPr lang="en-US" dirty="0" err="1"/>
              <a:t>left_join</a:t>
            </a:r>
            <a:r>
              <a:rPr lang="en-US" dirty="0"/>
              <a:t>(V, by = c("VARNAME_1" = "province"))</a:t>
            </a:r>
          </a:p>
          <a:p>
            <a:pPr marL="0" indent="0">
              <a:buNone/>
            </a:pPr>
            <a:endParaRPr lang="en-US" dirty="0"/>
          </a:p>
          <a:p>
            <a:pPr marL="0" indent="0">
              <a:buNone/>
            </a:pPr>
            <a:r>
              <a:rPr lang="en-US" dirty="0"/>
              <a:t>library(ggplot2)</a:t>
            </a:r>
          </a:p>
          <a:p>
            <a:pPr marL="0" indent="0">
              <a:buNone/>
            </a:pPr>
            <a:r>
              <a:rPr lang="en-US" dirty="0"/>
              <a:t># plot map with literacy rate</a:t>
            </a:r>
          </a:p>
          <a:p>
            <a:pPr marL="0" indent="0">
              <a:buNone/>
            </a:pPr>
            <a:r>
              <a:rPr lang="en-US" dirty="0" err="1"/>
              <a:t>ggplot</a:t>
            </a:r>
            <a:r>
              <a:rPr lang="en-US" dirty="0"/>
              <a:t>(</a:t>
            </a:r>
            <a:r>
              <a:rPr lang="en-US" dirty="0" err="1"/>
              <a:t>map_data</a:t>
            </a:r>
            <a:r>
              <a:rPr lang="en-US" dirty="0"/>
              <a:t>) +</a:t>
            </a:r>
          </a:p>
          <a:p>
            <a:pPr marL="0" indent="0">
              <a:buNone/>
            </a:pPr>
            <a:r>
              <a:rPr lang="en-US" dirty="0"/>
              <a:t>  </a:t>
            </a:r>
            <a:r>
              <a:rPr lang="en-US" dirty="0" err="1"/>
              <a:t>geom_sf</a:t>
            </a:r>
            <a:r>
              <a:rPr lang="en-US" dirty="0"/>
              <a:t>(</a:t>
            </a:r>
            <a:r>
              <a:rPr lang="en-US" dirty="0" err="1"/>
              <a:t>aes</a:t>
            </a:r>
            <a:r>
              <a:rPr lang="en-US" dirty="0"/>
              <a:t>(fill = </a:t>
            </a:r>
            <a:r>
              <a:rPr lang="en-US" dirty="0" err="1"/>
              <a:t>literacy_rate</a:t>
            </a:r>
            <a:r>
              <a:rPr lang="en-US" dirty="0"/>
              <a:t>), color = "white") +</a:t>
            </a:r>
          </a:p>
          <a:p>
            <a:pPr marL="0" indent="0">
              <a:buNone/>
            </a:pPr>
            <a:r>
              <a:rPr lang="en-US" dirty="0"/>
              <a:t>  </a:t>
            </a:r>
            <a:r>
              <a:rPr lang="en-US" dirty="0" err="1"/>
              <a:t>scale_fill_gradient</a:t>
            </a:r>
            <a:r>
              <a:rPr lang="en-US" dirty="0"/>
              <a:t>(low = "red", high = "</a:t>
            </a:r>
            <a:r>
              <a:rPr lang="en-US" dirty="0" err="1"/>
              <a:t>darkgreen</a:t>
            </a:r>
            <a:r>
              <a:rPr lang="en-US" dirty="0"/>
              <a:t>",</a:t>
            </a:r>
          </a:p>
          <a:p>
            <a:pPr marL="0" indent="0">
              <a:buNone/>
            </a:pPr>
            <a:r>
              <a:rPr lang="en-US" dirty="0"/>
              <a:t>                      name = "Literacy Rate (%)") +</a:t>
            </a:r>
          </a:p>
          <a:p>
            <a:pPr marL="0" indent="0">
              <a:buNone/>
            </a:pPr>
            <a:r>
              <a:rPr lang="en-US" dirty="0"/>
              <a:t>  labs(title = "Literacy Rate by Province in Vietnam") +</a:t>
            </a:r>
          </a:p>
          <a:p>
            <a:pPr marL="0" indent="0">
              <a:buNone/>
            </a:pPr>
            <a:r>
              <a:rPr lang="en-US" dirty="0"/>
              <a:t>  </a:t>
            </a:r>
            <a:r>
              <a:rPr lang="en-US" dirty="0" err="1"/>
              <a:t>theme_void</a:t>
            </a:r>
            <a:r>
              <a:rPr lang="en-US" dirty="0"/>
              <a:t>()</a:t>
            </a:r>
          </a:p>
        </p:txBody>
      </p:sp>
      <p:sp>
        <p:nvSpPr>
          <p:cNvPr id="4" name="Slide Number Placeholder 3">
            <a:extLst>
              <a:ext uri="{FF2B5EF4-FFF2-40B4-BE49-F238E27FC236}">
                <a16:creationId xmlns:a16="http://schemas.microsoft.com/office/drawing/2014/main" id="{2BADB0FF-0D38-6026-B262-B966BD4C3AAF}"/>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30</a:t>
            </a:fld>
            <a:endParaRPr lang="en-US" dirty="0">
              <a:solidFill>
                <a:srgbClr val="052049"/>
              </a:solidFill>
            </a:endParaRPr>
          </a:p>
        </p:txBody>
      </p:sp>
      <p:sp>
        <p:nvSpPr>
          <p:cNvPr id="5" name="Footer Placeholder 4">
            <a:extLst>
              <a:ext uri="{FF2B5EF4-FFF2-40B4-BE49-F238E27FC236}">
                <a16:creationId xmlns:a16="http://schemas.microsoft.com/office/drawing/2014/main" id="{59EFF5B5-AA8E-AC86-AE94-9C9A58496768}"/>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977375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31</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7394915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32</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761770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33</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351476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19185-DEAB-1C47-7B8C-C3AB7DAFF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74059-B437-7CF4-7A9C-F33E49AD30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1E836C-1945-C5A2-A953-EC0E8CAE23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B0A4CC-666B-F887-FECE-AD04877F6D17}"/>
              </a:ext>
            </a:extLst>
          </p:cNvPr>
          <p:cNvSpPr>
            <a:spLocks noGrp="1"/>
          </p:cNvSpPr>
          <p:nvPr>
            <p:ph type="sldNum" sz="quarter" idx="5"/>
          </p:nvPr>
        </p:nvSpPr>
        <p:spPr/>
        <p:txBody>
          <a:bodyPr/>
          <a:lstStyle/>
          <a:p>
            <a:fld id="{1C679D53-BC88-5446-8097-9340F454944C}" type="slidenum">
              <a:rPr lang="en-US" smtClean="0"/>
              <a:t>34</a:t>
            </a:fld>
            <a:endParaRPr lang="en-US"/>
          </a:p>
        </p:txBody>
      </p:sp>
    </p:spTree>
    <p:extLst>
      <p:ext uri="{BB962C8B-B14F-4D97-AF65-F5344CB8AC3E}">
        <p14:creationId xmlns:p14="http://schemas.microsoft.com/office/powerpoint/2010/main" val="2712521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35</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8936590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910C2-7DB9-CBA3-6991-92086981A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D4A1C-C23D-E844-3CCA-09B2DB5B01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2524E4A-B03C-794B-4DEE-182039FA1D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4CEB73-9596-BAA1-56B8-9A3CEA7F3D20}"/>
              </a:ext>
            </a:extLst>
          </p:cNvPr>
          <p:cNvSpPr>
            <a:spLocks noGrp="1"/>
          </p:cNvSpPr>
          <p:nvPr>
            <p:ph type="sldNum" sz="quarter" idx="5"/>
          </p:nvPr>
        </p:nvSpPr>
        <p:spPr/>
        <p:txBody>
          <a:bodyPr/>
          <a:lstStyle/>
          <a:p>
            <a:pPr algn="r"/>
            <a:fld id="{111E5896-917A-4035-A860-408E1EC3CD51}" type="slidenum">
              <a:rPr lang="en-US" smtClean="0">
                <a:solidFill>
                  <a:srgbClr val="052049"/>
                </a:solidFill>
                <a:latin typeface="Arial" pitchFamily="34" charset="0"/>
                <a:cs typeface="Arial" pitchFamily="34" charset="0"/>
              </a:rPr>
              <a:pPr algn="r"/>
              <a:t>36</a:t>
            </a:fld>
            <a:endParaRPr lang="en-US">
              <a:solidFill>
                <a:srgbClr val="052049"/>
              </a:solidFill>
              <a:latin typeface="Arial" pitchFamily="34" charset="0"/>
              <a:cs typeface="Arial" pitchFamily="34" charset="0"/>
            </a:endParaRPr>
          </a:p>
        </p:txBody>
      </p:sp>
      <p:sp>
        <p:nvSpPr>
          <p:cNvPr id="5" name="Footer Placeholder 4">
            <a:extLst>
              <a:ext uri="{FF2B5EF4-FFF2-40B4-BE49-F238E27FC236}">
                <a16:creationId xmlns:a16="http://schemas.microsoft.com/office/drawing/2014/main" id="{BE534053-1F15-3224-915C-935C1452CC50}"/>
              </a:ext>
            </a:extLst>
          </p:cNvPr>
          <p:cNvSpPr>
            <a:spLocks noGrp="1"/>
          </p:cNvSpPr>
          <p:nvPr>
            <p:ph type="ftr" sz="quarter" idx="4"/>
          </p:nvPr>
        </p:nvSpPr>
        <p:spPr/>
        <p:txBody>
          <a:bodyPr/>
          <a:lstStyle/>
          <a:p>
            <a:r>
              <a:rPr lang="en-US" sz="800">
                <a:solidFill>
                  <a:srgbClr val="052049"/>
                </a:solidFill>
                <a:latin typeface="+mj-lt"/>
              </a:rPr>
              <a:t>| Core Financial Plan - Fall 2021</a:t>
            </a:r>
          </a:p>
        </p:txBody>
      </p:sp>
    </p:spTree>
    <p:extLst>
      <p:ext uri="{BB962C8B-B14F-4D97-AF65-F5344CB8AC3E}">
        <p14:creationId xmlns:p14="http://schemas.microsoft.com/office/powerpoint/2010/main" val="17899459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37</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1090030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38</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965167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39</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24153463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lgn="r"/>
            <a:fld id="{111E5896-917A-4035-A860-408E1EC3CD51}" type="slidenum">
              <a:rPr lang="en-US" smtClean="0">
                <a:solidFill>
                  <a:srgbClr val="052049"/>
                </a:solidFill>
              </a:rPr>
              <a:pPr algn="r"/>
              <a:t>40</a:t>
            </a:fld>
            <a:endParaRPr lang="en-US" dirty="0">
              <a:solidFill>
                <a:srgbClr val="052049"/>
              </a:solidFill>
            </a:endParaRPr>
          </a:p>
        </p:txBody>
      </p:sp>
      <p:sp>
        <p:nvSpPr>
          <p:cNvPr id="5" name="Footer Placeholder 4"/>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38796261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2.xml"/><Relationship Id="rId5" Type="http://schemas.openxmlformats.org/officeDocument/2006/relationships/image" Target="../media/image25.jpeg"/><Relationship Id="rId4" Type="http://schemas.openxmlformats.org/officeDocument/2006/relationships/image" Target="../media/image18.emf"/></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Master" Target="../slideMasters/slideMaster2.xml"/><Relationship Id="rId5" Type="http://schemas.openxmlformats.org/officeDocument/2006/relationships/image" Target="../media/image29.svg"/><Relationship Id="rId4" Type="http://schemas.openxmlformats.org/officeDocument/2006/relationships/image" Target="../media/image28.jpe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2.xml"/><Relationship Id="rId5" Type="http://schemas.openxmlformats.org/officeDocument/2006/relationships/image" Target="../media/image32.emf"/><Relationship Id="rId4" Type="http://schemas.openxmlformats.org/officeDocument/2006/relationships/image" Target="../media/image28.jpe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3.jpeg"/><Relationship Id="rId1" Type="http://schemas.openxmlformats.org/officeDocument/2006/relationships/slideMaster" Target="../slideMasters/slideMaster2.xml"/><Relationship Id="rId5" Type="http://schemas.openxmlformats.org/officeDocument/2006/relationships/image" Target="../media/image28.jpeg"/><Relationship Id="rId4" Type="http://schemas.openxmlformats.org/officeDocument/2006/relationships/image" Target="../media/image29.svg"/></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White">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22"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mj-lt"/>
                <a:ea typeface="Helvetica Neue" panose="02000503000000020004" pitchFamily="2" charset="0"/>
                <a:cs typeface="Arial" panose="020B0604020202020204" pitchFamily="34" charset="0"/>
              </a:defRPr>
            </a:lvl1pPr>
          </a:lstStyle>
          <a:p>
            <a:r>
              <a:rPr lang="en-US" dirty="0"/>
              <a:t>Title Here</a:t>
            </a:r>
          </a:p>
        </p:txBody>
      </p:sp>
      <p:sp>
        <p:nvSpPr>
          <p:cNvPr id="23"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D470D759-0E0E-8249-AFAC-A75A00A3758F}" type="datetime1">
              <a:rPr lang="en-US" smtClean="0"/>
              <a:t>3/17/26</a:t>
            </a:fld>
            <a:endParaRPr lang="en-US" dirty="0"/>
          </a:p>
        </p:txBody>
      </p:sp>
      <p:sp>
        <p:nvSpPr>
          <p:cNvPr id="24"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25"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8" name="Picture 7">
            <a:extLst>
              <a:ext uri="{FF2B5EF4-FFF2-40B4-BE49-F238E27FC236}">
                <a16:creationId xmlns:a16="http://schemas.microsoft.com/office/drawing/2014/main" id="{E2DCD8C9-F662-A842-9ACD-852F2D1E7878}"/>
              </a:ext>
            </a:extLst>
          </p:cNvPr>
          <p:cNvPicPr>
            <a:picLocks noChangeAspect="1"/>
          </p:cNvPicPr>
          <p:nvPr userDrawn="1"/>
        </p:nvPicPr>
        <p:blipFill>
          <a:blip r:embed="rId2"/>
          <a:srcRect/>
          <a:stretch/>
        </p:blipFill>
        <p:spPr>
          <a:xfrm>
            <a:off x="599642" y="477077"/>
            <a:ext cx="1731121" cy="535440"/>
          </a:xfrm>
          <a:prstGeom prst="rect">
            <a:avLst/>
          </a:prstGeom>
        </p:spPr>
      </p:pic>
    </p:spTree>
    <p:extLst>
      <p:ext uri="{BB962C8B-B14F-4D97-AF65-F5344CB8AC3E}">
        <p14:creationId xmlns:p14="http://schemas.microsoft.com/office/powerpoint/2010/main" val="17630735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 Teal">
    <p:bg>
      <p:bgPr>
        <a:solidFill>
          <a:schemeClr val="accent2"/>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D2C759A4-81DB-2B49-BAD8-20F4759D56E4}" type="datetime1">
              <a:rPr lang="en-US" smtClean="0"/>
              <a:t>3/17/26</a:t>
            </a:fld>
            <a:endParaRPr lang="en-US" dirty="0"/>
          </a:p>
        </p:txBody>
      </p:sp>
      <p:sp>
        <p:nvSpPr>
          <p:cNvPr id="17"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1" name="Title 15">
            <a:extLst>
              <a:ext uri="{FF2B5EF4-FFF2-40B4-BE49-F238E27FC236}">
                <a16:creationId xmlns:a16="http://schemas.microsoft.com/office/drawing/2014/main" id="{A8F50CE7-BE49-DF46-A309-403467331352}"/>
              </a:ext>
            </a:extLst>
          </p:cNvPr>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Title Here</a:t>
            </a:r>
          </a:p>
        </p:txBody>
      </p:sp>
      <p:pic>
        <p:nvPicPr>
          <p:cNvPr id="8" name="Picture 7">
            <a:extLst>
              <a:ext uri="{FF2B5EF4-FFF2-40B4-BE49-F238E27FC236}">
                <a16:creationId xmlns:a16="http://schemas.microsoft.com/office/drawing/2014/main" id="{29618672-1440-3949-9644-D27CFA9B8315}"/>
              </a:ext>
            </a:extLst>
          </p:cNvPr>
          <p:cNvPicPr>
            <a:picLocks noChangeAspect="1"/>
          </p:cNvPicPr>
          <p:nvPr userDrawn="1"/>
        </p:nvPicPr>
        <p:blipFill>
          <a:blip r:embed="rId2"/>
          <a:srcRect/>
          <a:stretch/>
        </p:blipFill>
        <p:spPr>
          <a:xfrm>
            <a:off x="597406" y="475694"/>
            <a:ext cx="1735593" cy="536823"/>
          </a:xfrm>
          <a:prstGeom prst="rect">
            <a:avLst/>
          </a:prstGeom>
        </p:spPr>
      </p:pic>
    </p:spTree>
    <p:extLst>
      <p:ext uri="{BB962C8B-B14F-4D97-AF65-F5344CB8AC3E}">
        <p14:creationId xmlns:p14="http://schemas.microsoft.com/office/powerpoint/2010/main" val="5304207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 Blue">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4"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Title Here</a:t>
            </a:r>
          </a:p>
        </p:txBody>
      </p:sp>
      <p:sp>
        <p:nvSpPr>
          <p:cNvPr id="15"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4AD83FAE-0AD2-084F-918F-E696D117757B}" type="datetime1">
              <a:rPr lang="en-US" smtClean="0"/>
              <a:t>3/17/26</a:t>
            </a:fld>
            <a:endParaRPr lang="en-US" dirty="0"/>
          </a:p>
        </p:txBody>
      </p:sp>
      <p:sp>
        <p:nvSpPr>
          <p:cNvPr id="17"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pic>
        <p:nvPicPr>
          <p:cNvPr id="8" name="Picture 7">
            <a:extLst>
              <a:ext uri="{FF2B5EF4-FFF2-40B4-BE49-F238E27FC236}">
                <a16:creationId xmlns:a16="http://schemas.microsoft.com/office/drawing/2014/main" id="{50BEB377-6DA4-3D4C-9FB1-AC676EC0ED79}"/>
              </a:ext>
            </a:extLst>
          </p:cNvPr>
          <p:cNvPicPr>
            <a:picLocks noChangeAspect="1"/>
          </p:cNvPicPr>
          <p:nvPr userDrawn="1"/>
        </p:nvPicPr>
        <p:blipFill>
          <a:blip r:embed="rId2"/>
          <a:srcRect/>
          <a:stretch/>
        </p:blipFill>
        <p:spPr>
          <a:xfrm>
            <a:off x="597406" y="475694"/>
            <a:ext cx="1735593" cy="536823"/>
          </a:xfrm>
          <a:prstGeom prst="rect">
            <a:avLst/>
          </a:prstGeom>
        </p:spPr>
      </p:pic>
    </p:spTree>
    <p:extLst>
      <p:ext uri="{BB962C8B-B14F-4D97-AF65-F5344CB8AC3E}">
        <p14:creationId xmlns:p14="http://schemas.microsoft.com/office/powerpoint/2010/main" val="153013394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79D9FF64-C01C-5C4C-8AB2-E760BF769004}"/>
              </a:ext>
            </a:extLst>
          </p:cNvPr>
          <p:cNvSpPr>
            <a:spLocks noGrp="1"/>
          </p:cNvSpPr>
          <p:nvPr>
            <p:ph sz="quarter" idx="16"/>
          </p:nvPr>
        </p:nvSpPr>
        <p:spPr>
          <a:xfrm>
            <a:off x="453585" y="1401763"/>
            <a:ext cx="8169964"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5426446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119515925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3" name="Chart Placeholder 2"/>
          <p:cNvSpPr>
            <a:spLocks noGrp="1"/>
          </p:cNvSpPr>
          <p:nvPr>
            <p:ph type="chart" sz="quarter" idx="14"/>
          </p:nvPr>
        </p:nvSpPr>
        <p:spPr>
          <a:xfrm>
            <a:off x="268359" y="337931"/>
            <a:ext cx="8587407" cy="4065105"/>
          </a:xfrm>
          <a:prstGeom prst="rect">
            <a:avLst/>
          </a:prstGeom>
        </p:spPr>
        <p:txBody>
          <a:bodyPr>
            <a:normAutofit/>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dirty="0"/>
              <a:t>Click icon to add chart</a:t>
            </a:r>
          </a:p>
        </p:txBody>
      </p:sp>
    </p:spTree>
    <p:extLst>
      <p:ext uri="{BB962C8B-B14F-4D97-AF65-F5344CB8AC3E}">
        <p14:creationId xmlns:p14="http://schemas.microsoft.com/office/powerpoint/2010/main" val="63290672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9469704F-E66B-5B41-BF3B-8C6539B48428}"/>
              </a:ext>
            </a:extLst>
          </p:cNvPr>
          <p:cNvSpPr>
            <a:spLocks noGrp="1"/>
          </p:cNvSpPr>
          <p:nvPr>
            <p:ph sz="quarter" idx="16"/>
          </p:nvPr>
        </p:nvSpPr>
        <p:spPr>
          <a:xfrm>
            <a:off x="453585" y="1401763"/>
            <a:ext cx="3915528"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Content Placeholder 2">
            <a:extLst>
              <a:ext uri="{FF2B5EF4-FFF2-40B4-BE49-F238E27FC236}">
                <a16:creationId xmlns:a16="http://schemas.microsoft.com/office/drawing/2014/main" id="{C99F718F-E8D1-5640-A678-0137FDBAEC9F}"/>
              </a:ext>
            </a:extLst>
          </p:cNvPr>
          <p:cNvSpPr>
            <a:spLocks noGrp="1"/>
          </p:cNvSpPr>
          <p:nvPr>
            <p:ph sz="quarter" idx="20"/>
          </p:nvPr>
        </p:nvSpPr>
        <p:spPr>
          <a:xfrm>
            <a:off x="4733354" y="1401763"/>
            <a:ext cx="3915528" cy="2932112"/>
          </a:xfrm>
        </p:spPr>
        <p:txBody>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08415597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Slide – Nav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tx2"/>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179054717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accent2"/>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lorem ipsum. Ut </a:t>
            </a:r>
            <a:r>
              <a:rPr lang="en-US" dirty="0" err="1"/>
              <a:t>enim</a:t>
            </a:r>
            <a:r>
              <a:rPr lang="en-US" dirty="0"/>
              <a:t> ad minim </a:t>
            </a:r>
            <a:r>
              <a:rPr lang="en-US" dirty="0" err="1"/>
              <a:t>quis</a:t>
            </a:r>
            <a:r>
              <a:rPr lang="en-US" dirty="0"/>
              <a:t> </a:t>
            </a:r>
            <a:r>
              <a:rPr lang="en-US" dirty="0" err="1"/>
              <a:t>nostrud</a:t>
            </a:r>
            <a:r>
              <a:rPr lang="en-US" dirty="0"/>
              <a:t>.</a:t>
            </a:r>
          </a:p>
        </p:txBody>
      </p:sp>
      <p:sp>
        <p:nvSpPr>
          <p:cNvPr id="14"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5"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207338431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457203" y="198783"/>
            <a:ext cx="1192695" cy="2123658"/>
          </a:xfrm>
          <a:prstGeom prst="rect">
            <a:avLst/>
          </a:prstGeom>
          <a:noFill/>
          <a:ln w="19050" algn="ctr">
            <a:noFill/>
            <a:miter lim="800000"/>
            <a:headEnd/>
            <a:tailEnd/>
          </a:ln>
        </p:spPr>
        <p:txBody>
          <a:bodyPr wrap="square" lIns="0" tIns="0" rIns="0" bIns="0" rtlCol="0">
            <a:spAutoFit/>
          </a:bodyPr>
          <a:lstStyle/>
          <a:p>
            <a:r>
              <a:rPr lang="en-US" sz="13800" b="0" i="0" dirty="0">
                <a:solidFill>
                  <a:schemeClr val="accent1"/>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2"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3"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6208254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 Navy">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111682205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 Teal">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solidFill>
                  <a:schemeClr val="accent2"/>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accent2"/>
              </a:solidFill>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213834255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 Blu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1754766"/>
            <a:ext cx="6593258" cy="1430138"/>
          </a:xfrm>
        </p:spPr>
        <p:txBody>
          <a:bodyPr anchor="ctr">
            <a:noAutofit/>
          </a:bodyPr>
          <a:lstStyle>
            <a:lvl1pPr>
              <a:defRPr sz="3600" b="0" i="0" baseline="0">
                <a:solidFill>
                  <a:schemeClr val="accent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2" y="1769166"/>
            <a:ext cx="248479" cy="1411357"/>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Tree>
    <p:extLst>
      <p:ext uri="{BB962C8B-B14F-4D97-AF65-F5344CB8AC3E}">
        <p14:creationId xmlns:p14="http://schemas.microsoft.com/office/powerpoint/2010/main" val="68594464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lank ">
    <p:bg>
      <p:bgRef idx="1001">
        <a:schemeClr val="bg1"/>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invGray">
          <a:xfrm>
            <a:off x="3865186" y="2032663"/>
            <a:ext cx="1571041" cy="1025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404411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losing with logo – 1">
    <p:bg>
      <p:bgRef idx="1001">
        <a:schemeClr val="bg1"/>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invGray">
          <a:xfrm>
            <a:off x="3865186" y="2032663"/>
            <a:ext cx="1571041" cy="1025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866785" y="2037522"/>
            <a:ext cx="1574426" cy="1023730"/>
          </a:xfrm>
          <a:prstGeom prst="rect">
            <a:avLst/>
          </a:prstGeom>
        </p:spPr>
      </p:pic>
    </p:spTree>
    <p:extLst>
      <p:ext uri="{BB962C8B-B14F-4D97-AF65-F5344CB8AC3E}">
        <p14:creationId xmlns:p14="http://schemas.microsoft.com/office/powerpoint/2010/main" val="140665537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losing with logo – 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879213" y="1884801"/>
            <a:ext cx="1374274" cy="1373900"/>
          </a:xfrm>
          <a:prstGeom prst="rect">
            <a:avLst/>
          </a:prstGeom>
        </p:spPr>
      </p:pic>
    </p:spTree>
    <p:extLst>
      <p:ext uri="{BB962C8B-B14F-4D97-AF65-F5344CB8AC3E}">
        <p14:creationId xmlns:p14="http://schemas.microsoft.com/office/powerpoint/2010/main" val="180116723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Bullet Slide-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ZSFG Chiefs Presentation – October 2024</a:t>
            </a:r>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a:p>
        </p:txBody>
      </p:sp>
      <p:sp>
        <p:nvSpPr>
          <p:cNvPr id="7" name="Title 15"/>
          <p:cNvSpPr>
            <a:spLocks noGrp="1"/>
          </p:cNvSpPr>
          <p:nvPr>
            <p:ph type="title" hasCustomPrompt="1"/>
          </p:nvPr>
        </p:nvSpPr>
        <p:spPr>
          <a:xfrm>
            <a:off x="453586" y="318753"/>
            <a:ext cx="8173580" cy="458587"/>
          </a:xfrm>
          <a:prstGeom prst="rect">
            <a:avLst/>
          </a:prstGeom>
        </p:spPr>
        <p:txBody>
          <a:bodyPr anchor="t" anchorCtr="0">
            <a:noAutofit/>
          </a:bodyPr>
          <a:lstStyle>
            <a:lvl1pPr>
              <a:defRPr sz="2800" b="0" i="0">
                <a:latin typeface="Arial" panose="020B0604020202020204" pitchFamily="34" charset="0"/>
                <a:ea typeface="Arial" panose="020B0604020202020204" pitchFamily="34" charset="0"/>
                <a:cs typeface="Arial" panose="020B0604020202020204" pitchFamily="34" charset="0"/>
              </a:defRPr>
            </a:lvl1pPr>
          </a:lstStyle>
          <a:p>
            <a:r>
              <a:rPr lang="en-US"/>
              <a:t>Slide Title Here</a:t>
            </a:r>
          </a:p>
        </p:txBody>
      </p:sp>
      <p:sp>
        <p:nvSpPr>
          <p:cNvPr id="11" name="Text Placeholder 3"/>
          <p:cNvSpPr>
            <a:spLocks noGrp="1"/>
          </p:cNvSpPr>
          <p:nvPr>
            <p:ph idx="1"/>
          </p:nvPr>
        </p:nvSpPr>
        <p:spPr>
          <a:xfrm>
            <a:off x="459686" y="959798"/>
            <a:ext cx="8137665" cy="3627033"/>
          </a:xfrm>
          <a:prstGeom prst="rect">
            <a:avLst/>
          </a:prstGeom>
        </p:spPr>
        <p:txBody>
          <a:bodyPr vert="horz" lIns="91440" tIns="45720" rIns="91440" bIns="45720" rtlCol="0">
            <a:noAutofit/>
          </a:bodyPr>
          <a:lstStyle>
            <a:lvl1pPr>
              <a:defRPr sz="2000" b="0" i="0"/>
            </a:lvl1pPr>
            <a:lvl2pPr>
              <a:defRPr sz="1800" b="0" i="0"/>
            </a:lvl2pPr>
            <a:lvl3pPr>
              <a:defRPr sz="1600" b="0" i="0"/>
            </a:lvl3pPr>
            <a:lvl4pPr>
              <a:defRPr sz="1400" b="0" i="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72945003"/>
      </p:ext>
    </p:extLst>
  </p:cSld>
  <p:clrMapOvr>
    <a:overrideClrMapping bg1="lt1" tx1="dk1" bg2="lt2" tx2="dk2" accent1="accent1" accent2="accent2" accent3="accent3" accent4="accent4" accent5="accent5" accent6="accent6" hlink="hlink" folHlink="folHlink"/>
  </p:clrMapOvr>
  <p:transition>
    <p:fade/>
  </p:transition>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FF4B3-CE1B-95CF-DB7E-FBA8B761FEF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E6B3D9F-539F-014E-9079-3E6CD75032C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B5D8C45-D4CB-093D-D01C-ECDC5396CCDF}"/>
              </a:ext>
            </a:extLst>
          </p:cNvPr>
          <p:cNvSpPr>
            <a:spLocks noGrp="1"/>
          </p:cNvSpPr>
          <p:nvPr>
            <p:ph type="dt" sz="half" idx="10"/>
          </p:nvPr>
        </p:nvSpPr>
        <p:spPr/>
        <p:txBody>
          <a:bodyPr/>
          <a:lstStyle/>
          <a:p>
            <a:fld id="{A410F772-56BB-4A2E-A80F-2DF89BBF0ADE}" type="datetimeFigureOut">
              <a:rPr lang="en-US" smtClean="0"/>
              <a:t>3/17/26</a:t>
            </a:fld>
            <a:endParaRPr lang="en-US"/>
          </a:p>
        </p:txBody>
      </p:sp>
      <p:sp>
        <p:nvSpPr>
          <p:cNvPr id="5" name="Footer Placeholder 4">
            <a:extLst>
              <a:ext uri="{FF2B5EF4-FFF2-40B4-BE49-F238E27FC236}">
                <a16:creationId xmlns:a16="http://schemas.microsoft.com/office/drawing/2014/main" id="{C0C65138-1205-471F-6A86-EAF23F9B6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B99BB-D566-FDEA-921F-8A211D1F1BAE}"/>
              </a:ext>
            </a:extLst>
          </p:cNvPr>
          <p:cNvSpPr>
            <a:spLocks noGrp="1"/>
          </p:cNvSpPr>
          <p:nvPr>
            <p:ph type="sldNum" sz="quarter" idx="12"/>
          </p:nvPr>
        </p:nvSpPr>
        <p:spPr/>
        <p:txBody>
          <a:bodyPr/>
          <a:lstStyle/>
          <a:p>
            <a:fld id="{33276F34-BE4F-44FE-9880-B7E88BF108BE}" type="slidenum">
              <a:rPr lang="en-US" smtClean="0"/>
              <a:t>‹#›</a:t>
            </a:fld>
            <a:endParaRPr lang="en-US"/>
          </a:p>
        </p:txBody>
      </p:sp>
    </p:spTree>
    <p:extLst>
      <p:ext uri="{BB962C8B-B14F-4D97-AF65-F5344CB8AC3E}">
        <p14:creationId xmlns:p14="http://schemas.microsoft.com/office/powerpoint/2010/main" val="40292977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Section Header – Blu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D91175AD-5EC8-6C49-8218-F38BDE3E8622}"/>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sp>
        <p:nvSpPr>
          <p:cNvPr id="14" name="Rectangle 13"/>
          <p:cNvSpPr/>
          <p:nvPr/>
        </p:nvSpPr>
        <p:spPr bwMode="auto">
          <a:xfrm>
            <a:off x="3" y="1772721"/>
            <a:ext cx="7051729" cy="1411357"/>
          </a:xfrm>
          <a:prstGeom prst="rect">
            <a:avLst/>
          </a:prstGeom>
          <a:solidFill>
            <a:schemeClr val="accent5">
              <a:lumMod val="75000"/>
            </a:schemeClr>
          </a:solidFill>
          <a:ln w="19050" algn="ctr">
            <a:noFill/>
            <a:miter lim="800000"/>
            <a:headEnd/>
            <a:tailEnd/>
          </a:ln>
        </p:spPr>
        <p:txBody>
          <a:bodyPr wrap="none" rtlCol="0" anchor="ctr"/>
          <a:lstStyle/>
          <a:p>
            <a:pPr algn="ctr">
              <a:lnSpc>
                <a:spcPct val="90000"/>
              </a:lnSpc>
            </a:pPr>
            <a:endParaRPr lang="en-US" sz="1600" b="0" i="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Core Financial Plan - Fall 2021</a:t>
            </a:r>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a:p>
        </p:txBody>
      </p:sp>
      <p:sp>
        <p:nvSpPr>
          <p:cNvPr id="15" name="Title 15"/>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a:t>Section Header Here</a:t>
            </a:r>
          </a:p>
        </p:txBody>
      </p:sp>
    </p:spTree>
    <p:extLst>
      <p:ext uri="{BB962C8B-B14F-4D97-AF65-F5344CB8AC3E}">
        <p14:creationId xmlns:p14="http://schemas.microsoft.com/office/powerpoint/2010/main" val="1269107001"/>
      </p:ext>
    </p:extLst>
  </p:cSld>
  <p:clrMapOvr>
    <a:masterClrMapping/>
  </p:clrMapOvr>
  <p:transition>
    <p:fade/>
  </p:transition>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2"/>
            <a:ext cx="8173580" cy="458587"/>
          </a:xfrm>
        </p:spPr>
        <p:txBody>
          <a:bodyPr anchor="b">
            <a:noAutofit/>
          </a:bodyPr>
          <a:lstStyle>
            <a:lvl1pPr>
              <a:defRPr sz="2700">
                <a:latin typeface="+mj-lt"/>
              </a:defRPr>
            </a:lvl1pPr>
          </a:lstStyle>
          <a:p>
            <a:r>
              <a:rPr lang="en-US" dirty="0"/>
              <a:t>Slide Title Here</a:t>
            </a:r>
          </a:p>
        </p:txBody>
      </p:sp>
      <p:sp>
        <p:nvSpPr>
          <p:cNvPr id="12" name="Text Placeholder 3"/>
          <p:cNvSpPr>
            <a:spLocks noGrp="1"/>
          </p:cNvSpPr>
          <p:nvPr>
            <p:ph type="body" sz="quarter" idx="15" hasCustomPrompt="1"/>
          </p:nvPr>
        </p:nvSpPr>
        <p:spPr>
          <a:xfrm>
            <a:off x="457202" y="695742"/>
            <a:ext cx="8169964" cy="334897"/>
          </a:xfrm>
          <a:prstGeom prst="rect">
            <a:avLst/>
          </a:prstGeom>
        </p:spPr>
        <p:txBody>
          <a:bodyPr>
            <a:noAutofit/>
          </a:bodyPr>
          <a:lstStyle>
            <a:lvl1pPr marL="0" indent="0">
              <a:lnSpc>
                <a:spcPct val="100000"/>
              </a:lnSpc>
              <a:buNone/>
              <a:defRPr sz="1350" i="0">
                <a:latin typeface="+mn-lt"/>
              </a:defRPr>
            </a:lvl1pPr>
            <a:lvl2pPr marL="172636" indent="0">
              <a:lnSpc>
                <a:spcPct val="100000"/>
              </a:lnSpc>
              <a:buNone/>
              <a:defRPr i="1">
                <a:latin typeface="+mn-lt"/>
              </a:defRPr>
            </a:lvl2pPr>
            <a:lvl3pPr marL="386943" indent="0">
              <a:lnSpc>
                <a:spcPct val="100000"/>
              </a:lnSpc>
              <a:buNone/>
              <a:defRPr i="1">
                <a:latin typeface="+mn-lt"/>
              </a:defRPr>
            </a:lvl3pPr>
            <a:lvl4pPr marL="600060" indent="0">
              <a:lnSpc>
                <a:spcPct val="100000"/>
              </a:lnSpc>
              <a:buNone/>
              <a:defRPr i="1">
                <a:latin typeface="+mn-lt"/>
              </a:defRPr>
            </a:lvl4pPr>
            <a:lvl5pPr marL="814367" indent="0">
              <a:lnSpc>
                <a:spcPct val="100000"/>
              </a:lnSpc>
              <a:buNone/>
              <a:defRPr i="1">
                <a:latin typeface="+mn-lt"/>
              </a:defRPr>
            </a:lvl5pPr>
          </a:lstStyle>
          <a:p>
            <a:pPr lvl="0"/>
            <a:r>
              <a:rPr lang="en-US" dirty="0"/>
              <a:t>Optional Subhead here</a:t>
            </a:r>
          </a:p>
        </p:txBody>
      </p:sp>
      <p:sp>
        <p:nvSpPr>
          <p:cNvPr id="15" name="Text Placeholder 3"/>
          <p:cNvSpPr>
            <a:spLocks noGrp="1"/>
          </p:cNvSpPr>
          <p:nvPr>
            <p:ph idx="1"/>
          </p:nvPr>
        </p:nvSpPr>
        <p:spPr>
          <a:xfrm>
            <a:off x="459687" y="1401418"/>
            <a:ext cx="8137665" cy="2932045"/>
          </a:xfrm>
          <a:prstGeom prst="rect">
            <a:avLst/>
          </a:prstGeom>
        </p:spPr>
        <p:txBody>
          <a:bodyPr vert="horz" lIns="91440" tIns="45720" rIns="91440" bIns="45720" rtlCol="0">
            <a:noAutofit/>
          </a:bodyPr>
          <a:lstStyle>
            <a:lvl1pPr>
              <a:buClr>
                <a:schemeClr val="accent1"/>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48861418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9_Bullet Slide-White">
    <p:bg>
      <p:bgRef idx="1001">
        <a:schemeClr val="bg1"/>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7" name="Title 15"/>
          <p:cNvSpPr>
            <a:spLocks noGrp="1"/>
          </p:cNvSpPr>
          <p:nvPr>
            <p:ph type="title" hasCustomPrompt="1"/>
          </p:nvPr>
        </p:nvSpPr>
        <p:spPr>
          <a:xfrm>
            <a:off x="453585" y="318752"/>
            <a:ext cx="8173580" cy="458587"/>
          </a:xfrm>
        </p:spPr>
        <p:txBody>
          <a:bodyPr anchor="b">
            <a:noAutofit/>
          </a:bodyPr>
          <a:lstStyle>
            <a:lvl1pPr>
              <a:defRPr sz="2700">
                <a:latin typeface="+mj-lt"/>
              </a:defRPr>
            </a:lvl1pPr>
          </a:lstStyle>
          <a:p>
            <a:r>
              <a:rPr lang="en-US" dirty="0"/>
              <a:t>Slide Title Here</a:t>
            </a:r>
          </a:p>
        </p:txBody>
      </p:sp>
      <p:sp>
        <p:nvSpPr>
          <p:cNvPr id="9" name="Text Placeholder 3"/>
          <p:cNvSpPr>
            <a:spLocks noGrp="1"/>
          </p:cNvSpPr>
          <p:nvPr>
            <p:ph type="body" sz="quarter" idx="15" hasCustomPrompt="1"/>
          </p:nvPr>
        </p:nvSpPr>
        <p:spPr>
          <a:xfrm>
            <a:off x="457202" y="695742"/>
            <a:ext cx="8169964" cy="334897"/>
          </a:xfrm>
          <a:prstGeom prst="rect">
            <a:avLst/>
          </a:prstGeom>
        </p:spPr>
        <p:txBody>
          <a:bodyPr>
            <a:noAutofit/>
          </a:bodyPr>
          <a:lstStyle>
            <a:lvl1pPr marL="0" indent="0">
              <a:lnSpc>
                <a:spcPct val="100000"/>
              </a:lnSpc>
              <a:buNone/>
              <a:defRPr sz="1350" i="0">
                <a:latin typeface="+mn-lt"/>
              </a:defRPr>
            </a:lvl1pPr>
            <a:lvl2pPr marL="172636" indent="0">
              <a:lnSpc>
                <a:spcPct val="100000"/>
              </a:lnSpc>
              <a:buNone/>
              <a:defRPr i="1">
                <a:latin typeface="+mn-lt"/>
              </a:defRPr>
            </a:lvl2pPr>
            <a:lvl3pPr marL="386943" indent="0">
              <a:lnSpc>
                <a:spcPct val="100000"/>
              </a:lnSpc>
              <a:buNone/>
              <a:defRPr i="1">
                <a:latin typeface="+mn-lt"/>
              </a:defRPr>
            </a:lvl3pPr>
            <a:lvl4pPr marL="600060" indent="0">
              <a:lnSpc>
                <a:spcPct val="100000"/>
              </a:lnSpc>
              <a:buNone/>
              <a:defRPr i="1">
                <a:latin typeface="+mn-lt"/>
              </a:defRPr>
            </a:lvl4pPr>
            <a:lvl5pPr marL="814367" indent="0">
              <a:lnSpc>
                <a:spcPct val="100000"/>
              </a:lnSpc>
              <a:buNone/>
              <a:defRPr i="1">
                <a:latin typeface="+mn-lt"/>
              </a:defRPr>
            </a:lvl5pPr>
          </a:lstStyle>
          <a:p>
            <a:pPr lvl="0"/>
            <a:r>
              <a:rPr lang="en-US" dirty="0"/>
              <a:t>Optional Subhead here</a:t>
            </a:r>
          </a:p>
        </p:txBody>
      </p:sp>
      <p:sp>
        <p:nvSpPr>
          <p:cNvPr id="8" name="Text Placeholder 3"/>
          <p:cNvSpPr>
            <a:spLocks noGrp="1"/>
          </p:cNvSpPr>
          <p:nvPr>
            <p:ph idx="1"/>
          </p:nvPr>
        </p:nvSpPr>
        <p:spPr>
          <a:xfrm>
            <a:off x="459687" y="1401418"/>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9509009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2"/>
            <a:ext cx="8173580" cy="458587"/>
          </a:xfrm>
        </p:spPr>
        <p:txBody>
          <a:bodyPr anchor="b">
            <a:noAutofit/>
          </a:bodyPr>
          <a:lstStyle>
            <a:lvl1pPr>
              <a:defRPr sz="2700">
                <a:latin typeface="+mj-lt"/>
              </a:defRPr>
            </a:lvl1pPr>
          </a:lstStyle>
          <a:p>
            <a:r>
              <a:rPr lang="en-US" dirty="0"/>
              <a:t>Slide Title Here</a:t>
            </a:r>
          </a:p>
        </p:txBody>
      </p:sp>
      <p:sp>
        <p:nvSpPr>
          <p:cNvPr id="12" name="Text Placeholder 3"/>
          <p:cNvSpPr>
            <a:spLocks noGrp="1"/>
          </p:cNvSpPr>
          <p:nvPr>
            <p:ph type="body" sz="quarter" idx="15" hasCustomPrompt="1"/>
          </p:nvPr>
        </p:nvSpPr>
        <p:spPr>
          <a:xfrm>
            <a:off x="457202" y="695742"/>
            <a:ext cx="8169964" cy="334897"/>
          </a:xfrm>
          <a:prstGeom prst="rect">
            <a:avLst/>
          </a:prstGeom>
        </p:spPr>
        <p:txBody>
          <a:bodyPr>
            <a:noAutofit/>
          </a:bodyPr>
          <a:lstStyle>
            <a:lvl1pPr marL="0" indent="0">
              <a:lnSpc>
                <a:spcPct val="100000"/>
              </a:lnSpc>
              <a:buNone/>
              <a:defRPr sz="1350" i="0">
                <a:latin typeface="+mn-lt"/>
              </a:defRPr>
            </a:lvl1pPr>
            <a:lvl2pPr marL="172636" indent="0">
              <a:lnSpc>
                <a:spcPct val="100000"/>
              </a:lnSpc>
              <a:buNone/>
              <a:defRPr i="1">
                <a:latin typeface="+mn-lt"/>
              </a:defRPr>
            </a:lvl2pPr>
            <a:lvl3pPr marL="386943" indent="0">
              <a:lnSpc>
                <a:spcPct val="100000"/>
              </a:lnSpc>
              <a:buNone/>
              <a:defRPr i="1">
                <a:latin typeface="+mn-lt"/>
              </a:defRPr>
            </a:lvl3pPr>
            <a:lvl4pPr marL="600060" indent="0">
              <a:lnSpc>
                <a:spcPct val="100000"/>
              </a:lnSpc>
              <a:buNone/>
              <a:defRPr i="1">
                <a:latin typeface="+mn-lt"/>
              </a:defRPr>
            </a:lvl4pPr>
            <a:lvl5pPr marL="814367" indent="0">
              <a:lnSpc>
                <a:spcPct val="100000"/>
              </a:lnSpc>
              <a:buNone/>
              <a:defRPr i="1">
                <a:latin typeface="+mn-lt"/>
              </a:defRPr>
            </a:lvl5pPr>
          </a:lstStyle>
          <a:p>
            <a:pPr lvl="0"/>
            <a:r>
              <a:rPr lang="en-US" dirty="0"/>
              <a:t>Optional Subhead here</a:t>
            </a:r>
          </a:p>
        </p:txBody>
      </p:sp>
      <p:sp>
        <p:nvSpPr>
          <p:cNvPr id="15" name="Text Placeholder 3"/>
          <p:cNvSpPr>
            <a:spLocks noGrp="1"/>
          </p:cNvSpPr>
          <p:nvPr>
            <p:ph idx="1"/>
          </p:nvPr>
        </p:nvSpPr>
        <p:spPr>
          <a:xfrm>
            <a:off x="459687" y="1401418"/>
            <a:ext cx="8137665" cy="2932045"/>
          </a:xfrm>
          <a:prstGeom prst="rect">
            <a:avLst/>
          </a:prstGeom>
        </p:spPr>
        <p:txBody>
          <a:bodyPr vert="horz" lIns="91440" tIns="45720" rIns="91440" bIns="45720" rtlCol="0">
            <a:noAutofit/>
          </a:bodyPr>
          <a:lstStyle>
            <a:lvl1pPr>
              <a:buClr>
                <a:schemeClr val="accent1"/>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25984793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_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2"/>
            <a:ext cx="8173580" cy="458587"/>
          </a:xfrm>
        </p:spPr>
        <p:txBody>
          <a:bodyPr anchor="b">
            <a:noAutofit/>
          </a:bodyPr>
          <a:lstStyle>
            <a:lvl1pPr>
              <a:defRPr sz="2700">
                <a:latin typeface="+mj-lt"/>
              </a:defRPr>
            </a:lvl1pPr>
          </a:lstStyle>
          <a:p>
            <a:r>
              <a:rPr lang="en-US" dirty="0"/>
              <a:t>Slide Title Here</a:t>
            </a:r>
          </a:p>
        </p:txBody>
      </p:sp>
      <p:sp>
        <p:nvSpPr>
          <p:cNvPr id="12" name="Text Placeholder 3"/>
          <p:cNvSpPr>
            <a:spLocks noGrp="1"/>
          </p:cNvSpPr>
          <p:nvPr>
            <p:ph type="body" sz="quarter" idx="15" hasCustomPrompt="1"/>
          </p:nvPr>
        </p:nvSpPr>
        <p:spPr>
          <a:xfrm>
            <a:off x="457202" y="695742"/>
            <a:ext cx="8169964" cy="334897"/>
          </a:xfrm>
          <a:prstGeom prst="rect">
            <a:avLst/>
          </a:prstGeom>
        </p:spPr>
        <p:txBody>
          <a:bodyPr>
            <a:noAutofit/>
          </a:bodyPr>
          <a:lstStyle>
            <a:lvl1pPr marL="0" indent="0">
              <a:lnSpc>
                <a:spcPct val="100000"/>
              </a:lnSpc>
              <a:buNone/>
              <a:defRPr sz="1350" i="0">
                <a:latin typeface="+mn-lt"/>
              </a:defRPr>
            </a:lvl1pPr>
            <a:lvl2pPr marL="172636" indent="0">
              <a:lnSpc>
                <a:spcPct val="100000"/>
              </a:lnSpc>
              <a:buNone/>
              <a:defRPr i="1">
                <a:latin typeface="+mn-lt"/>
              </a:defRPr>
            </a:lvl2pPr>
            <a:lvl3pPr marL="386943" indent="0">
              <a:lnSpc>
                <a:spcPct val="100000"/>
              </a:lnSpc>
              <a:buNone/>
              <a:defRPr i="1">
                <a:latin typeface="+mn-lt"/>
              </a:defRPr>
            </a:lvl3pPr>
            <a:lvl4pPr marL="600060" indent="0">
              <a:lnSpc>
                <a:spcPct val="100000"/>
              </a:lnSpc>
              <a:buNone/>
              <a:defRPr i="1">
                <a:latin typeface="+mn-lt"/>
              </a:defRPr>
            </a:lvl4pPr>
            <a:lvl5pPr marL="814367" indent="0">
              <a:lnSpc>
                <a:spcPct val="100000"/>
              </a:lnSpc>
              <a:buNone/>
              <a:defRPr i="1">
                <a:latin typeface="+mn-lt"/>
              </a:defRPr>
            </a:lvl5pPr>
          </a:lstStyle>
          <a:p>
            <a:pPr lvl="0"/>
            <a:r>
              <a:rPr lang="en-US" dirty="0"/>
              <a:t>Optional Subhead here</a:t>
            </a:r>
          </a:p>
        </p:txBody>
      </p:sp>
      <p:sp>
        <p:nvSpPr>
          <p:cNvPr id="15" name="Text Placeholder 3"/>
          <p:cNvSpPr>
            <a:spLocks noGrp="1"/>
          </p:cNvSpPr>
          <p:nvPr>
            <p:ph idx="1"/>
          </p:nvPr>
        </p:nvSpPr>
        <p:spPr>
          <a:xfrm>
            <a:off x="459687" y="1401418"/>
            <a:ext cx="8137665" cy="2932045"/>
          </a:xfrm>
          <a:prstGeom prst="rect">
            <a:avLst/>
          </a:prstGeom>
        </p:spPr>
        <p:txBody>
          <a:bodyPr vert="horz" lIns="91440" tIns="45720" rIns="91440" bIns="45720" rtlCol="0">
            <a:noAutofit/>
          </a:bodyPr>
          <a:lstStyle>
            <a:lvl1pPr>
              <a:buClr>
                <a:schemeClr val="accent1"/>
              </a:buCl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6313426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ver – Blue1">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1AE669D-9E26-BE4D-A3DF-A4808A1D067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275692"/>
            <a:ext cx="9144000" cy="4867808"/>
          </a:xfrm>
          <a:prstGeom prst="rect">
            <a:avLst/>
          </a:prstGeom>
        </p:spPr>
      </p:pic>
      <p:sp>
        <p:nvSpPr>
          <p:cNvPr id="2" name="Rectangle 1"/>
          <p:cNvSpPr/>
          <p:nvPr userDrawn="1"/>
        </p:nvSpPr>
        <p:spPr bwMode="auto">
          <a:xfrm>
            <a:off x="502920" y="1"/>
            <a:ext cx="5666935" cy="4304714"/>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0" name="Date Placeholder 4"/>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199763C0-80D9-8D42-B900-9C5810713DB1}" type="datetime1">
              <a:rPr lang="en-US" smtClean="0"/>
              <a:t>3/17/26</a:t>
            </a:fld>
            <a:endParaRPr lang="en-US" dirty="0"/>
          </a:p>
        </p:txBody>
      </p:sp>
      <p:sp>
        <p:nvSpPr>
          <p:cNvPr id="12" name="Text Placeholder 2"/>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3" name="Title 15">
            <a:extLst>
              <a:ext uri="{FF2B5EF4-FFF2-40B4-BE49-F238E27FC236}">
                <a16:creationId xmlns:a16="http://schemas.microsoft.com/office/drawing/2014/main" id="{7DAA724C-3107-8C4A-A46D-AB498B3D6B3F}"/>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5" name="Text Placeholder 3">
            <a:extLst>
              <a:ext uri="{FF2B5EF4-FFF2-40B4-BE49-F238E27FC236}">
                <a16:creationId xmlns:a16="http://schemas.microsoft.com/office/drawing/2014/main" id="{A9573359-3223-304A-9E4E-E3990C977311}"/>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5176D520-90F1-FE46-8D82-9EBEB41208E5}"/>
              </a:ext>
            </a:extLst>
          </p:cNvPr>
          <p:cNvPicPr>
            <a:picLocks noChangeAspect="1"/>
          </p:cNvPicPr>
          <p:nvPr userDrawn="1"/>
        </p:nvPicPr>
        <p:blipFill>
          <a:blip r:embed="rId3"/>
          <a:srcRect/>
          <a:stretch/>
        </p:blipFill>
        <p:spPr>
          <a:xfrm>
            <a:off x="925052" y="297068"/>
            <a:ext cx="1444176" cy="446687"/>
          </a:xfrm>
          <a:prstGeom prst="rect">
            <a:avLst/>
          </a:prstGeom>
        </p:spPr>
      </p:pic>
    </p:spTree>
    <p:extLst>
      <p:ext uri="{BB962C8B-B14F-4D97-AF65-F5344CB8AC3E}">
        <p14:creationId xmlns:p14="http://schemas.microsoft.com/office/powerpoint/2010/main" val="3752861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48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 Teal1">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876EF25-C5D0-8C4C-9182-BE4D034F5FD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01752" y="169986"/>
            <a:ext cx="8828721" cy="4973513"/>
          </a:xfrm>
          <a:prstGeom prst="rect">
            <a:avLst/>
          </a:prstGeom>
        </p:spPr>
      </p:pic>
      <p:sp>
        <p:nvSpPr>
          <p:cNvPr id="2" name="Rectangle 1"/>
          <p:cNvSpPr/>
          <p:nvPr userDrawn="1"/>
        </p:nvSpPr>
        <p:spPr bwMode="auto">
          <a:xfrm>
            <a:off x="502920" y="1"/>
            <a:ext cx="5666935" cy="430471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4" name="Date Placeholder 4">
            <a:extLst>
              <a:ext uri="{FF2B5EF4-FFF2-40B4-BE49-F238E27FC236}">
                <a16:creationId xmlns:a16="http://schemas.microsoft.com/office/drawing/2014/main" id="{3BFC587D-F4CD-7648-95B7-35FDAB00708D}"/>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5E758B97-1F12-914B-8A88-08F79B27CB21}" type="datetime1">
              <a:rPr lang="en-US" smtClean="0"/>
              <a:t>3/17/26</a:t>
            </a:fld>
            <a:endParaRPr lang="en-US" dirty="0"/>
          </a:p>
        </p:txBody>
      </p:sp>
      <p:sp>
        <p:nvSpPr>
          <p:cNvPr id="15" name="Text Placeholder 2">
            <a:extLst>
              <a:ext uri="{FF2B5EF4-FFF2-40B4-BE49-F238E27FC236}">
                <a16:creationId xmlns:a16="http://schemas.microsoft.com/office/drawing/2014/main" id="{2321EFAD-F786-464B-B3E8-5DEEB972AF4D}"/>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1D80BBCD-01AA-2048-816B-1926C338266F}"/>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6" name="Text Placeholder 3">
            <a:extLst>
              <a:ext uri="{FF2B5EF4-FFF2-40B4-BE49-F238E27FC236}">
                <a16:creationId xmlns:a16="http://schemas.microsoft.com/office/drawing/2014/main" id="{CF776777-542E-DD44-ADA8-B722AD3865C3}"/>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FF417615-81C2-2340-AF61-362B348654C8}"/>
              </a:ext>
            </a:extLst>
          </p:cNvPr>
          <p:cNvPicPr>
            <a:picLocks noChangeAspect="1"/>
          </p:cNvPicPr>
          <p:nvPr userDrawn="1"/>
        </p:nvPicPr>
        <p:blipFill>
          <a:blip r:embed="rId3"/>
          <a:srcRect/>
          <a:stretch/>
        </p:blipFill>
        <p:spPr>
          <a:xfrm>
            <a:off x="925052" y="297068"/>
            <a:ext cx="1444176" cy="446687"/>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ver – Teal2">
    <p:bg>
      <p:bgRef idx="1001">
        <a:schemeClr val="bg1"/>
      </p:bgRef>
    </p:bg>
    <p:spTree>
      <p:nvGrpSpPr>
        <p:cNvPr id="1" name=""/>
        <p:cNvGrpSpPr/>
        <p:nvPr/>
      </p:nvGrpSpPr>
      <p:grpSpPr>
        <a:xfrm>
          <a:off x="0" y="0"/>
          <a:ext cx="0" cy="0"/>
          <a:chOff x="0" y="0"/>
          <a:chExt cx="0" cy="0"/>
        </a:xfrm>
      </p:grpSpPr>
      <p:pic>
        <p:nvPicPr>
          <p:cNvPr id="4" name="Picture 3" descr="A group of people walking on a dirt path in a field&#10;&#10;Description automatically generated with low confidence">
            <a:extLst>
              <a:ext uri="{FF2B5EF4-FFF2-40B4-BE49-F238E27FC236}">
                <a16:creationId xmlns:a16="http://schemas.microsoft.com/office/drawing/2014/main" id="{DF54C9F4-5F6B-854B-A2E3-31D76A903916}"/>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282634" y="-1"/>
            <a:ext cx="9248706" cy="5162059"/>
          </a:xfrm>
          <a:prstGeom prst="rect">
            <a:avLst/>
          </a:prstGeom>
        </p:spPr>
      </p:pic>
      <p:sp>
        <p:nvSpPr>
          <p:cNvPr id="2" name="Rectangle 1"/>
          <p:cNvSpPr/>
          <p:nvPr userDrawn="1"/>
        </p:nvSpPr>
        <p:spPr bwMode="auto">
          <a:xfrm>
            <a:off x="502920" y="1"/>
            <a:ext cx="5666935" cy="4304714"/>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EA5AAF51-36B8-9940-ACBC-F45CDFBB60D9}"/>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B4798F0E-CEC8-8A4D-A129-15694C617DB3}" type="datetime1">
              <a:rPr lang="en-US" smtClean="0"/>
              <a:t>3/17/26</a:t>
            </a:fld>
            <a:endParaRPr lang="en-US" dirty="0"/>
          </a:p>
        </p:txBody>
      </p:sp>
      <p:sp>
        <p:nvSpPr>
          <p:cNvPr id="16" name="Text Placeholder 2">
            <a:extLst>
              <a:ext uri="{FF2B5EF4-FFF2-40B4-BE49-F238E27FC236}">
                <a16:creationId xmlns:a16="http://schemas.microsoft.com/office/drawing/2014/main" id="{364A4BD1-BDC4-5847-8479-2F6EAA1BF060}"/>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3D807373-E9A5-9F41-8251-72DE5DC0C0B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7" name="Text Placeholder 3">
            <a:extLst>
              <a:ext uri="{FF2B5EF4-FFF2-40B4-BE49-F238E27FC236}">
                <a16:creationId xmlns:a16="http://schemas.microsoft.com/office/drawing/2014/main" id="{FA66BC5E-F1DA-6A44-9B69-93266278F913}"/>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4E34928E-FDC0-134C-9AC8-7BC99D806C85}"/>
              </a:ext>
            </a:extLst>
          </p:cNvPr>
          <p:cNvPicPr>
            <a:picLocks noChangeAspect="1"/>
          </p:cNvPicPr>
          <p:nvPr userDrawn="1"/>
        </p:nvPicPr>
        <p:blipFill>
          <a:blip r:embed="rId3"/>
          <a:srcRect/>
          <a:stretch/>
        </p:blipFill>
        <p:spPr>
          <a:xfrm>
            <a:off x="928013" y="297984"/>
            <a:ext cx="1438253" cy="444855"/>
          </a:xfrm>
          <a:prstGeom prst="rect">
            <a:avLst/>
          </a:prstGeom>
        </p:spPr>
      </p:pic>
    </p:spTree>
    <p:extLst>
      <p:ext uri="{BB962C8B-B14F-4D97-AF65-F5344CB8AC3E}">
        <p14:creationId xmlns:p14="http://schemas.microsoft.com/office/powerpoint/2010/main" val="19062028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 Blue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5" y="241902"/>
            <a:ext cx="8908063" cy="4901598"/>
          </a:xfrm>
          <a:prstGeom prst="rect">
            <a:avLst/>
          </a:prstGeom>
        </p:spPr>
      </p:pic>
      <p:sp>
        <p:nvSpPr>
          <p:cNvPr id="2" name="Rectangle 1"/>
          <p:cNvSpPr/>
          <p:nvPr userDrawn="1"/>
        </p:nvSpPr>
        <p:spPr bwMode="auto">
          <a:xfrm>
            <a:off x="502920" y="1"/>
            <a:ext cx="5666935" cy="430471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E601DCD7-F394-9C47-9AE3-85303D673D5E}" type="datetime1">
              <a:rPr lang="en-US" smtClean="0"/>
              <a:t>3/17/26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0" name="Picture 9">
            <a:extLst>
              <a:ext uri="{FF2B5EF4-FFF2-40B4-BE49-F238E27FC236}">
                <a16:creationId xmlns:a16="http://schemas.microsoft.com/office/drawing/2014/main" id="{D4359701-E632-0E41-94D2-E6707E383F31}"/>
              </a:ext>
            </a:extLst>
          </p:cNvPr>
          <p:cNvPicPr>
            <a:picLocks noChangeAspect="1"/>
          </p:cNvPicPr>
          <p:nvPr userDrawn="1"/>
        </p:nvPicPr>
        <p:blipFill>
          <a:blip r:embed="rId3"/>
          <a:srcRect/>
          <a:stretch/>
        </p:blipFill>
        <p:spPr>
          <a:xfrm>
            <a:off x="925052" y="297068"/>
            <a:ext cx="1444176" cy="446687"/>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ver – Teal2">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5" y="241902"/>
            <a:ext cx="8902097" cy="4901598"/>
          </a:xfrm>
          <a:prstGeom prst="rect">
            <a:avLst/>
          </a:prstGeom>
        </p:spPr>
      </p:pic>
      <p:sp>
        <p:nvSpPr>
          <p:cNvPr id="2" name="Rectangle 1"/>
          <p:cNvSpPr/>
          <p:nvPr userDrawn="1"/>
        </p:nvSpPr>
        <p:spPr bwMode="auto">
          <a:xfrm>
            <a:off x="502920" y="1"/>
            <a:ext cx="5666935" cy="4304714"/>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EA5AAF51-36B8-9940-ACBC-F45CDFBB60D9}"/>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B4798F0E-CEC8-8A4D-A129-15694C617DB3}" type="datetime1">
              <a:rPr lang="en-US" smtClean="0"/>
              <a:t>3/17/26</a:t>
            </a:fld>
            <a:endParaRPr lang="en-US" dirty="0"/>
          </a:p>
        </p:txBody>
      </p:sp>
      <p:sp>
        <p:nvSpPr>
          <p:cNvPr id="16" name="Text Placeholder 2">
            <a:extLst>
              <a:ext uri="{FF2B5EF4-FFF2-40B4-BE49-F238E27FC236}">
                <a16:creationId xmlns:a16="http://schemas.microsoft.com/office/drawing/2014/main" id="{364A4BD1-BDC4-5847-8479-2F6EAA1BF060}"/>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3D807373-E9A5-9F41-8251-72DE5DC0C0B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7" name="Text Placeholder 3">
            <a:extLst>
              <a:ext uri="{FF2B5EF4-FFF2-40B4-BE49-F238E27FC236}">
                <a16:creationId xmlns:a16="http://schemas.microsoft.com/office/drawing/2014/main" id="{FA66BC5E-F1DA-6A44-9B69-93266278F913}"/>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4E34928E-FDC0-134C-9AC8-7BC99D806C85}"/>
              </a:ext>
            </a:extLst>
          </p:cNvPr>
          <p:cNvPicPr>
            <a:picLocks noChangeAspect="1"/>
          </p:cNvPicPr>
          <p:nvPr userDrawn="1"/>
        </p:nvPicPr>
        <p:blipFill>
          <a:blip r:embed="rId3"/>
          <a:srcRect/>
          <a:stretch/>
        </p:blipFill>
        <p:spPr>
          <a:xfrm>
            <a:off x="928013" y="297984"/>
            <a:ext cx="1438253" cy="444855"/>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ver – Blue3">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tx2"/>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295CD000-1EC0-AA42-B1CD-FDFAC651DA81}" type="datetime1">
              <a:rPr lang="en-US" smtClean="0"/>
              <a:t>3/17/26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0" name="Picture 9">
            <a:extLst>
              <a:ext uri="{FF2B5EF4-FFF2-40B4-BE49-F238E27FC236}">
                <a16:creationId xmlns:a16="http://schemas.microsoft.com/office/drawing/2014/main" id="{4D731745-D543-2644-B19B-3143CCA96B56}"/>
              </a:ext>
            </a:extLst>
          </p:cNvPr>
          <p:cNvPicPr>
            <a:picLocks noChangeAspect="1"/>
          </p:cNvPicPr>
          <p:nvPr userDrawn="1"/>
        </p:nvPicPr>
        <p:blipFill>
          <a:blip r:embed="rId3"/>
          <a:srcRect/>
          <a:stretch/>
        </p:blipFill>
        <p:spPr>
          <a:xfrm>
            <a:off x="925052" y="297068"/>
            <a:ext cx="1444176" cy="446687"/>
          </a:xfrm>
          <a:prstGeom prst="rect">
            <a:avLst/>
          </a:prstGeom>
        </p:spPr>
      </p:pic>
    </p:spTree>
    <p:extLst>
      <p:ext uri="{BB962C8B-B14F-4D97-AF65-F5344CB8AC3E}">
        <p14:creationId xmlns:p14="http://schemas.microsoft.com/office/powerpoint/2010/main" val="22554957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ver – Violet">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accent5"/>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B82CAA2A-5698-F649-A896-1B0C52B65B4D}" type="datetime1">
              <a:rPr lang="en-US" smtClean="0"/>
              <a:t>3/17/26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0" name="Picture 9">
            <a:extLst>
              <a:ext uri="{FF2B5EF4-FFF2-40B4-BE49-F238E27FC236}">
                <a16:creationId xmlns:a16="http://schemas.microsoft.com/office/drawing/2014/main" id="{68048138-A350-B345-A99A-EEDBA939140F}"/>
              </a:ext>
            </a:extLst>
          </p:cNvPr>
          <p:cNvPicPr>
            <a:picLocks noChangeAspect="1"/>
          </p:cNvPicPr>
          <p:nvPr userDrawn="1"/>
        </p:nvPicPr>
        <p:blipFill>
          <a:blip r:embed="rId3"/>
          <a:srcRect/>
          <a:stretch/>
        </p:blipFill>
        <p:spPr>
          <a:xfrm>
            <a:off x="925052" y="297068"/>
            <a:ext cx="1444176" cy="446687"/>
          </a:xfrm>
          <a:prstGeom prst="rect">
            <a:avLst/>
          </a:prstGeom>
        </p:spPr>
      </p:pic>
    </p:spTree>
    <p:extLst>
      <p:ext uri="{BB962C8B-B14F-4D97-AF65-F5344CB8AC3E}">
        <p14:creationId xmlns:p14="http://schemas.microsoft.com/office/powerpoint/2010/main" val="27796850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ver – Magenta">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41903" y="241703"/>
            <a:ext cx="8902097" cy="4901798"/>
          </a:xfrm>
          <a:prstGeom prst="rect">
            <a:avLst/>
          </a:prstGeom>
        </p:spPr>
      </p:pic>
      <p:sp>
        <p:nvSpPr>
          <p:cNvPr id="2" name="Rectangle 1"/>
          <p:cNvSpPr/>
          <p:nvPr userDrawn="1"/>
        </p:nvSpPr>
        <p:spPr bwMode="auto">
          <a:xfrm>
            <a:off x="502920" y="1"/>
            <a:ext cx="5666935" cy="4304714"/>
          </a:xfrm>
          <a:prstGeom prst="rect">
            <a:avLst/>
          </a:prstGeom>
          <a:solidFill>
            <a:schemeClr val="accent6"/>
          </a:solidFill>
          <a:ln w="19050" algn="ctr">
            <a:noFill/>
            <a:miter lim="800000"/>
            <a:headEnd/>
            <a:tailEnd/>
          </a:ln>
        </p:spPr>
        <p:txBody>
          <a:bodyPr wrap="none" rtlCol="0" anchor="ctr"/>
          <a:lstStyle/>
          <a:p>
            <a:pPr algn="ctr">
              <a:lnSpc>
                <a:spcPct val="90000"/>
              </a:lnSpc>
            </a:pPr>
            <a:endParaRPr lang="en-US" sz="1600"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686298" y="3869451"/>
            <a:ext cx="1925338" cy="178955"/>
          </a:xfrm>
          <a:prstGeom prst="rect">
            <a:avLst/>
          </a:prstGeom>
        </p:spPr>
        <p:txBody>
          <a:bodyPr vert="horz" wrap="square" lIns="91440" tIns="0" rIns="91440" bIns="0" rtlCol="0" anchor="b" anchorCtr="0">
            <a:noAutofit/>
          </a:bodyPr>
          <a:lstStyle>
            <a:lvl1pPr algn="l">
              <a:defRPr sz="1200" b="0" i="0">
                <a:solidFill>
                  <a:schemeClr val="bg1"/>
                </a:solidFill>
                <a:latin typeface="Arial" panose="020B0604020202020204" pitchFamily="34" charset="0"/>
                <a:cs typeface="Arial" panose="020B0604020202020204" pitchFamily="34" charset="0"/>
              </a:defRPr>
            </a:lvl1pPr>
          </a:lstStyle>
          <a:p>
            <a:fld id="{325E0E3E-37E7-624B-BD5B-F3FD27B58250}" type="datetime1">
              <a:rPr lang="en-US" smtClean="0"/>
              <a:t>3/17/26</a:t>
            </a:fld>
            <a:endParaRPr lang="en-US" dirty="0"/>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684693" y="3355289"/>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669972" y="1127897"/>
            <a:ext cx="4976447" cy="1311963"/>
          </a:xfrm>
        </p:spPr>
        <p:txBody>
          <a:bodyPr anchor="b">
            <a:noAutofit/>
          </a:bodyPr>
          <a:lstStyle>
            <a:lvl1pPr>
              <a:defRPr sz="36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673589" y="2526001"/>
            <a:ext cx="4972830" cy="508220"/>
          </a:xfrm>
          <a:prstGeom prst="rect">
            <a:avLst/>
          </a:prstGeom>
        </p:spPr>
        <p:txBody>
          <a:bodyPr>
            <a:noAutofit/>
          </a:bodyPr>
          <a:lstStyle>
            <a:lvl1pPr marL="0" indent="0" algn="l">
              <a:lnSpc>
                <a:spcPct val="100000"/>
              </a:lnSpc>
              <a:buNone/>
              <a:defRPr sz="1600"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0" name="Picture 9">
            <a:extLst>
              <a:ext uri="{FF2B5EF4-FFF2-40B4-BE49-F238E27FC236}">
                <a16:creationId xmlns:a16="http://schemas.microsoft.com/office/drawing/2014/main" id="{FFBF8329-B6F0-0F43-9CD1-01235C057F01}"/>
              </a:ext>
            </a:extLst>
          </p:cNvPr>
          <p:cNvPicPr>
            <a:picLocks noChangeAspect="1"/>
          </p:cNvPicPr>
          <p:nvPr userDrawn="1"/>
        </p:nvPicPr>
        <p:blipFill>
          <a:blip r:embed="rId3"/>
          <a:srcRect/>
          <a:stretch/>
        </p:blipFill>
        <p:spPr>
          <a:xfrm>
            <a:off x="925052" y="297068"/>
            <a:ext cx="1444176" cy="446687"/>
          </a:xfrm>
          <a:prstGeom prst="rect">
            <a:avLst/>
          </a:prstGeom>
        </p:spPr>
      </p:pic>
    </p:spTree>
    <p:extLst>
      <p:ext uri="{BB962C8B-B14F-4D97-AF65-F5344CB8AC3E}">
        <p14:creationId xmlns:p14="http://schemas.microsoft.com/office/powerpoint/2010/main" val="32970062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ver – Navy">
    <p:bg>
      <p:bgRef idx="1001">
        <a:schemeClr val="bg2"/>
      </p:bgRef>
    </p:bg>
    <p:spTree>
      <p:nvGrpSpPr>
        <p:cNvPr id="1" name=""/>
        <p:cNvGrpSpPr/>
        <p:nvPr/>
      </p:nvGrpSpPr>
      <p:grpSpPr>
        <a:xfrm>
          <a:off x="0" y="0"/>
          <a:ext cx="0" cy="0"/>
          <a:chOff x="0" y="0"/>
          <a:chExt cx="0" cy="0"/>
        </a:xfrm>
      </p:grpSpPr>
      <p:sp>
        <p:nvSpPr>
          <p:cNvPr id="2" name="Rectangle 1"/>
          <p:cNvSpPr/>
          <p:nvPr userDrawn="1"/>
        </p:nvSpPr>
        <p:spPr bwMode="auto">
          <a:xfrm>
            <a:off x="0" y="4136994"/>
            <a:ext cx="9144000" cy="1006506"/>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E76EBEE4-9892-574D-BF3F-34A92DB1BEAF}" type="datetime1">
              <a:rPr lang="en-US" smtClean="0"/>
              <a:t>3/17/26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pic>
        <p:nvPicPr>
          <p:cNvPr id="9" name="Graphic 8">
            <a:extLst>
              <a:ext uri="{FF2B5EF4-FFF2-40B4-BE49-F238E27FC236}">
                <a16:creationId xmlns:a16="http://schemas.microsoft.com/office/drawing/2014/main" id="{E56506E1-BB8B-7045-8D57-C400CDE42A8B}"/>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4" name="Picture 13">
            <a:extLst>
              <a:ext uri="{FF2B5EF4-FFF2-40B4-BE49-F238E27FC236}">
                <a16:creationId xmlns:a16="http://schemas.microsoft.com/office/drawing/2014/main" id="{F0C9BD37-B590-304A-8B49-7ABA28C30670}"/>
              </a:ext>
            </a:extLst>
          </p:cNvPr>
          <p:cNvPicPr>
            <a:picLocks noChangeAspect="1"/>
          </p:cNvPicPr>
          <p:nvPr userDrawn="1"/>
        </p:nvPicPr>
        <p:blipFill>
          <a:blip r:embed="rId3"/>
          <a:srcRect/>
          <a:stretch/>
        </p:blipFill>
        <p:spPr>
          <a:xfrm>
            <a:off x="458374" y="400650"/>
            <a:ext cx="1444176" cy="446687"/>
          </a:xfrm>
          <a:prstGeom prst="rect">
            <a:avLst/>
          </a:prstGeom>
        </p:spPr>
      </p:pic>
    </p:spTree>
    <p:extLst>
      <p:ext uri="{BB962C8B-B14F-4D97-AF65-F5344CB8AC3E}">
        <p14:creationId xmlns:p14="http://schemas.microsoft.com/office/powerpoint/2010/main" val="19563316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ver – Navy">
    <p:bg>
      <p:bgPr>
        <a:solidFill>
          <a:schemeClr val="accent1"/>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98E9279F-0732-2D41-9F31-EB38C1C6965B}" type="datetime1">
              <a:rPr lang="en-US" smtClean="0"/>
              <a:t>3/17/26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6" name="Graphic 15">
            <a:extLst>
              <a:ext uri="{FF2B5EF4-FFF2-40B4-BE49-F238E27FC236}">
                <a16:creationId xmlns:a16="http://schemas.microsoft.com/office/drawing/2014/main" id="{29BA6BCF-2F1A-8443-A8DC-13CF462899A6}"/>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0227" t="19283" r="-18229" b="-22843"/>
          <a:stretch/>
        </p:blipFill>
        <p:spPr>
          <a:xfrm rot="5400000">
            <a:off x="2084133" y="-3768025"/>
            <a:ext cx="10362381" cy="9676016"/>
          </a:xfrm>
          <a:prstGeom prst="rect">
            <a:avLst/>
          </a:prstGeom>
        </p:spPr>
      </p:pic>
      <p:pic>
        <p:nvPicPr>
          <p:cNvPr id="11" name="Picture 10">
            <a:extLst>
              <a:ext uri="{FF2B5EF4-FFF2-40B4-BE49-F238E27FC236}">
                <a16:creationId xmlns:a16="http://schemas.microsoft.com/office/drawing/2014/main" id="{52940C55-B0F6-2248-8883-AB5DB7E8FDA6}"/>
              </a:ext>
            </a:extLst>
          </p:cNvPr>
          <p:cNvPicPr>
            <a:picLocks noChangeAspect="1"/>
          </p:cNvPicPr>
          <p:nvPr userDrawn="1"/>
        </p:nvPicPr>
        <p:blipFill>
          <a:blip r:embed="rId3"/>
          <a:srcRect/>
          <a:stretch/>
        </p:blipFill>
        <p:spPr>
          <a:xfrm>
            <a:off x="458374" y="400650"/>
            <a:ext cx="1444176" cy="446687"/>
          </a:xfrm>
          <a:prstGeom prst="rect">
            <a:avLst/>
          </a:prstGeom>
        </p:spPr>
      </p:pic>
    </p:spTree>
    <p:extLst>
      <p:ext uri="{BB962C8B-B14F-4D97-AF65-F5344CB8AC3E}">
        <p14:creationId xmlns:p14="http://schemas.microsoft.com/office/powerpoint/2010/main" val="326606502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Cover – Navy">
    <p:bg>
      <p:bgPr>
        <a:solidFill>
          <a:schemeClr val="accent2"/>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cs typeface="Arial" panose="020B0604020202020204" pitchFamily="34" charset="0"/>
              </a:defRPr>
            </a:lvl1pPr>
          </a:lstStyle>
          <a:p>
            <a:fld id="{574AEBC4-F1C6-964F-B3AF-AF09E45DE715}" type="datetime1">
              <a:rPr lang="en-US" smtClean="0"/>
              <a:t>3/17/26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13" name="Picture 12" descr="Background pattern&#10;&#10;Description automatically generated">
            <a:extLst>
              <a:ext uri="{FF2B5EF4-FFF2-40B4-BE49-F238E27FC236}">
                <a16:creationId xmlns:a16="http://schemas.microsoft.com/office/drawing/2014/main" id="{8A9B26ED-91EB-374C-A70F-3562EDE10CB7}"/>
              </a:ext>
            </a:extLst>
          </p:cNvPr>
          <p:cNvPicPr>
            <a:picLocks noChangeAspect="1"/>
          </p:cNvPicPr>
          <p:nvPr userDrawn="1"/>
        </p:nvPicPr>
        <p:blipFill rotWithShape="1">
          <a:blip r:embed="rId2" cstate="screen">
            <a:alphaModFix amt="25000"/>
            <a:extLst>
              <a:ext uri="{28A0092B-C50C-407E-A947-70E740481C1C}">
                <a14:useLocalDpi xmlns:a14="http://schemas.microsoft.com/office/drawing/2010/main"/>
              </a:ext>
            </a:extLst>
          </a:blip>
          <a:srcRect b="-8148"/>
          <a:stretch/>
        </p:blipFill>
        <p:spPr>
          <a:xfrm rot="10800000">
            <a:off x="2413325" y="62568"/>
            <a:ext cx="6730677" cy="1959529"/>
          </a:xfrm>
          <a:prstGeom prst="rect">
            <a:avLst/>
          </a:prstGeom>
        </p:spPr>
      </p:pic>
      <p:pic>
        <p:nvPicPr>
          <p:cNvPr id="11" name="Picture 10">
            <a:extLst>
              <a:ext uri="{FF2B5EF4-FFF2-40B4-BE49-F238E27FC236}">
                <a16:creationId xmlns:a16="http://schemas.microsoft.com/office/drawing/2014/main" id="{B9D9345F-D15C-2043-8157-7A75DD361F38}"/>
              </a:ext>
            </a:extLst>
          </p:cNvPr>
          <p:cNvPicPr>
            <a:picLocks noChangeAspect="1"/>
          </p:cNvPicPr>
          <p:nvPr userDrawn="1"/>
        </p:nvPicPr>
        <p:blipFill>
          <a:blip r:embed="rId3"/>
          <a:srcRect/>
          <a:stretch/>
        </p:blipFill>
        <p:spPr>
          <a:xfrm>
            <a:off x="458374" y="400650"/>
            <a:ext cx="1444176" cy="446687"/>
          </a:xfrm>
          <a:prstGeom prst="rect">
            <a:avLst/>
          </a:prstGeom>
        </p:spPr>
      </p:pic>
    </p:spTree>
    <p:extLst>
      <p:ext uri="{BB962C8B-B14F-4D97-AF65-F5344CB8AC3E}">
        <p14:creationId xmlns:p14="http://schemas.microsoft.com/office/powerpoint/2010/main" val="22861803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Cover – Navy">
    <p:bg>
      <p:bgPr>
        <a:solidFill>
          <a:schemeClr val="tx2"/>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319200" y="4634178"/>
            <a:ext cx="1925338" cy="178955"/>
          </a:xfrm>
          <a:prstGeom prst="rect">
            <a:avLst/>
          </a:prstGeom>
        </p:spPr>
        <p:txBody>
          <a:bodyPr vert="horz" wrap="square" lIns="91440" tIns="0" rIns="91440" bIns="0" rtlCol="0" anchor="b" anchorCtr="0">
            <a:noAutofit/>
          </a:bodyPr>
          <a:lstStyle>
            <a:lvl1pPr algn="l">
              <a:defRPr sz="1200" b="0" i="0">
                <a:solidFill>
                  <a:schemeClr val="bg2"/>
                </a:solidFill>
                <a:latin typeface="Arial" panose="020B0604020202020204" pitchFamily="34" charset="0"/>
                <a:cs typeface="Arial" panose="020B0604020202020204" pitchFamily="34" charset="0"/>
              </a:defRPr>
            </a:lvl1pPr>
          </a:lstStyle>
          <a:p>
            <a:fld id="{44BC1395-2AD9-8C4D-9E13-CE99F3E7EA24}" type="datetime1">
              <a:rPr lang="en-US" smtClean="0"/>
              <a:t>3/17/26</a:t>
            </a:fld>
            <a:endParaRPr lang="en-US" dirty="0"/>
          </a:p>
        </p:txBody>
      </p:sp>
      <p:sp>
        <p:nvSpPr>
          <p:cNvPr id="8" name="Text Placeholder 2"/>
          <p:cNvSpPr>
            <a:spLocks noGrp="1"/>
          </p:cNvSpPr>
          <p:nvPr>
            <p:ph type="body" sz="quarter" idx="10" hasCustomPrompt="1"/>
          </p:nvPr>
        </p:nvSpPr>
        <p:spPr>
          <a:xfrm>
            <a:off x="317595" y="4120016"/>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bg2"/>
                </a:solidFill>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337463" y="1418843"/>
            <a:ext cx="6437410" cy="1311963"/>
          </a:xfrm>
        </p:spPr>
        <p:txBody>
          <a:bodyPr anchor="b">
            <a:noAutofit/>
          </a:bodyPr>
          <a:lstStyle>
            <a:lvl1pPr>
              <a:defRPr sz="3600" b="0" i="0" baseline="0">
                <a:solidFill>
                  <a:schemeClr val="bg2"/>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341081" y="2816947"/>
            <a:ext cx="6432731" cy="508220"/>
          </a:xfrm>
          <a:prstGeom prst="rect">
            <a:avLst/>
          </a:prstGeom>
        </p:spPr>
        <p:txBody>
          <a:bodyPr>
            <a:noAutofit/>
          </a:bodyPr>
          <a:lstStyle>
            <a:lvl1pPr marL="0" indent="0" algn="l">
              <a:lnSpc>
                <a:spcPct val="100000"/>
              </a:lnSpc>
              <a:buNone/>
              <a:defRPr sz="1600" b="0" i="0">
                <a:solidFill>
                  <a:schemeClr val="bg2"/>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8" name="Freeform 77">
            <a:extLst>
              <a:ext uri="{FF2B5EF4-FFF2-40B4-BE49-F238E27FC236}">
                <a16:creationId xmlns:a16="http://schemas.microsoft.com/office/drawing/2014/main" id="{09D6DA44-3D41-5E45-80B2-97B2B0E76C11}"/>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pic>
        <p:nvPicPr>
          <p:cNvPr id="2" name="Picture 1">
            <a:extLst>
              <a:ext uri="{FF2B5EF4-FFF2-40B4-BE49-F238E27FC236}">
                <a16:creationId xmlns:a16="http://schemas.microsoft.com/office/drawing/2014/main" id="{504723CD-1F5B-804C-A079-FE3D1017AF2B}"/>
              </a:ext>
            </a:extLst>
          </p:cNvPr>
          <p:cNvPicPr>
            <a:picLocks noChangeAspect="1"/>
          </p:cNvPicPr>
          <p:nvPr userDrawn="1"/>
        </p:nvPicPr>
        <p:blipFill rotWithShape="1">
          <a:blip r:embed="rId2" cstate="screen">
            <a:alphaModFix amt="45000"/>
            <a:extLst>
              <a:ext uri="{28A0092B-C50C-407E-A947-70E740481C1C}">
                <a14:useLocalDpi xmlns:a14="http://schemas.microsoft.com/office/drawing/2010/main"/>
              </a:ext>
            </a:extLst>
          </a:blip>
          <a:srcRect r="32084"/>
          <a:stretch/>
        </p:blipFill>
        <p:spPr>
          <a:xfrm>
            <a:off x="2244538" y="183586"/>
            <a:ext cx="6899462" cy="1686849"/>
          </a:xfrm>
          <a:prstGeom prst="rect">
            <a:avLst/>
          </a:prstGeom>
        </p:spPr>
      </p:pic>
      <p:pic>
        <p:nvPicPr>
          <p:cNvPr id="9" name="Picture 8">
            <a:extLst>
              <a:ext uri="{FF2B5EF4-FFF2-40B4-BE49-F238E27FC236}">
                <a16:creationId xmlns:a16="http://schemas.microsoft.com/office/drawing/2014/main" id="{0E018DBD-9FCE-E143-9B10-EBC91636CA3A}"/>
              </a:ext>
            </a:extLst>
          </p:cNvPr>
          <p:cNvPicPr>
            <a:picLocks noChangeAspect="1"/>
          </p:cNvPicPr>
          <p:nvPr userDrawn="1"/>
        </p:nvPicPr>
        <p:blipFill>
          <a:blip r:embed="rId3"/>
          <a:srcRect/>
          <a:stretch/>
        </p:blipFill>
        <p:spPr>
          <a:xfrm>
            <a:off x="461335" y="401566"/>
            <a:ext cx="1438253" cy="444855"/>
          </a:xfrm>
          <a:prstGeom prst="rect">
            <a:avLst/>
          </a:prstGeom>
        </p:spPr>
      </p:pic>
    </p:spTree>
    <p:extLst>
      <p:ext uri="{BB962C8B-B14F-4D97-AF65-F5344CB8AC3E}">
        <p14:creationId xmlns:p14="http://schemas.microsoft.com/office/powerpoint/2010/main" val="251398422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620" userDrawn="1">
          <p15:clr>
            <a:srgbClr val="FBAE40"/>
          </p15:clr>
        </p15:guide>
        <p15:guide id="2" pos="26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ullet Slide-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4" name="Text Placeholder 3"/>
          <p:cNvSpPr>
            <a:spLocks noGrp="1"/>
          </p:cNvSpPr>
          <p:nvPr>
            <p:ph type="body" sz="quarter" idx="15" hasCustomPrompt="1"/>
          </p:nvPr>
        </p:nvSpPr>
        <p:spPr>
          <a:xfrm>
            <a:off x="457202" y="695741"/>
            <a:ext cx="8169964" cy="357809"/>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7"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buClr>
                <a:schemeClr val="accent1"/>
              </a:buClr>
              <a:defRPr b="0" i="0"/>
            </a:lvl1pPr>
            <a:lvl2pPr>
              <a:buClr>
                <a:schemeClr val="tx1"/>
              </a:buClr>
              <a:defRPr b="0" i="0"/>
            </a:lvl2pPr>
            <a:lvl3pPr>
              <a:buClr>
                <a:schemeClr val="accent1"/>
              </a:buClr>
              <a:defRPr b="0" i="0"/>
            </a:lvl3pPr>
            <a:lvl4pPr>
              <a:buClr>
                <a:schemeClr val="tx1"/>
              </a:buCl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2752162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137557461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rt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5" name="Chart Placeholder 2"/>
          <p:cNvSpPr>
            <a:spLocks noGrp="1"/>
          </p:cNvSpPr>
          <p:nvPr>
            <p:ph type="chart" sz="quarter" idx="14"/>
          </p:nvPr>
        </p:nvSpPr>
        <p:spPr>
          <a:xfrm>
            <a:off x="268359" y="352446"/>
            <a:ext cx="8587407" cy="3972812"/>
          </a:xfrm>
          <a:prstGeom prst="rect">
            <a:avLst/>
          </a:prstGeom>
        </p:spPr>
        <p:txBody>
          <a:bodyPr>
            <a:normAutofit/>
          </a:bodyPr>
          <a:lstStyle>
            <a:lvl1pPr marL="0" indent="0">
              <a:buNone/>
              <a:defRPr b="0" i="0"/>
            </a:lvl1pPr>
          </a:lstStyle>
          <a:p>
            <a:r>
              <a:rPr lang="en-US" dirty="0"/>
              <a:t>Click icon to add chart</a:t>
            </a:r>
          </a:p>
        </p:txBody>
      </p:sp>
    </p:spTree>
    <p:extLst>
      <p:ext uri="{BB962C8B-B14F-4D97-AF65-F5344CB8AC3E}">
        <p14:creationId xmlns:p14="http://schemas.microsoft.com/office/powerpoint/2010/main" val="62892669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456925" y="1420744"/>
            <a:ext cx="3826840" cy="2853083"/>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4790386" y="1420744"/>
            <a:ext cx="3826840" cy="2853083"/>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4881879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ullet Slide-White">
    <p:bg>
      <p:bgRef idx="1001">
        <a:schemeClr val="bg1"/>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7"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9"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11" name="Text Placeholder 3"/>
          <p:cNvSpPr>
            <a:spLocks noGrp="1"/>
          </p:cNvSpPr>
          <p:nvPr>
            <p:ph idx="1"/>
          </p:nvPr>
        </p:nvSpPr>
        <p:spPr>
          <a:xfrm>
            <a:off x="459685" y="1401417"/>
            <a:ext cx="8137665" cy="2932045"/>
          </a:xfrm>
          <a:prstGeom prst="rect">
            <a:avLst/>
          </a:prstGeom>
        </p:spPr>
        <p:txBody>
          <a:bodyPr vert="horz" lIns="91440" tIns="45720" rIns="91440" bIns="45720" rtlCol="0">
            <a:noAutofit/>
          </a:bodyPr>
          <a:lstStyle>
            <a:lvl1pPr>
              <a:defRPr b="0" i="0"/>
            </a:lvl1pPr>
            <a:lvl2pPr>
              <a:defRPr b="0" i="0"/>
            </a:lvl2pPr>
            <a:lvl3pPr>
              <a:defRPr b="0" i="0"/>
            </a:lvl3pPr>
            <a:lvl4pPr>
              <a:defRPr b="0" i="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10365824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hart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6" name="Chart Placeholder 2"/>
          <p:cNvSpPr>
            <a:spLocks noGrp="1"/>
          </p:cNvSpPr>
          <p:nvPr>
            <p:ph type="chart" sz="quarter" idx="14"/>
          </p:nvPr>
        </p:nvSpPr>
        <p:spPr>
          <a:xfrm>
            <a:off x="268359" y="352446"/>
            <a:ext cx="8587407" cy="3972812"/>
          </a:xfrm>
          <a:prstGeom prst="rect">
            <a:avLst/>
          </a:prstGeom>
        </p:spPr>
        <p:txBody>
          <a:bodyPr>
            <a:normAutofit/>
          </a:bodyPr>
          <a:lstStyle>
            <a:lvl1pPr marL="0" indent="0">
              <a:buNone/>
              <a:defRPr b="0" i="0"/>
            </a:lvl1pPr>
          </a:lstStyle>
          <a:p>
            <a:r>
              <a:rPr lang="en-US" dirty="0"/>
              <a:t>Click icon to add chart</a:t>
            </a:r>
          </a:p>
        </p:txBody>
      </p:sp>
    </p:spTree>
    <p:extLst>
      <p:ext uri="{BB962C8B-B14F-4D97-AF65-F5344CB8AC3E}">
        <p14:creationId xmlns:p14="http://schemas.microsoft.com/office/powerpoint/2010/main" val="1220903655"/>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lumn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453585" y="318751"/>
            <a:ext cx="8173580" cy="458587"/>
          </a:xfrm>
          <a:prstGeom prst="rect">
            <a:avLst/>
          </a:prstGeom>
        </p:spPr>
        <p:txBody>
          <a:bodyPr anchor="b">
            <a:noAutofit/>
          </a:bodyPr>
          <a:lstStyle>
            <a:lvl1pPr>
              <a:defRPr sz="36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457202" y="695741"/>
            <a:ext cx="8169964" cy="334897"/>
          </a:xfrm>
          <a:prstGeom prst="rect">
            <a:avLst/>
          </a:prstGeom>
        </p:spPr>
        <p:txBody>
          <a:bodyPr>
            <a:noAutofit/>
          </a:bodyPr>
          <a:lstStyle>
            <a:lvl1pPr marL="0" indent="0">
              <a:lnSpc>
                <a:spcPct val="100000"/>
              </a:lnSpc>
              <a:buNone/>
              <a:defRPr sz="1800" b="0" i="0">
                <a:latin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456925" y="1420744"/>
            <a:ext cx="3826840" cy="2853083"/>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4790386" y="1420744"/>
            <a:ext cx="3826840" cy="2853083"/>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97927870"/>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1"/>
                </a:solidFill>
                <a:latin typeface="Arial" panose="020B0604020202020204" pitchFamily="34" charset="0"/>
              </a:defRPr>
            </a:lvl1pPr>
          </a:lstStyle>
          <a:p>
            <a:pPr lvl="0"/>
            <a:r>
              <a:rPr lang="en-US" dirty="0"/>
              <a:t>Author’s Name</a:t>
            </a:r>
          </a:p>
        </p:txBody>
      </p:sp>
      <p:sp>
        <p:nvSpPr>
          <p:cNvPr id="13" name="Rectangle 12"/>
          <p:cNvSpPr/>
          <p:nvPr userDrawn="1"/>
        </p:nvSpPr>
        <p:spPr bwMode="auto">
          <a:xfrm>
            <a:off x="496956" y="2"/>
            <a:ext cx="1073426" cy="1182754"/>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1"/>
                </a:solidFill>
                <a:latin typeface="Arial" panose="020B0604020202020204" pitchFamily="34" charset="0"/>
              </a:defRPr>
            </a:lvl1pPr>
          </a:lstStyle>
          <a:p>
            <a:pPr lvl="0"/>
            <a:r>
              <a:rPr lang="en-US" dirty="0"/>
              <a:t>Position Title</a:t>
            </a:r>
          </a:p>
        </p:txBody>
      </p:sp>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userDrawn="1"/>
        </p:nvSpPr>
        <p:spPr bwMode="auto">
          <a:xfrm>
            <a:off x="496956" y="2"/>
            <a:ext cx="1073426" cy="118275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2"/>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2"/>
                </a:solidFill>
                <a:latin typeface="Arial" panose="020B0604020202020204" pitchFamily="34" charset="0"/>
              </a:defRPr>
            </a:lvl1pPr>
          </a:lstStyle>
          <a:p>
            <a:pPr lvl="0"/>
            <a:r>
              <a:rPr lang="en-US" dirty="0"/>
              <a:t>Position Title</a:t>
            </a:r>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Slide – Green">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9" name="Text Placeholder 8"/>
          <p:cNvSpPr>
            <a:spLocks noGrp="1"/>
          </p:cNvSpPr>
          <p:nvPr>
            <p:ph type="body" sz="quarter" idx="13" hasCustomPrompt="1"/>
          </p:nvPr>
        </p:nvSpPr>
        <p:spPr>
          <a:xfrm>
            <a:off x="437601" y="1431236"/>
            <a:ext cx="8229323" cy="2107096"/>
          </a:xfrm>
          <a:prstGeom prst="rect">
            <a:avLst/>
          </a:prstGeom>
        </p:spPr>
        <p:txBody>
          <a:bodyPr anchor="ctr" anchorCtr="0">
            <a:normAutofit/>
          </a:bodyPr>
          <a:lstStyle>
            <a:lvl1pPr marL="0" indent="0">
              <a:lnSpc>
                <a:spcPct val="100000"/>
              </a:lnSpc>
              <a:buNone/>
              <a:defRPr sz="2800" b="0" i="0" baseline="0">
                <a:latin typeface="Arial" panose="020B0604020202020204" pitchFamily="34" charset="0"/>
                <a:ea typeface="Helvetica Neue" panose="02000503000000020004" pitchFamily="2" charset="0"/>
                <a:cs typeface="Arial" panose="020B0604020202020204" pitchFamily="34" charset="0"/>
              </a:defRPr>
            </a:lvl1pPr>
            <a:lvl2pPr marL="230181" indent="0">
              <a:buNone/>
              <a:defRPr>
                <a:latin typeface="+mn-lt"/>
              </a:defRPr>
            </a:lvl2pPr>
            <a:lvl3pPr marL="515924" indent="0">
              <a:buNone/>
              <a:defRPr>
                <a:latin typeface="+mn-lt"/>
              </a:defRPr>
            </a:lvl3pPr>
            <a:lvl4pPr marL="800080" indent="0">
              <a:buNone/>
              <a:defRPr>
                <a:latin typeface="+mn-lt"/>
              </a:defRPr>
            </a:lvl4pPr>
            <a:lvl5pPr marL="1085823"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userDrawn="1"/>
        </p:nvSpPr>
        <p:spPr bwMode="auto">
          <a:xfrm>
            <a:off x="496956" y="2"/>
            <a:ext cx="1073426" cy="1182754"/>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1600" b="0" i="0" dirty="0" err="1">
              <a:solidFill>
                <a:srgbClr val="90BD31"/>
              </a:solidFill>
              <a:latin typeface="Arial" panose="020B0604020202020204" pitchFamily="34" charset="0"/>
            </a:endParaRPr>
          </a:p>
        </p:txBody>
      </p:sp>
      <p:sp>
        <p:nvSpPr>
          <p:cNvPr id="12" name="TextBox 11"/>
          <p:cNvSpPr txBox="1"/>
          <p:nvPr userDrawn="1"/>
        </p:nvSpPr>
        <p:spPr bwMode="auto">
          <a:xfrm>
            <a:off x="434629" y="0"/>
            <a:ext cx="1192695" cy="2123658"/>
          </a:xfrm>
          <a:prstGeom prst="rect">
            <a:avLst/>
          </a:prstGeom>
          <a:noFill/>
          <a:ln w="19050" algn="ctr">
            <a:noFill/>
            <a:miter lim="800000"/>
            <a:headEnd/>
            <a:tailEnd/>
          </a:ln>
        </p:spPr>
        <p:txBody>
          <a:bodyPr wrap="square" lIns="0" tIns="0" rIns="0" bIns="0" rtlCol="0" anchor="ctr">
            <a:spAutoFit/>
          </a:bodyPr>
          <a:lstStyle/>
          <a:p>
            <a:pPr algn="ctr"/>
            <a:r>
              <a:rPr lang="en-US" sz="138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447674" y="3696829"/>
            <a:ext cx="6513958" cy="430429"/>
          </a:xfrm>
          <a:prstGeom prst="rect">
            <a:avLst/>
          </a:prstGeom>
        </p:spPr>
        <p:txBody>
          <a:bodyPr>
            <a:normAutofit/>
          </a:bodyPr>
          <a:lstStyle>
            <a:lvl1pPr marL="0" indent="0">
              <a:lnSpc>
                <a:spcPct val="100000"/>
              </a:lnSpc>
              <a:buNone/>
              <a:defRPr sz="1800" b="0" i="0">
                <a:solidFill>
                  <a:schemeClr val="accent3"/>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447674" y="3980953"/>
            <a:ext cx="6513958" cy="440937"/>
          </a:xfrm>
          <a:prstGeom prst="rect">
            <a:avLst/>
          </a:prstGeom>
        </p:spPr>
        <p:txBody>
          <a:bodyPr>
            <a:normAutofit/>
          </a:bodyPr>
          <a:lstStyle>
            <a:lvl1pPr marL="0" indent="0">
              <a:lnSpc>
                <a:spcPts val="2000"/>
              </a:lnSpc>
              <a:buNone/>
              <a:defRPr sz="1800" b="0" i="0" baseline="0">
                <a:solidFill>
                  <a:schemeClr val="accent3"/>
                </a:solidFill>
                <a:latin typeface="Arial" panose="020B0604020202020204" pitchFamily="34" charset="0"/>
              </a:defRPr>
            </a:lvl1pPr>
          </a:lstStyle>
          <a:p>
            <a:pPr lvl="0"/>
            <a:r>
              <a:rPr lang="en-US" dirty="0"/>
              <a:t>Position Title</a:t>
            </a:r>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Header – Blu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D91175AD-5EC8-6C49-8218-F38BDE3E8622}"/>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sp>
        <p:nvSpPr>
          <p:cNvPr id="14" name="Rectangle 13"/>
          <p:cNvSpPr/>
          <p:nvPr userDrawn="1"/>
        </p:nvSpPr>
        <p:spPr bwMode="auto">
          <a:xfrm>
            <a:off x="2" y="1772719"/>
            <a:ext cx="7051729" cy="1411357"/>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sp>
        <p:nvSpPr>
          <p:cNvPr id="15" name="Title 15"/>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cxnSp>
        <p:nvCxnSpPr>
          <p:cNvPr id="7" name="Straight Connector 6">
            <a:extLst>
              <a:ext uri="{FF2B5EF4-FFF2-40B4-BE49-F238E27FC236}">
                <a16:creationId xmlns:a16="http://schemas.microsoft.com/office/drawing/2014/main" id="{62CCB472-92BE-5E48-80A6-FC260AA96B83}"/>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8" name="Freeform 77">
            <a:extLst>
              <a:ext uri="{FF2B5EF4-FFF2-40B4-BE49-F238E27FC236}">
                <a16:creationId xmlns:a16="http://schemas.microsoft.com/office/drawing/2014/main" id="{4ABB29B8-DCAF-7B40-9E52-219D904D83D6}"/>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Header – Teal">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52C1D42-AAA3-B04E-A034-F13587860331}"/>
              </a:ext>
            </a:extLst>
          </p:cNvPr>
          <p:cNvPicPr>
            <a:picLocks noChangeAspect="1"/>
          </p:cNvPicPr>
          <p:nvPr userDrawn="1"/>
        </p:nvPicPr>
        <p:blipFill rotWithShape="1">
          <a:blip cstate="screen">
            <a:alphaModFix/>
            <a:extLst>
              <a:ext uri="{28A0092B-C50C-407E-A947-70E740481C1C}">
                <a14:useLocalDpi xmlns:a14="http://schemas.microsoft.com/office/drawing/2010/main"/>
              </a:ext>
              <a:ext uri="{96DAC541-7B7A-43D3-8B79-37D633B846F1}">
                <asvg:svgBlip xmlns:asvg="http://schemas.microsoft.com/office/drawing/2016/SVG/main" r:embed="rId2"/>
              </a:ext>
            </a:extLst>
          </a:blip>
          <a:srcRect l="-11183" t="13403" r="10781" b="31145"/>
          <a:stretch/>
        </p:blipFill>
        <p:spPr>
          <a:xfrm>
            <a:off x="-317500" y="-245162"/>
            <a:ext cx="9461500" cy="5143502"/>
          </a:xfrm>
          <a:prstGeom prst="rect">
            <a:avLst/>
          </a:prstGeom>
        </p:spPr>
      </p:pic>
      <p:sp>
        <p:nvSpPr>
          <p:cNvPr id="6" name="Rectangle 5"/>
          <p:cNvSpPr/>
          <p:nvPr userDrawn="1"/>
        </p:nvSpPr>
        <p:spPr bwMode="auto">
          <a:xfrm>
            <a:off x="2" y="1772719"/>
            <a:ext cx="7051729" cy="1411357"/>
          </a:xfrm>
          <a:prstGeom prst="rect">
            <a:avLst/>
          </a:prstGeom>
          <a:solidFill>
            <a:srgbClr val="18A3AC"/>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cxnSp>
        <p:nvCxnSpPr>
          <p:cNvPr id="9" name="Straight Connector 8">
            <a:extLst>
              <a:ext uri="{FF2B5EF4-FFF2-40B4-BE49-F238E27FC236}">
                <a16:creationId xmlns:a16="http://schemas.microsoft.com/office/drawing/2014/main" id="{E01C639F-F884-C946-B140-A9518C6FB9A8}"/>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08B3EA4E-B6EE-2549-8EB7-C25BC2142E7C}"/>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2" name="Title 15">
            <a:extLst>
              <a:ext uri="{FF2B5EF4-FFF2-40B4-BE49-F238E27FC236}">
                <a16:creationId xmlns:a16="http://schemas.microsoft.com/office/drawing/2014/main" id="{013E3FCC-D96C-D344-BBA3-51BB23D2A0F4}"/>
              </a:ext>
            </a:extLst>
          </p:cNvPr>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 Gree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788447-026C-8740-AB11-4D9C4007C669}"/>
              </a:ext>
            </a:extLst>
          </p:cNvPr>
          <p:cNvPicPr>
            <a:picLocks noChangeAspect="1"/>
          </p:cNvPicPr>
          <p:nvPr userDrawn="1"/>
        </p:nvPicPr>
        <p:blipFill rotWithShape="1">
          <a:blip r:embed="rId2" cstate="screen">
            <a:alphaModFix amt="40000"/>
            <a:extLst>
              <a:ext uri="{28A0092B-C50C-407E-A947-70E740481C1C}">
                <a14:useLocalDpi xmlns:a14="http://schemas.microsoft.com/office/drawing/2010/main"/>
              </a:ext>
            </a:extLst>
          </a:blip>
          <a:srcRect l="14414"/>
          <a:stretch/>
        </p:blipFill>
        <p:spPr>
          <a:xfrm>
            <a:off x="0" y="401119"/>
            <a:ext cx="9144000" cy="1774069"/>
          </a:xfrm>
          <a:prstGeom prst="rect">
            <a:avLst/>
          </a:prstGeom>
        </p:spPr>
      </p:pic>
      <p:sp>
        <p:nvSpPr>
          <p:cNvPr id="6" name="Rectangle 5"/>
          <p:cNvSpPr/>
          <p:nvPr userDrawn="1"/>
        </p:nvSpPr>
        <p:spPr bwMode="auto">
          <a:xfrm>
            <a:off x="2" y="1772719"/>
            <a:ext cx="7051729" cy="1411357"/>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dirty="0"/>
          </a:p>
        </p:txBody>
      </p:sp>
      <p:cxnSp>
        <p:nvCxnSpPr>
          <p:cNvPr id="9" name="Straight Connector 8">
            <a:extLst>
              <a:ext uri="{FF2B5EF4-FFF2-40B4-BE49-F238E27FC236}">
                <a16:creationId xmlns:a16="http://schemas.microsoft.com/office/drawing/2014/main" id="{7AB58095-3588-1A4E-B981-253E9F1A1AEC}"/>
              </a:ext>
            </a:extLst>
          </p:cNvPr>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81C2D974-A2EE-E349-AD5D-00B5C62A8CB7}"/>
              </a:ext>
            </a:extLst>
          </p:cNvPr>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1" name="Title 15">
            <a:extLst>
              <a:ext uri="{FF2B5EF4-FFF2-40B4-BE49-F238E27FC236}">
                <a16:creationId xmlns:a16="http://schemas.microsoft.com/office/drawing/2014/main" id="{18DED201-C78F-0E4A-B63C-520004DA73BE}"/>
              </a:ext>
            </a:extLst>
          </p:cNvPr>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433390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losing with logo_1">
    <p:bg>
      <p:bgRef idx="1001">
        <a:schemeClr val="bg2"/>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p:blipFill>
        <p:spPr bwMode="invGray">
          <a:xfrm>
            <a:off x="3865186" y="2036429"/>
            <a:ext cx="1571041" cy="1018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42826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Closing with logo_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79400" y="1884801"/>
            <a:ext cx="1373900" cy="1373900"/>
          </a:xfrm>
          <a:prstGeom prst="rect">
            <a:avLst/>
          </a:prstGeom>
        </p:spPr>
      </p:pic>
    </p:spTree>
    <p:extLst>
      <p:ext uri="{BB962C8B-B14F-4D97-AF65-F5344CB8AC3E}">
        <p14:creationId xmlns:p14="http://schemas.microsoft.com/office/powerpoint/2010/main" val="136763842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losing – Research">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66F05B-DFA4-6F48-B676-F50E7C038154}"/>
              </a:ext>
            </a:extLst>
          </p:cNvPr>
          <p:cNvSpPr/>
          <p:nvPr userDrawn="1"/>
        </p:nvSpPr>
        <p:spPr bwMode="auto">
          <a:xfrm>
            <a:off x="6149581" y="1645920"/>
            <a:ext cx="2994421" cy="3497580"/>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7" name="Rectangle 6">
            <a:extLst>
              <a:ext uri="{FF2B5EF4-FFF2-40B4-BE49-F238E27FC236}">
                <a16:creationId xmlns:a16="http://schemas.microsoft.com/office/drawing/2014/main" id="{94494DF8-84C9-4641-9876-C01FAA2F1677}"/>
              </a:ext>
            </a:extLst>
          </p:cNvPr>
          <p:cNvSpPr/>
          <p:nvPr userDrawn="1"/>
        </p:nvSpPr>
        <p:spPr bwMode="auto">
          <a:xfrm>
            <a:off x="2" y="0"/>
            <a:ext cx="6149579"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3" name="Picture 12">
            <a:extLst>
              <a:ext uri="{FF2B5EF4-FFF2-40B4-BE49-F238E27FC236}">
                <a16:creationId xmlns:a16="http://schemas.microsoft.com/office/drawing/2014/main" id="{EB73C1E6-BC68-894B-BFA0-E9C181FA15C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149580" y="1"/>
            <a:ext cx="2994420" cy="2015504"/>
          </a:xfrm>
          <a:prstGeom prst="rect">
            <a:avLst/>
          </a:prstGeom>
        </p:spPr>
      </p:pic>
      <p:pic>
        <p:nvPicPr>
          <p:cNvPr id="14" name="Picture 13">
            <a:extLst>
              <a:ext uri="{FF2B5EF4-FFF2-40B4-BE49-F238E27FC236}">
                <a16:creationId xmlns:a16="http://schemas.microsoft.com/office/drawing/2014/main" id="{4AD4098B-43D5-4B4E-A524-530B7E386F9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388949"/>
            <a:ext cx="6149580" cy="3754552"/>
          </a:xfrm>
          <a:prstGeom prst="rect">
            <a:avLst/>
          </a:prstGeom>
        </p:spPr>
      </p:pic>
      <p:pic>
        <p:nvPicPr>
          <p:cNvPr id="2" name="Picture 1">
            <a:extLst>
              <a:ext uri="{FF2B5EF4-FFF2-40B4-BE49-F238E27FC236}">
                <a16:creationId xmlns:a16="http://schemas.microsoft.com/office/drawing/2014/main" id="{9A1E061F-A72A-5142-8A32-D6BACF33C6D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 y="144895"/>
            <a:ext cx="6149579" cy="1021134"/>
          </a:xfrm>
          <a:prstGeom prst="rect">
            <a:avLst/>
          </a:prstGeom>
        </p:spPr>
      </p:pic>
      <p:pic>
        <p:nvPicPr>
          <p:cNvPr id="8" name="Picture 7">
            <a:extLst>
              <a:ext uri="{FF2B5EF4-FFF2-40B4-BE49-F238E27FC236}">
                <a16:creationId xmlns:a16="http://schemas.microsoft.com/office/drawing/2014/main" id="{B6B44D79-B0F4-1A43-9BD5-09FD9E662AC0}"/>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6149578" y="2015505"/>
            <a:ext cx="1615438" cy="1615438"/>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losing – Mt. Zion">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66F05B-DFA4-6F48-B676-F50E7C038154}"/>
              </a:ext>
            </a:extLst>
          </p:cNvPr>
          <p:cNvSpPr/>
          <p:nvPr userDrawn="1"/>
        </p:nvSpPr>
        <p:spPr bwMode="auto">
          <a:xfrm>
            <a:off x="6149581" y="1645920"/>
            <a:ext cx="2994421" cy="3497580"/>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7" name="Rectangle 6">
            <a:extLst>
              <a:ext uri="{FF2B5EF4-FFF2-40B4-BE49-F238E27FC236}">
                <a16:creationId xmlns:a16="http://schemas.microsoft.com/office/drawing/2014/main" id="{94494DF8-84C9-4641-9876-C01FAA2F1677}"/>
              </a:ext>
            </a:extLst>
          </p:cNvPr>
          <p:cNvSpPr/>
          <p:nvPr userDrawn="1"/>
        </p:nvSpPr>
        <p:spPr bwMode="auto">
          <a:xfrm>
            <a:off x="2" y="0"/>
            <a:ext cx="6149579"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3" name="Picture 12">
            <a:extLst>
              <a:ext uri="{FF2B5EF4-FFF2-40B4-BE49-F238E27FC236}">
                <a16:creationId xmlns:a16="http://schemas.microsoft.com/office/drawing/2014/main" id="{EB73C1E6-BC68-894B-BFA0-E9C181FA15C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149580" y="9411"/>
            <a:ext cx="2994420" cy="1996683"/>
          </a:xfrm>
          <a:prstGeom prst="rect">
            <a:avLst/>
          </a:prstGeom>
        </p:spPr>
      </p:pic>
      <p:pic>
        <p:nvPicPr>
          <p:cNvPr id="14" name="Picture 13">
            <a:extLst>
              <a:ext uri="{FF2B5EF4-FFF2-40B4-BE49-F238E27FC236}">
                <a16:creationId xmlns:a16="http://schemas.microsoft.com/office/drawing/2014/main" id="{4AD4098B-43D5-4B4E-A524-530B7E386F9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388949"/>
            <a:ext cx="6149577" cy="3754552"/>
          </a:xfrm>
          <a:prstGeom prst="rect">
            <a:avLst/>
          </a:prstGeom>
        </p:spPr>
      </p:pic>
      <p:pic>
        <p:nvPicPr>
          <p:cNvPr id="10" name="Picture 9">
            <a:extLst>
              <a:ext uri="{FF2B5EF4-FFF2-40B4-BE49-F238E27FC236}">
                <a16:creationId xmlns:a16="http://schemas.microsoft.com/office/drawing/2014/main" id="{EA44FD6C-4722-4647-8824-7BD62CB4991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6149577" y="1994818"/>
            <a:ext cx="1615440" cy="1615440"/>
          </a:xfrm>
          <a:prstGeom prst="rect">
            <a:avLst/>
          </a:prstGeom>
          <a:solidFill>
            <a:schemeClr val="accent1"/>
          </a:solidFill>
        </p:spPr>
      </p:pic>
      <p:pic>
        <p:nvPicPr>
          <p:cNvPr id="15" name="Graphic 14">
            <a:extLst>
              <a:ext uri="{FF2B5EF4-FFF2-40B4-BE49-F238E27FC236}">
                <a16:creationId xmlns:a16="http://schemas.microsoft.com/office/drawing/2014/main" id="{A81F62F8-022A-8040-9203-343FE92FDB0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35407" b="39964"/>
          <a:stretch/>
        </p:blipFill>
        <p:spPr>
          <a:xfrm>
            <a:off x="-993817" y="0"/>
            <a:ext cx="7143396" cy="1388949"/>
          </a:xfrm>
          <a:prstGeom prst="rect">
            <a:avLst/>
          </a:prstGeom>
        </p:spPr>
      </p:pic>
    </p:spTree>
    <p:extLst>
      <p:ext uri="{BB962C8B-B14F-4D97-AF65-F5344CB8AC3E}">
        <p14:creationId xmlns:p14="http://schemas.microsoft.com/office/powerpoint/2010/main" val="28116350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losing – Patient Care">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4FBE2C-79B3-0741-8C4F-E79579E3B5C3}"/>
              </a:ext>
            </a:extLst>
          </p:cNvPr>
          <p:cNvSpPr/>
          <p:nvPr userDrawn="1"/>
        </p:nvSpPr>
        <p:spPr bwMode="auto">
          <a:xfrm>
            <a:off x="0" y="1645921"/>
            <a:ext cx="2994421" cy="3497580"/>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6" name="Rectangle 5">
            <a:extLst>
              <a:ext uri="{FF2B5EF4-FFF2-40B4-BE49-F238E27FC236}">
                <a16:creationId xmlns:a16="http://schemas.microsoft.com/office/drawing/2014/main" id="{7CBA96EE-AE7F-9D47-80E0-948746F73CBD}"/>
              </a:ext>
            </a:extLst>
          </p:cNvPr>
          <p:cNvSpPr/>
          <p:nvPr userDrawn="1"/>
        </p:nvSpPr>
        <p:spPr bwMode="auto">
          <a:xfrm>
            <a:off x="2756757" y="0"/>
            <a:ext cx="6387245"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1" name="Picture 10">
            <a:extLst>
              <a:ext uri="{FF2B5EF4-FFF2-40B4-BE49-F238E27FC236}">
                <a16:creationId xmlns:a16="http://schemas.microsoft.com/office/drawing/2014/main" id="{4508378B-0C89-E14E-8069-2034FF2D0F2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
          <a:stretch/>
        </p:blipFill>
        <p:spPr>
          <a:xfrm>
            <a:off x="2" y="1"/>
            <a:ext cx="2760609" cy="2015504"/>
          </a:xfrm>
          <a:prstGeom prst="rect">
            <a:avLst/>
          </a:prstGeom>
        </p:spPr>
      </p:pic>
      <p:pic>
        <p:nvPicPr>
          <p:cNvPr id="13" name="Picture 12">
            <a:extLst>
              <a:ext uri="{FF2B5EF4-FFF2-40B4-BE49-F238E27FC236}">
                <a16:creationId xmlns:a16="http://schemas.microsoft.com/office/drawing/2014/main" id="{A98C622B-BC71-0F4D-ACEB-367F089BDF4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56754" y="1257301"/>
            <a:ext cx="6387246" cy="3886199"/>
          </a:xfrm>
          <a:prstGeom prst="rect">
            <a:avLst/>
          </a:prstGeom>
        </p:spPr>
      </p:pic>
      <p:pic>
        <p:nvPicPr>
          <p:cNvPr id="14" name="Picture 13">
            <a:extLst>
              <a:ext uri="{FF2B5EF4-FFF2-40B4-BE49-F238E27FC236}">
                <a16:creationId xmlns:a16="http://schemas.microsoft.com/office/drawing/2014/main" id="{FC4AB437-D405-6C43-9FA5-FD5F04163F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1140700" y="2015504"/>
            <a:ext cx="1615440" cy="1615440"/>
          </a:xfrm>
          <a:prstGeom prst="rect">
            <a:avLst/>
          </a:prstGeom>
          <a:solidFill>
            <a:schemeClr val="accent1"/>
          </a:solidFill>
        </p:spPr>
      </p:pic>
      <p:pic>
        <p:nvPicPr>
          <p:cNvPr id="2" name="Picture 1">
            <a:extLst>
              <a:ext uri="{FF2B5EF4-FFF2-40B4-BE49-F238E27FC236}">
                <a16:creationId xmlns:a16="http://schemas.microsoft.com/office/drawing/2014/main" id="{2A46CC52-4A32-374A-BF1E-0FA06087FD5A}"/>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2454" t="5935" r="2464" b="11182"/>
          <a:stretch/>
        </p:blipFill>
        <p:spPr>
          <a:xfrm>
            <a:off x="2756141" y="30482"/>
            <a:ext cx="6387861" cy="1226817"/>
          </a:xfrm>
          <a:prstGeom prst="rect">
            <a:avLst/>
          </a:prstGeom>
        </p:spPr>
      </p:pic>
    </p:spTree>
    <p:extLst>
      <p:ext uri="{BB962C8B-B14F-4D97-AF65-F5344CB8AC3E}">
        <p14:creationId xmlns:p14="http://schemas.microsoft.com/office/powerpoint/2010/main" val="297928717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Closing – Education">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A4FBBD5-5854-194C-9766-1823F3F5452C}"/>
              </a:ext>
            </a:extLst>
          </p:cNvPr>
          <p:cNvSpPr/>
          <p:nvPr userDrawn="1"/>
        </p:nvSpPr>
        <p:spPr bwMode="auto">
          <a:xfrm>
            <a:off x="0" y="1645921"/>
            <a:ext cx="2994421" cy="3497580"/>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
        <p:nvSpPr>
          <p:cNvPr id="6" name="Rectangle 5">
            <a:extLst>
              <a:ext uri="{FF2B5EF4-FFF2-40B4-BE49-F238E27FC236}">
                <a16:creationId xmlns:a16="http://schemas.microsoft.com/office/drawing/2014/main" id="{FEB282E7-F7BC-5A48-9E5F-4ECBFDF952A0}"/>
              </a:ext>
            </a:extLst>
          </p:cNvPr>
          <p:cNvSpPr/>
          <p:nvPr userDrawn="1"/>
        </p:nvSpPr>
        <p:spPr bwMode="auto">
          <a:xfrm>
            <a:off x="2756757" y="0"/>
            <a:ext cx="6387245" cy="164592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pic>
        <p:nvPicPr>
          <p:cNvPr id="10" name="Picture 9">
            <a:extLst>
              <a:ext uri="{FF2B5EF4-FFF2-40B4-BE49-F238E27FC236}">
                <a16:creationId xmlns:a16="http://schemas.microsoft.com/office/drawing/2014/main" id="{21C94893-0820-A743-86A6-BDEB411A723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2756753" cy="2015504"/>
          </a:xfrm>
          <a:prstGeom prst="rect">
            <a:avLst/>
          </a:prstGeom>
        </p:spPr>
      </p:pic>
      <p:pic>
        <p:nvPicPr>
          <p:cNvPr id="11" name="Picture 10">
            <a:extLst>
              <a:ext uri="{FF2B5EF4-FFF2-40B4-BE49-F238E27FC236}">
                <a16:creationId xmlns:a16="http://schemas.microsoft.com/office/drawing/2014/main" id="{1412EA7E-47D5-4248-9461-6049F4FA2F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2756754" y="1257301"/>
            <a:ext cx="6387246" cy="3886199"/>
          </a:xfrm>
          <a:prstGeom prst="rect">
            <a:avLst/>
          </a:prstGeom>
        </p:spPr>
      </p:pic>
      <p:pic>
        <p:nvPicPr>
          <p:cNvPr id="9" name="Graphic 8">
            <a:extLst>
              <a:ext uri="{FF2B5EF4-FFF2-40B4-BE49-F238E27FC236}">
                <a16:creationId xmlns:a16="http://schemas.microsoft.com/office/drawing/2014/main" id="{21F1DBF9-E6D2-EC49-80D7-6EE1B776A50D}"/>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t="37974" b="37397"/>
          <a:stretch/>
        </p:blipFill>
        <p:spPr>
          <a:xfrm>
            <a:off x="2756140" y="15255"/>
            <a:ext cx="6387860" cy="1242044"/>
          </a:xfrm>
          <a:prstGeom prst="rect">
            <a:avLst/>
          </a:prstGeom>
        </p:spPr>
      </p:pic>
      <p:pic>
        <p:nvPicPr>
          <p:cNvPr id="13" name="Picture 12">
            <a:extLst>
              <a:ext uri="{FF2B5EF4-FFF2-40B4-BE49-F238E27FC236}">
                <a16:creationId xmlns:a16="http://schemas.microsoft.com/office/drawing/2014/main" id="{5656DF26-9AA1-AC46-9695-22DFD8CE98E3}"/>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140700" y="2015504"/>
            <a:ext cx="1615440" cy="1615440"/>
          </a:xfrm>
          <a:prstGeom prst="rect">
            <a:avLst/>
          </a:prstGeom>
          <a:solidFill>
            <a:schemeClr val="accent1"/>
          </a:solidFill>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1_Section Header – Blu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D91175AD-5EC8-6C49-8218-F38BDE3E8622}"/>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68552" t="35459" r="2030" b="-21848"/>
          <a:stretch/>
        </p:blipFill>
        <p:spPr>
          <a:xfrm rot="5400000">
            <a:off x="2622550" y="-1377949"/>
            <a:ext cx="5143500" cy="7899400"/>
          </a:xfrm>
          <a:prstGeom prst="rect">
            <a:avLst/>
          </a:prstGeom>
        </p:spPr>
      </p:pic>
      <p:sp>
        <p:nvSpPr>
          <p:cNvPr id="14" name="Rectangle 13"/>
          <p:cNvSpPr/>
          <p:nvPr/>
        </p:nvSpPr>
        <p:spPr bwMode="auto">
          <a:xfrm>
            <a:off x="3" y="1772721"/>
            <a:ext cx="7051729" cy="1411357"/>
          </a:xfrm>
          <a:prstGeom prst="rect">
            <a:avLst/>
          </a:prstGeom>
          <a:solidFill>
            <a:schemeClr val="accent5">
              <a:lumMod val="75000"/>
            </a:schemeClr>
          </a:solidFill>
          <a:ln w="19050" algn="ctr">
            <a:noFill/>
            <a:miter lim="800000"/>
            <a:headEnd/>
            <a:tailEnd/>
          </a:ln>
        </p:spPr>
        <p:txBody>
          <a:bodyPr wrap="none" rtlCol="0" anchor="ctr"/>
          <a:lstStyle/>
          <a:p>
            <a:pPr algn="ctr">
              <a:lnSpc>
                <a:spcPct val="90000"/>
              </a:lnSpc>
            </a:pPr>
            <a:endParaRPr lang="en-US" sz="1600" b="0" i="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r>
              <a:rPr lang="en-US"/>
              <a:t>Core Financial Plan - Fall 2021</a:t>
            </a:r>
          </a:p>
        </p:txBody>
      </p:sp>
      <p:sp>
        <p:nvSpPr>
          <p:cNvPr id="5" name="Slide Number Placeholder 4"/>
          <p:cNvSpPr>
            <a:spLocks noGrp="1"/>
          </p:cNvSpPr>
          <p:nvPr>
            <p:ph type="sldNum" sz="quarter" idx="12"/>
          </p:nvPr>
        </p:nvSpPr>
        <p:spPr/>
        <p:txBody>
          <a:bodyPr/>
          <a:lstStyle>
            <a:lvl1pPr>
              <a:defRPr b="0" i="0"/>
            </a:lvl1pPr>
          </a:lstStyle>
          <a:p>
            <a:fld id="{7BCC8D0D-EAEC-449D-9161-023DFF90F2E2}" type="slidenum">
              <a:rPr lang="en-US" smtClean="0"/>
              <a:pPr/>
              <a:t>‹#›</a:t>
            </a:fld>
            <a:endParaRPr lang="en-US"/>
          </a:p>
        </p:txBody>
      </p:sp>
      <p:sp>
        <p:nvSpPr>
          <p:cNvPr id="15" name="Title 15"/>
          <p:cNvSpPr>
            <a:spLocks noGrp="1"/>
          </p:cNvSpPr>
          <p:nvPr>
            <p:ph type="title" hasCustomPrompt="1"/>
          </p:nvPr>
        </p:nvSpPr>
        <p:spPr>
          <a:xfrm>
            <a:off x="453585" y="1919440"/>
            <a:ext cx="6435412" cy="1107896"/>
          </a:xfrm>
          <a:prstGeom prst="rect">
            <a:avLst/>
          </a:prstGeom>
        </p:spPr>
        <p:txBody>
          <a:bodyPr anchor="ctr">
            <a:noAutofit/>
          </a:bodyPr>
          <a:lstStyle>
            <a:lvl1pPr>
              <a:defRPr sz="36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a:t>Section Header Here</a:t>
            </a:r>
          </a:p>
        </p:txBody>
      </p:sp>
    </p:spTree>
    <p:extLst>
      <p:ext uri="{BB962C8B-B14F-4D97-AF65-F5344CB8AC3E}">
        <p14:creationId xmlns:p14="http://schemas.microsoft.com/office/powerpoint/2010/main" val="3806806185"/>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Cover – White">
    <p:spTree>
      <p:nvGrpSpPr>
        <p:cNvPr id="1" name=""/>
        <p:cNvGrpSpPr/>
        <p:nvPr/>
      </p:nvGrpSpPr>
      <p:grpSpPr>
        <a:xfrm>
          <a:off x="0" y="0"/>
          <a:ext cx="0" cy="0"/>
          <a:chOff x="0" y="0"/>
          <a:chExt cx="0" cy="0"/>
        </a:xfrm>
      </p:grpSpPr>
      <p:sp>
        <p:nvSpPr>
          <p:cNvPr id="2" name="Rectangle 1"/>
          <p:cNvSpPr/>
          <p:nvPr userDrawn="1"/>
        </p:nvSpPr>
        <p:spPr bwMode="auto">
          <a:xfrm>
            <a:off x="159026" y="4323522"/>
            <a:ext cx="8984974" cy="81997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1600" b="0" i="0" dirty="0" err="1">
              <a:solidFill>
                <a:schemeClr val="bg1"/>
              </a:solidFill>
              <a:latin typeface="Arial" panose="020B0604020202020204" pitchFamily="34" charset="0"/>
            </a:endParaRPr>
          </a:p>
        </p:txBody>
      </p:sp>
      <p:sp>
        <p:nvSpPr>
          <p:cNvPr id="22" name="Title 15"/>
          <p:cNvSpPr>
            <a:spLocks noGrp="1"/>
          </p:cNvSpPr>
          <p:nvPr>
            <p:ph type="title" hasCustomPrompt="1"/>
          </p:nvPr>
        </p:nvSpPr>
        <p:spPr>
          <a:xfrm>
            <a:off x="299201" y="1878497"/>
            <a:ext cx="6141359" cy="1311963"/>
          </a:xfrm>
        </p:spPr>
        <p:txBody>
          <a:bodyPr anchor="b">
            <a:noAutofit/>
          </a:bodyPr>
          <a:lstStyle>
            <a:lvl1pPr>
              <a:defRPr sz="3600" b="0" i="0" baseline="0">
                <a:solidFill>
                  <a:schemeClr val="tx1"/>
                </a:solidFill>
                <a:latin typeface="+mj-lt"/>
                <a:ea typeface="Helvetica Neue" panose="02000503000000020004" pitchFamily="2" charset="0"/>
                <a:cs typeface="Arial" panose="020B0604020202020204" pitchFamily="34" charset="0"/>
              </a:defRPr>
            </a:lvl1pPr>
          </a:lstStyle>
          <a:p>
            <a:r>
              <a:rPr lang="en-US" dirty="0"/>
              <a:t>Title Here</a:t>
            </a:r>
          </a:p>
        </p:txBody>
      </p:sp>
      <p:sp>
        <p:nvSpPr>
          <p:cNvPr id="23" name="Date Placeholder 4"/>
          <p:cNvSpPr>
            <a:spLocks noGrp="1"/>
          </p:cNvSpPr>
          <p:nvPr>
            <p:ph type="dt" sz="half" idx="2"/>
          </p:nvPr>
        </p:nvSpPr>
        <p:spPr>
          <a:xfrm>
            <a:off x="319200" y="4616419"/>
            <a:ext cx="1925338" cy="178955"/>
          </a:xfrm>
          <a:prstGeom prst="rect">
            <a:avLst/>
          </a:prstGeom>
        </p:spPr>
        <p:txBody>
          <a:bodyPr vert="horz" wrap="square" lIns="91440" tIns="0" rIns="91440" bIns="0" rtlCol="0" anchor="b" anchorCtr="0">
            <a:noAutofit/>
          </a:bodyPr>
          <a:lstStyle>
            <a:lvl1pPr algn="l">
              <a:defRPr sz="12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D470D759-0E0E-8249-AFAC-A75A00A3758F}" type="datetime1">
              <a:rPr lang="en-US" smtClean="0"/>
              <a:t>3/17/26</a:t>
            </a:fld>
            <a:endParaRPr lang="en-US" dirty="0"/>
          </a:p>
        </p:txBody>
      </p:sp>
      <p:sp>
        <p:nvSpPr>
          <p:cNvPr id="24" name="Text Placeholder 2"/>
          <p:cNvSpPr>
            <a:spLocks noGrp="1"/>
          </p:cNvSpPr>
          <p:nvPr>
            <p:ph type="body" sz="quarter" idx="10" hasCustomPrompt="1"/>
          </p:nvPr>
        </p:nvSpPr>
        <p:spPr>
          <a:xfrm>
            <a:off x="317595" y="4102257"/>
            <a:ext cx="4191461" cy="42671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1600"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1800"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dirty="0"/>
              <a:t>Presenter’s Name</a:t>
            </a:r>
          </a:p>
        </p:txBody>
      </p:sp>
      <p:sp>
        <p:nvSpPr>
          <p:cNvPr id="25" name="Text Placeholder 3"/>
          <p:cNvSpPr>
            <a:spLocks noGrp="1"/>
          </p:cNvSpPr>
          <p:nvPr>
            <p:ph type="body" sz="quarter" idx="15" hasCustomPrompt="1"/>
          </p:nvPr>
        </p:nvSpPr>
        <p:spPr>
          <a:xfrm>
            <a:off x="302816" y="3185161"/>
            <a:ext cx="6147682" cy="508220"/>
          </a:xfrm>
          <a:prstGeom prst="rect">
            <a:avLst/>
          </a:prstGeom>
        </p:spPr>
        <p:txBody>
          <a:bodyPr>
            <a:noAutofit/>
          </a:bodyPr>
          <a:lstStyle>
            <a:lvl1pPr marL="0" indent="0" algn="l">
              <a:lnSpc>
                <a:spcPct val="100000"/>
              </a:lnSpc>
              <a:buNone/>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230181" indent="0">
              <a:lnSpc>
                <a:spcPct val="100000"/>
              </a:lnSpc>
              <a:buNone/>
              <a:defRPr i="1">
                <a:latin typeface="+mn-lt"/>
              </a:defRPr>
            </a:lvl2pPr>
            <a:lvl3pPr marL="515924" indent="0">
              <a:lnSpc>
                <a:spcPct val="100000"/>
              </a:lnSpc>
              <a:buNone/>
              <a:defRPr i="1">
                <a:latin typeface="+mn-lt"/>
              </a:defRPr>
            </a:lvl3pPr>
            <a:lvl4pPr marL="800080" indent="0">
              <a:lnSpc>
                <a:spcPct val="100000"/>
              </a:lnSpc>
              <a:buNone/>
              <a:defRPr i="1">
                <a:latin typeface="+mn-lt"/>
              </a:defRPr>
            </a:lvl4pPr>
            <a:lvl5pPr marL="1085823" indent="0">
              <a:lnSpc>
                <a:spcPct val="100000"/>
              </a:lnSpc>
              <a:buNone/>
              <a:defRPr i="1">
                <a:latin typeface="+mn-lt"/>
              </a:defRPr>
            </a:lvl5pPr>
          </a:lstStyle>
          <a:p>
            <a:pPr lvl="0"/>
            <a:r>
              <a:rPr lang="en-US" dirty="0"/>
              <a:t>Optional Subhead here</a:t>
            </a:r>
          </a:p>
        </p:txBody>
      </p:sp>
      <p:pic>
        <p:nvPicPr>
          <p:cNvPr id="8" name="Picture 7">
            <a:extLst>
              <a:ext uri="{FF2B5EF4-FFF2-40B4-BE49-F238E27FC236}">
                <a16:creationId xmlns:a16="http://schemas.microsoft.com/office/drawing/2014/main" id="{E2DCD8C9-F662-A842-9ACD-852F2D1E7878}"/>
              </a:ext>
            </a:extLst>
          </p:cNvPr>
          <p:cNvPicPr>
            <a:picLocks noChangeAspect="1"/>
          </p:cNvPicPr>
          <p:nvPr userDrawn="1"/>
        </p:nvPicPr>
        <p:blipFill>
          <a:blip r:embed="rId2"/>
          <a:srcRect/>
          <a:stretch/>
        </p:blipFill>
        <p:spPr>
          <a:xfrm>
            <a:off x="599642" y="477077"/>
            <a:ext cx="1731121" cy="535440"/>
          </a:xfrm>
          <a:prstGeom prst="rect">
            <a:avLst/>
          </a:prstGeom>
        </p:spPr>
      </p:pic>
    </p:spTree>
    <p:extLst>
      <p:ext uri="{BB962C8B-B14F-4D97-AF65-F5344CB8AC3E}">
        <p14:creationId xmlns:p14="http://schemas.microsoft.com/office/powerpoint/2010/main" val="2360012578"/>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762DC-341E-A0B4-54F2-7361CA1571DC}"/>
              </a:ext>
            </a:extLst>
          </p:cNvPr>
          <p:cNvSpPr>
            <a:spLocks noGrp="1"/>
          </p:cNvSpPr>
          <p:nvPr>
            <p:ph type="title"/>
          </p:nvPr>
        </p:nvSpPr>
        <p:spPr/>
        <p:txBody>
          <a:bodyPr/>
          <a:lstStyle>
            <a:lvl1pPr>
              <a:defRPr b="1"/>
            </a:lvl1pPr>
          </a:lstStyle>
          <a:p>
            <a:r>
              <a:rPr lang="en-US" dirty="0"/>
              <a:t>Click to edit Master title style</a:t>
            </a:r>
          </a:p>
        </p:txBody>
      </p:sp>
      <p:sp>
        <p:nvSpPr>
          <p:cNvPr id="3" name="Content Placeholder 2">
            <a:extLst>
              <a:ext uri="{FF2B5EF4-FFF2-40B4-BE49-F238E27FC236}">
                <a16:creationId xmlns:a16="http://schemas.microsoft.com/office/drawing/2014/main" id="{22584664-F581-EC93-D446-652D282EE3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995E47-C503-8AA8-E51F-7BE998127FBA}"/>
              </a:ext>
            </a:extLst>
          </p:cNvPr>
          <p:cNvSpPr>
            <a:spLocks noGrp="1"/>
          </p:cNvSpPr>
          <p:nvPr>
            <p:ph type="dt" sz="half" idx="10"/>
          </p:nvPr>
        </p:nvSpPr>
        <p:spPr/>
        <p:txBody>
          <a:bodyPr/>
          <a:lstStyle/>
          <a:p>
            <a:fld id="{A410F772-56BB-4A2E-A80F-2DF89BBF0ADE}" type="datetimeFigureOut">
              <a:rPr lang="en-US" smtClean="0"/>
              <a:t>3/17/26</a:t>
            </a:fld>
            <a:endParaRPr lang="en-US"/>
          </a:p>
        </p:txBody>
      </p:sp>
      <p:sp>
        <p:nvSpPr>
          <p:cNvPr id="5" name="Footer Placeholder 4">
            <a:extLst>
              <a:ext uri="{FF2B5EF4-FFF2-40B4-BE49-F238E27FC236}">
                <a16:creationId xmlns:a16="http://schemas.microsoft.com/office/drawing/2014/main" id="{6B828E51-5303-547E-7530-B3EA55022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56FC5-BDA2-EAF7-42B5-A253B6340158}"/>
              </a:ext>
            </a:extLst>
          </p:cNvPr>
          <p:cNvSpPr>
            <a:spLocks noGrp="1"/>
          </p:cNvSpPr>
          <p:nvPr>
            <p:ph type="sldNum" sz="quarter" idx="12"/>
          </p:nvPr>
        </p:nvSpPr>
        <p:spPr/>
        <p:txBody>
          <a:bodyPr/>
          <a:lstStyle/>
          <a:p>
            <a:fld id="{33276F34-BE4F-44FE-9880-B7E88BF108BE}" type="slidenum">
              <a:rPr lang="en-US" smtClean="0"/>
              <a:t>‹#›</a:t>
            </a:fld>
            <a:endParaRPr lang="en-US"/>
          </a:p>
        </p:txBody>
      </p:sp>
    </p:spTree>
    <p:extLst>
      <p:ext uri="{BB962C8B-B14F-4D97-AF65-F5344CB8AC3E}">
        <p14:creationId xmlns:p14="http://schemas.microsoft.com/office/powerpoint/2010/main" val="41279107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2220-187E-F4D3-6F15-0FC052D23135}"/>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4F5DE2-023B-C18B-7054-B05DA5D25B9B}"/>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A7A7721-BACA-069D-1269-6FA6D2481EA4}"/>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5E36A7-FF0A-5D32-97DE-99F3D3ECF52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297C5EF-D39A-3D53-53BC-EE9409357BB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5679FB-31C9-622C-E1E6-7834ADC787E2}"/>
              </a:ext>
            </a:extLst>
          </p:cNvPr>
          <p:cNvSpPr>
            <a:spLocks noGrp="1"/>
          </p:cNvSpPr>
          <p:nvPr>
            <p:ph type="dt" sz="half" idx="10"/>
          </p:nvPr>
        </p:nvSpPr>
        <p:spPr/>
        <p:txBody>
          <a:bodyPr/>
          <a:lstStyle/>
          <a:p>
            <a:fld id="{2379DBAE-2C1B-F947-9B8A-C959F9B8AC36}" type="datetimeFigureOut">
              <a:rPr lang="en-US" smtClean="0"/>
              <a:t>3/17/26</a:t>
            </a:fld>
            <a:endParaRPr lang="en-US"/>
          </a:p>
        </p:txBody>
      </p:sp>
      <p:sp>
        <p:nvSpPr>
          <p:cNvPr id="8" name="Footer Placeholder 7">
            <a:extLst>
              <a:ext uri="{FF2B5EF4-FFF2-40B4-BE49-F238E27FC236}">
                <a16:creationId xmlns:a16="http://schemas.microsoft.com/office/drawing/2014/main" id="{D86494FE-CD31-BDFE-0456-E88883DEA4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5BCDE9-AFD0-40C4-7457-B8B5005C30EA}"/>
              </a:ext>
            </a:extLst>
          </p:cNvPr>
          <p:cNvSpPr>
            <a:spLocks noGrp="1"/>
          </p:cNvSpPr>
          <p:nvPr>
            <p:ph type="sldNum" sz="quarter" idx="12"/>
          </p:nvPr>
        </p:nvSpPr>
        <p:spPr/>
        <p:txBody>
          <a:bodyPr/>
          <a:lstStyle/>
          <a:p>
            <a:fld id="{A92F0EE4-6905-1541-8EC2-C14B7FBCD050}" type="slidenum">
              <a:rPr lang="en-US" smtClean="0"/>
              <a:t>‹#›</a:t>
            </a:fld>
            <a:endParaRPr lang="en-US"/>
          </a:p>
        </p:txBody>
      </p:sp>
    </p:spTree>
    <p:extLst>
      <p:ext uri="{BB962C8B-B14F-4D97-AF65-F5344CB8AC3E}">
        <p14:creationId xmlns:p14="http://schemas.microsoft.com/office/powerpoint/2010/main" val="801521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slideLayout" Target="../slideLayouts/slideLayout49.xml"/><Relationship Id="rId21" Type="http://schemas.openxmlformats.org/officeDocument/2006/relationships/slideLayout" Target="../slideLayouts/slideLayout44.xml"/><Relationship Id="rId34" Type="http://schemas.openxmlformats.org/officeDocument/2006/relationships/slideLayout" Target="../slideLayouts/slideLayout57.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33" Type="http://schemas.openxmlformats.org/officeDocument/2006/relationships/slideLayout" Target="../slideLayouts/slideLayout56.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slideLayout" Target="../slideLayouts/slideLayout52.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32" Type="http://schemas.openxmlformats.org/officeDocument/2006/relationships/slideLayout" Target="../slideLayouts/slideLayout55.xml"/><Relationship Id="rId37" Type="http://schemas.openxmlformats.org/officeDocument/2006/relationships/theme" Target="../theme/theme2.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36" Type="http://schemas.openxmlformats.org/officeDocument/2006/relationships/slideLayout" Target="../slideLayouts/slideLayout59.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31" Type="http://schemas.openxmlformats.org/officeDocument/2006/relationships/slideLayout" Target="../slideLayouts/slideLayout54.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slideLayout" Target="../slideLayouts/slideLayout53.xml"/><Relationship Id="rId35" Type="http://schemas.openxmlformats.org/officeDocument/2006/relationships/slideLayout" Target="../slideLayouts/slideLayout58.xml"/><Relationship Id="rId8" Type="http://schemas.openxmlformats.org/officeDocument/2006/relationships/slideLayout" Target="../slideLayouts/slideLayout31.xml"/><Relationship Id="rId3"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9685" y="1401417"/>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Placeholder 1"/>
          <p:cNvSpPr>
            <a:spLocks noGrp="1"/>
          </p:cNvSpPr>
          <p:nvPr>
            <p:ph type="title"/>
          </p:nvPr>
        </p:nvSpPr>
        <p:spPr>
          <a:xfrm>
            <a:off x="453585" y="318751"/>
            <a:ext cx="8173580" cy="458587"/>
          </a:xfrm>
          <a:prstGeom prst="rect">
            <a:avLst/>
          </a:prstGeom>
        </p:spPr>
        <p:txBody>
          <a:bodyPr vert="horz" wrap="square" lIns="91440" tIns="45720" rIns="91440" bIns="45720" rtlCol="0" anchor="t" anchorCtr="0">
            <a:noAutofit/>
          </a:bodyPr>
          <a:lstStyle/>
          <a:p>
            <a:r>
              <a:rPr lang="en-US" dirty="0"/>
              <a:t>Slide Title Here</a:t>
            </a:r>
          </a:p>
        </p:txBody>
      </p:sp>
      <p:sp>
        <p:nvSpPr>
          <p:cNvPr id="11" name="Footer Placeholder 5"/>
          <p:cNvSpPr>
            <a:spLocks noGrp="1"/>
          </p:cNvSpPr>
          <p:nvPr>
            <p:ph type="ftr" sz="quarter" idx="3"/>
          </p:nvPr>
        </p:nvSpPr>
        <p:spPr>
          <a:xfrm>
            <a:off x="548152" y="4852597"/>
            <a:ext cx="4310907" cy="10348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272107" y="4840129"/>
            <a:ext cx="246061" cy="11642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userDrawn="1"/>
        </p:nvCxnSpPr>
        <p:spPr>
          <a:xfrm>
            <a:off x="365125" y="4687560"/>
            <a:ext cx="841375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userDrawn="1"/>
        </p:nvCxnSpPr>
        <p:spPr>
          <a:xfrm>
            <a:off x="277813" y="4687560"/>
            <a:ext cx="859536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ndParaRPr>
          </a:p>
        </p:txBody>
      </p:sp>
    </p:spTree>
    <p:extLst>
      <p:ext uri="{BB962C8B-B14F-4D97-AF65-F5344CB8AC3E}">
        <p14:creationId xmlns:p14="http://schemas.microsoft.com/office/powerpoint/2010/main" val="1203051825"/>
      </p:ext>
    </p:extLst>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4" r:id="rId4"/>
    <p:sldLayoutId id="2147483982"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4016" r:id="rId14"/>
    <p:sldLayoutId id="2147483994" r:id="rId15"/>
    <p:sldLayoutId id="2147483995" r:id="rId16"/>
    <p:sldLayoutId id="2147484023" r:id="rId17"/>
    <p:sldLayoutId id="2147484024" r:id="rId18"/>
    <p:sldLayoutId id="2147484035" r:id="rId19"/>
    <p:sldLayoutId id="2147484037" r:id="rId20"/>
    <p:sldLayoutId id="2147484038" r:id="rId21"/>
    <p:sldLayoutId id="2147484039" r:id="rId22"/>
    <p:sldLayoutId id="2147484040" r:id="rId23"/>
  </p:sldLayoutIdLst>
  <p:transition>
    <p:fade/>
  </p:transition>
  <p:hf hdr="0"/>
  <p:txStyles>
    <p:titleStyle>
      <a:lvl1pPr algn="l" defTabSz="914378" rtl="0" eaLnBrk="1" latinLnBrk="0" hangingPunct="1">
        <a:lnSpc>
          <a:spcPct val="85000"/>
        </a:lnSpc>
        <a:spcBef>
          <a:spcPct val="0"/>
        </a:spcBef>
        <a:buNone/>
        <a:defRPr lang="en-US" sz="3600" b="0" i="0" kern="1200" cap="none" spc="0" baseline="0" dirty="0" smtClean="0">
          <a:solidFill>
            <a:schemeClr val="tx1"/>
          </a:solidFill>
          <a:latin typeface="Garamond" panose="02020404030301010803" pitchFamily="18" charset="0"/>
          <a:ea typeface="Helvetica Neue" panose="02000503000000020004" pitchFamily="2" charset="0"/>
          <a:cs typeface="Arial" panose="020B0604020202020204" pitchFamily="34" charset="0"/>
        </a:defRPr>
      </a:lvl1pPr>
    </p:titleStyle>
    <p:body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1"/>
        </a:buClr>
        <a:buSzPct val="100000"/>
        <a:buFont typeface=".AppleSystemUIFont" charset="0"/>
        <a:buChar char="-"/>
        <a:tabLst/>
        <a:defRPr lang="en-US" sz="20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1"/>
        </a:buClr>
        <a:buSzPct val="100000"/>
        <a:buFont typeface=".AppleSystemUIFont" charset="0"/>
        <a:buChar char="-"/>
        <a:tabLst/>
        <a:defRPr lang="en-US" sz="16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4pPr>
      <a:lvl5pPr marL="1312830" indent="-227007" algn="l" defTabSz="640064" rtl="0" eaLnBrk="1" latinLnBrk="0" hangingPunct="1">
        <a:lnSpc>
          <a:spcPct val="100000"/>
        </a:lnSpc>
        <a:spcBef>
          <a:spcPts val="0"/>
        </a:spcBef>
        <a:spcAft>
          <a:spcPts val="1000"/>
        </a:spcAft>
        <a:buClr>
          <a:schemeClr val="accent1"/>
        </a:buClr>
        <a:buSzPct val="80000"/>
        <a:buFont typeface="Wingdings" charset="2"/>
        <a:buChar char="§"/>
        <a:defRPr lang="en-US" sz="1400" b="0" kern="1200" dirty="0">
          <a:solidFill>
            <a:schemeClr val="tx1"/>
          </a:solidFill>
          <a:latin typeface="+mn-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Footer Placeholder 5"/>
          <p:cNvSpPr>
            <a:spLocks noGrp="1"/>
          </p:cNvSpPr>
          <p:nvPr>
            <p:ph type="ftr" sz="quarter" idx="3"/>
          </p:nvPr>
        </p:nvSpPr>
        <p:spPr>
          <a:xfrm>
            <a:off x="548152" y="4852597"/>
            <a:ext cx="4310907" cy="10348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272107" y="4840129"/>
            <a:ext cx="246061" cy="116425"/>
          </a:xfrm>
          <a:prstGeom prst="rect">
            <a:avLst/>
          </a:prstGeom>
        </p:spPr>
        <p:txBody>
          <a:bodyPr vert="horz" wrap="square" lIns="0" tIns="0" rIns="0" bIns="0" rtlCol="0" anchor="b" anchorCtr="0"/>
          <a:lstStyle>
            <a:lvl1pPr algn="l">
              <a:defRPr sz="7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p:nvCxnSpPr>
        <p:spPr>
          <a:xfrm>
            <a:off x="365125" y="4687560"/>
            <a:ext cx="841375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userDrawn="1"/>
        </p:nvCxnSpPr>
        <p:spPr>
          <a:xfrm>
            <a:off x="277813" y="4687560"/>
            <a:ext cx="859536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8393113" y="4800601"/>
            <a:ext cx="481012" cy="231074"/>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18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0" name="Text Placeholder 3">
            <a:extLst>
              <a:ext uri="{FF2B5EF4-FFF2-40B4-BE49-F238E27FC236}">
                <a16:creationId xmlns:a16="http://schemas.microsoft.com/office/drawing/2014/main" id="{77A11AC4-0317-9648-9B11-2E4A9F79415E}"/>
              </a:ext>
            </a:extLst>
          </p:cNvPr>
          <p:cNvSpPr>
            <a:spLocks noGrp="1"/>
          </p:cNvSpPr>
          <p:nvPr>
            <p:ph type="body" idx="1"/>
          </p:nvPr>
        </p:nvSpPr>
        <p:spPr>
          <a:xfrm>
            <a:off x="459685" y="1401417"/>
            <a:ext cx="8137665" cy="293204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itle Placeholder 1">
            <a:extLst>
              <a:ext uri="{FF2B5EF4-FFF2-40B4-BE49-F238E27FC236}">
                <a16:creationId xmlns:a16="http://schemas.microsoft.com/office/drawing/2014/main" id="{EEA57C94-8CEE-E147-BA04-64415375E2D2}"/>
              </a:ext>
            </a:extLst>
          </p:cNvPr>
          <p:cNvSpPr>
            <a:spLocks noGrp="1"/>
          </p:cNvSpPr>
          <p:nvPr>
            <p:ph type="title"/>
          </p:nvPr>
        </p:nvSpPr>
        <p:spPr>
          <a:xfrm>
            <a:off x="453585" y="318751"/>
            <a:ext cx="8173580" cy="458587"/>
          </a:xfrm>
          <a:prstGeom prst="rect">
            <a:avLst/>
          </a:prstGeom>
        </p:spPr>
        <p:txBody>
          <a:bodyPr vert="horz" wrap="square" lIns="91440" tIns="45720" rIns="91440" bIns="45720" rtlCol="0" anchor="t" anchorCtr="0">
            <a:noAutofit/>
          </a:bodyPr>
          <a:lstStyle/>
          <a:p>
            <a:r>
              <a:rPr lang="en-US" dirty="0"/>
              <a:t>Slide Title Here</a:t>
            </a:r>
          </a:p>
        </p:txBody>
      </p:sp>
    </p:spTree>
    <p:extLst>
      <p:ext uri="{BB962C8B-B14F-4D97-AF65-F5344CB8AC3E}">
        <p14:creationId xmlns:p14="http://schemas.microsoft.com/office/powerpoint/2010/main" val="1239549721"/>
      </p:ext>
    </p:extLst>
  </p:cSld>
  <p:clrMap bg1="lt1" tx1="dk1" bg2="lt2" tx2="dk2" accent1="accent1" accent2="accent2" accent3="accent3" accent4="accent4" accent5="accent5" accent6="accent6" hlink="hlink" folHlink="folHlink"/>
  <p:sldLayoutIdLst>
    <p:sldLayoutId id="2147483955" r:id="rId1"/>
    <p:sldLayoutId id="2147483972" r:id="rId2"/>
    <p:sldLayoutId id="2147484017" r:id="rId3"/>
    <p:sldLayoutId id="2147483975" r:id="rId4"/>
    <p:sldLayoutId id="2147483976" r:id="rId5"/>
    <p:sldLayoutId id="2147484011" r:id="rId6"/>
    <p:sldLayoutId id="2147484012" r:id="rId7"/>
    <p:sldLayoutId id="2147484013" r:id="rId8"/>
    <p:sldLayoutId id="2147484001" r:id="rId9"/>
    <p:sldLayoutId id="2147484007" r:id="rId10"/>
    <p:sldLayoutId id="2147484009" r:id="rId11"/>
    <p:sldLayoutId id="2147484008" r:id="rId12"/>
    <p:sldLayoutId id="2147483944" r:id="rId13"/>
    <p:sldLayoutId id="2147483951" r:id="rId14"/>
    <p:sldLayoutId id="2147483953" r:id="rId15"/>
    <p:sldLayoutId id="2147484000" r:id="rId16"/>
    <p:sldLayoutId id="2147483950" r:id="rId17"/>
    <p:sldLayoutId id="2147483960" r:id="rId18"/>
    <p:sldLayoutId id="2147483961" r:id="rId19"/>
    <p:sldLayoutId id="2147483966" r:id="rId20"/>
    <p:sldLayoutId id="2147483967" r:id="rId21"/>
    <p:sldLayoutId id="2147483968" r:id="rId22"/>
    <p:sldLayoutId id="2147483969" r:id="rId23"/>
    <p:sldLayoutId id="2147483970" r:id="rId24"/>
    <p:sldLayoutId id="2147483971" r:id="rId25"/>
    <p:sldLayoutId id="2147484015" r:id="rId26"/>
    <p:sldLayoutId id="2147483954" r:id="rId27"/>
    <p:sldLayoutId id="2147483959" r:id="rId28"/>
    <p:sldLayoutId id="2147484002" r:id="rId29"/>
    <p:sldLayoutId id="2147484014" r:id="rId30"/>
    <p:sldLayoutId id="2147484010" r:id="rId31"/>
    <p:sldLayoutId id="2147484003" r:id="rId32"/>
    <p:sldLayoutId id="2147484018" r:id="rId33"/>
    <p:sldLayoutId id="2147484041" r:id="rId34"/>
    <p:sldLayoutId id="2147484042" r:id="rId35"/>
    <p:sldLayoutId id="2147484043" r:id="rId36"/>
  </p:sldLayoutIdLst>
  <p:transition>
    <p:fade/>
  </p:transition>
  <p:hf hdr="0"/>
  <p:txStyles>
    <p:titleStyle>
      <a:lvl1pPr algn="l" defTabSz="914378" rtl="0" eaLnBrk="1" latinLnBrk="0" hangingPunct="1">
        <a:lnSpc>
          <a:spcPct val="85000"/>
        </a:lnSpc>
        <a:spcBef>
          <a:spcPct val="0"/>
        </a:spcBef>
        <a:buNone/>
        <a:defRPr lang="en-US" sz="3600" b="0" i="0" kern="1200" cap="none" spc="0" baseline="0" dirty="0" smtClean="0">
          <a:solidFill>
            <a:schemeClr val="tx1"/>
          </a:solidFill>
          <a:latin typeface="Garamond" panose="02020404030301010803" pitchFamily="18" charset="0"/>
          <a:ea typeface="Helvetica Neue" panose="02000503000000020004" pitchFamily="2" charset="0"/>
          <a:cs typeface="Arial" panose="020B0604020202020204" pitchFamily="34" charset="0"/>
        </a:defRPr>
      </a:lvl1pPr>
    </p:titleStyle>
    <p:body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2"/>
        </a:buClr>
        <a:buSzPct val="100000"/>
        <a:buFont typeface=".AppleSystemUIFont" charset="0"/>
        <a:buChar char="-"/>
        <a:tabLst/>
        <a:defRPr lang="en-US" sz="20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2"/>
        </a:buClr>
        <a:buSzPct val="100000"/>
        <a:buFont typeface=".AppleSystemUIFont" charset="0"/>
        <a:buChar char="-"/>
        <a:tabLst/>
        <a:defRPr lang="en-US" sz="16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4pPr>
      <a:lvl5pPr marL="1312830" indent="-227007" algn="l" defTabSz="640064" rtl="0" eaLnBrk="1" latinLnBrk="0" hangingPunct="1">
        <a:lnSpc>
          <a:spcPct val="200000"/>
        </a:lnSpc>
        <a:spcBef>
          <a:spcPts val="0"/>
        </a:spcBef>
        <a:buClr>
          <a:srgbClr val="18A3AC"/>
        </a:buClr>
        <a:buSzPct val="80000"/>
        <a:buFont typeface="Wingdings" charset="2"/>
        <a:buChar char="§"/>
        <a:defRPr lang="en-US" sz="2000" b="0" kern="1200" dirty="0">
          <a:solidFill>
            <a:schemeClr val="tx1"/>
          </a:solidFill>
          <a:latin typeface="+mj-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mirzazadeh@ucsf.edu" TargetMode="External"/><Relationship Id="rId2" Type="http://schemas.openxmlformats.org/officeDocument/2006/relationships/notesSlide" Target="../notesSlides/notesSlide1.xml"/><Relationship Id="rId1" Type="http://schemas.openxmlformats.org/officeDocument/2006/relationships/slideLayout" Target="../slideLayouts/slideLayout57.xml"/><Relationship Id="rId5" Type="http://schemas.openxmlformats.org/officeDocument/2006/relationships/image" Target="../media/image35.png"/><Relationship Id="rId4" Type="http://schemas.openxmlformats.org/officeDocument/2006/relationships/hyperlink" Target="https://github.com/amirzazadeh/DataVisualizatio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58.xml"/><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5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5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8.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58.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58.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58.xml"/><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6.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8.xml"/></Relationships>
</file>

<file path=ppt/slides/_rels/slide28.xml.rels><?xml version="1.0" encoding="UTF-8" standalone="yes"?>
<Relationships xmlns="http://schemas.openxmlformats.org/package/2006/relationships"><Relationship Id="rId3" Type="http://schemas.openxmlformats.org/officeDocument/2006/relationships/hyperlink" Target="https://gadm.org/" TargetMode="External"/><Relationship Id="rId2" Type="http://schemas.openxmlformats.org/officeDocument/2006/relationships/notesSlide" Target="../notesSlides/notesSlide28.xml"/><Relationship Id="rId1" Type="http://schemas.openxmlformats.org/officeDocument/2006/relationships/slideLayout" Target="../slideLayouts/slideLayout58.xml"/><Relationship Id="rId5" Type="http://schemas.openxmlformats.org/officeDocument/2006/relationships/image" Target="../media/image53.png"/><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58.xml"/><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58.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58.xml"/><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8.xm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58.xml"/></Relationships>
</file>

<file path=ppt/slides/_rels/slide34.xml.rels><?xml version="1.0" encoding="UTF-8" standalone="yes"?>
<Relationships xmlns="http://schemas.openxmlformats.org/package/2006/relationships"><Relationship Id="rId8" Type="http://schemas.openxmlformats.org/officeDocument/2006/relationships/hyperlink" Target="https://gadm.org/" TargetMode="External"/><Relationship Id="rId3" Type="http://schemas.openxmlformats.org/officeDocument/2006/relationships/hyperlink" Target="https://chatgpt.com/" TargetMode="External"/><Relationship Id="rId7" Type="http://schemas.openxmlformats.org/officeDocument/2006/relationships/hyperlink" Target="https://perplexity.ai/" TargetMode="External"/><Relationship Id="rId2" Type="http://schemas.openxmlformats.org/officeDocument/2006/relationships/notesSlide" Target="../notesSlides/notesSlide34.xml"/><Relationship Id="rId1" Type="http://schemas.openxmlformats.org/officeDocument/2006/relationships/slideLayout" Target="../slideLayouts/slideLayout59.xml"/><Relationship Id="rId6" Type="http://schemas.openxmlformats.org/officeDocument/2006/relationships/hyperlink" Target="https://gemini.google.com/" TargetMode="External"/><Relationship Id="rId5" Type="http://schemas.openxmlformats.org/officeDocument/2006/relationships/hyperlink" Target="https://copilot.microsoft.com/" TargetMode="External"/><Relationship Id="rId4" Type="http://schemas.openxmlformats.org/officeDocument/2006/relationships/hyperlink" Target="https://claude.ai/"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8.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56.xml"/><Relationship Id="rId5" Type="http://schemas.openxmlformats.org/officeDocument/2006/relationships/hyperlink" Target="https://github.com/amirzazadeh/DataVisualization" TargetMode="External"/><Relationship Id="rId4" Type="http://schemas.openxmlformats.org/officeDocument/2006/relationships/hyperlink" Target="https://github.com/amirzazadeh/survival"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github.com/amirzazadeh/survival" TargetMode="External"/><Relationship Id="rId2" Type="http://schemas.openxmlformats.org/officeDocument/2006/relationships/notesSlide" Target="../notesSlides/notesSlide37.xml"/><Relationship Id="rId1" Type="http://schemas.openxmlformats.org/officeDocument/2006/relationships/slideLayout" Target="../slideLayouts/slideLayout44.xml"/><Relationship Id="rId5" Type="http://schemas.openxmlformats.org/officeDocument/2006/relationships/hyperlink" Target="https://github.com/amirzazadeh/DataVisualization" TargetMode="External"/><Relationship Id="rId4" Type="http://schemas.openxmlformats.org/officeDocument/2006/relationships/hyperlink" Target="https://github.com/amirzazadeh/predictor-selection"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43.xml"/><Relationship Id="rId5" Type="http://schemas.openxmlformats.org/officeDocument/2006/relationships/hyperlink" Target="https://ucsf.co1.qualtrics.com/jfe/form/SV_0T9P2PqlLB3LoIS" TargetMode="External"/><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3" Type="http://schemas.openxmlformats.org/officeDocument/2006/relationships/hyperlink" Target="https://calendly.com/ali-mirzazadeh/30-min-vietnam-statistical-consultation" TargetMode="External"/><Relationship Id="rId2" Type="http://schemas.openxmlformats.org/officeDocument/2006/relationships/notesSlide" Target="../notesSlides/notesSlide39.xml"/><Relationship Id="rId1" Type="http://schemas.openxmlformats.org/officeDocument/2006/relationships/slideLayout" Target="../slideLayouts/slideLayout45.xml"/><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8453B-AEF2-4973-E94D-122319C0A8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8DCC3C-685A-0518-05C1-1E4E72F4850A}"/>
              </a:ext>
            </a:extLst>
          </p:cNvPr>
          <p:cNvSpPr>
            <a:spLocks noGrp="1"/>
          </p:cNvSpPr>
          <p:nvPr>
            <p:ph type="title"/>
          </p:nvPr>
        </p:nvSpPr>
        <p:spPr>
          <a:xfrm>
            <a:off x="299200" y="1597838"/>
            <a:ext cx="6017623" cy="1311963"/>
          </a:xfrm>
        </p:spPr>
        <p:txBody>
          <a:bodyPr/>
          <a:lstStyle/>
          <a:p>
            <a:r>
              <a:rPr lang="en-US" b="1" dirty="0"/>
              <a:t>Data visualization in R (plots and maps)</a:t>
            </a:r>
          </a:p>
        </p:txBody>
      </p:sp>
      <p:sp>
        <p:nvSpPr>
          <p:cNvPr id="2" name="Text Placeholder 1">
            <a:extLst>
              <a:ext uri="{FF2B5EF4-FFF2-40B4-BE49-F238E27FC236}">
                <a16:creationId xmlns:a16="http://schemas.microsoft.com/office/drawing/2014/main" id="{8AE22358-2D4C-0B4A-ABC2-EAD8BD62AF16}"/>
              </a:ext>
            </a:extLst>
          </p:cNvPr>
          <p:cNvSpPr>
            <a:spLocks noGrp="1"/>
          </p:cNvSpPr>
          <p:nvPr>
            <p:ph type="body" sz="quarter" idx="10"/>
          </p:nvPr>
        </p:nvSpPr>
        <p:spPr>
          <a:xfrm>
            <a:off x="317595" y="4102257"/>
            <a:ext cx="5178136" cy="426719"/>
          </a:xfrm>
        </p:spPr>
        <p:txBody>
          <a:bodyPr/>
          <a:lstStyle/>
          <a:p>
            <a:r>
              <a:rPr lang="en-US" dirty="0"/>
              <a:t>Ali Mirzazadeh, MD, MPH, PhD</a:t>
            </a:r>
          </a:p>
          <a:p>
            <a:r>
              <a:rPr lang="en-US" dirty="0"/>
              <a:t>Epidemiologist, Associate Professor, UCSF</a:t>
            </a:r>
          </a:p>
          <a:p>
            <a:r>
              <a:rPr lang="en-US" dirty="0"/>
              <a:t>(</a:t>
            </a:r>
            <a:r>
              <a:rPr lang="en-US" dirty="0">
                <a:hlinkClick r:id="rId3"/>
              </a:rPr>
              <a:t>ali.mirzazadeh@ucsf.edu</a:t>
            </a:r>
            <a:r>
              <a:rPr lang="en-US" dirty="0"/>
              <a:t>) </a:t>
            </a:r>
          </a:p>
          <a:p>
            <a:r>
              <a:rPr lang="en-US" dirty="0">
                <a:hlinkClick r:id="rId4"/>
              </a:rPr>
              <a:t>https://github.com/amirzazadeh/DataVisualization</a:t>
            </a:r>
            <a:r>
              <a:rPr lang="en-US" dirty="0"/>
              <a:t> </a:t>
            </a:r>
          </a:p>
        </p:txBody>
      </p:sp>
      <p:sp>
        <p:nvSpPr>
          <p:cNvPr id="6" name="Text Placeholder 5">
            <a:extLst>
              <a:ext uri="{FF2B5EF4-FFF2-40B4-BE49-F238E27FC236}">
                <a16:creationId xmlns:a16="http://schemas.microsoft.com/office/drawing/2014/main" id="{553EBC09-C3AC-D951-8F24-FAF5392BBADD}"/>
              </a:ext>
            </a:extLst>
          </p:cNvPr>
          <p:cNvSpPr>
            <a:spLocks noGrp="1"/>
          </p:cNvSpPr>
          <p:nvPr>
            <p:ph type="body" sz="quarter" idx="15"/>
          </p:nvPr>
        </p:nvSpPr>
        <p:spPr>
          <a:xfrm>
            <a:off x="302816" y="2904502"/>
            <a:ext cx="6147682" cy="508220"/>
          </a:xfrm>
        </p:spPr>
        <p:txBody>
          <a:bodyPr/>
          <a:lstStyle/>
          <a:p>
            <a:r>
              <a:rPr lang="en-US" dirty="0"/>
              <a:t>19 March 2026 (Vietnam time)</a:t>
            </a:r>
          </a:p>
          <a:p>
            <a:endParaRPr lang="en-US" dirty="0"/>
          </a:p>
          <a:p>
            <a:endParaRPr lang="en-US" dirty="0"/>
          </a:p>
        </p:txBody>
      </p:sp>
      <p:pic>
        <p:nvPicPr>
          <p:cNvPr id="5" name="Picture 4" descr="A colorful circle with lines on it&#10;&#10;Description automatically generated">
            <a:extLst>
              <a:ext uri="{FF2B5EF4-FFF2-40B4-BE49-F238E27FC236}">
                <a16:creationId xmlns:a16="http://schemas.microsoft.com/office/drawing/2014/main" id="{CFBC78BA-BCDE-FEC8-24B9-B9FA1F9598E1}"/>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7600227" y="1497816"/>
            <a:ext cx="1543773" cy="3207617"/>
          </a:xfrm>
          <a:prstGeom prst="rect">
            <a:avLst/>
          </a:prstGeom>
        </p:spPr>
      </p:pic>
    </p:spTree>
    <p:extLst>
      <p:ext uri="{BB962C8B-B14F-4D97-AF65-F5344CB8AC3E}">
        <p14:creationId xmlns:p14="http://schemas.microsoft.com/office/powerpoint/2010/main" val="32687510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a:xfrm>
            <a:off x="453585" y="1105727"/>
            <a:ext cx="8137665" cy="2932045"/>
          </a:xfrm>
        </p:spPr>
        <p:txBody>
          <a:bodyPr/>
          <a:lstStyle/>
          <a:p>
            <a:pPr marL="0" indent="0">
              <a:buNone/>
            </a:pPr>
            <a:r>
              <a:rPr dirty="0"/>
              <a:t>By the end of this session participants will be able to:</a:t>
            </a:r>
            <a:endParaRPr lang="en-US" dirty="0"/>
          </a:p>
          <a:p>
            <a:pPr marL="0" indent="0">
              <a:buNone/>
            </a:pPr>
            <a:endParaRPr dirty="0"/>
          </a:p>
          <a:p>
            <a:r>
              <a:rPr dirty="0"/>
              <a:t>Apply principles of effective data visualization</a:t>
            </a:r>
          </a:p>
          <a:p>
            <a:r>
              <a:rPr dirty="0"/>
              <a:t>Create common plots using </a:t>
            </a:r>
            <a:r>
              <a:rPr lang="en-US" dirty="0"/>
              <a:t>R (</a:t>
            </a:r>
            <a:r>
              <a:rPr dirty="0"/>
              <a:t>ggplot2</a:t>
            </a:r>
            <a:r>
              <a:rPr lang="en-US" dirty="0"/>
              <a:t>)</a:t>
            </a:r>
            <a:endParaRPr dirty="0"/>
          </a:p>
          <a:p>
            <a:r>
              <a:rPr dirty="0"/>
              <a:t>Produce maps </a:t>
            </a:r>
            <a:r>
              <a:rPr lang="en-US" dirty="0"/>
              <a:t>to present your </a:t>
            </a:r>
            <a:r>
              <a:rPr dirty="0"/>
              <a:t>data</a:t>
            </a:r>
            <a:endParaRPr lang="en-US" dirty="0"/>
          </a:p>
          <a:p>
            <a:r>
              <a:rPr lang="en-US" dirty="0"/>
              <a:t>Use an AI prompt to generate R code for all types of visualization </a:t>
            </a:r>
            <a:endParaRPr dirty="0"/>
          </a:p>
          <a:p>
            <a:r>
              <a:rPr lang="en-US" dirty="0"/>
              <a:t>Build r</a:t>
            </a:r>
            <a:r>
              <a:rPr dirty="0"/>
              <a:t>eproducible workflows </a:t>
            </a:r>
            <a:r>
              <a:rPr lang="en-US" dirty="0"/>
              <a:t>in</a:t>
            </a:r>
            <a:r>
              <a:rPr dirty="0"/>
              <a:t> 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6F68-0B53-B931-2B2E-E150348FA801}"/>
              </a:ext>
            </a:extLst>
          </p:cNvPr>
          <p:cNvSpPr>
            <a:spLocks noGrp="1"/>
          </p:cNvSpPr>
          <p:nvPr>
            <p:ph type="title"/>
          </p:nvPr>
        </p:nvSpPr>
        <p:spPr/>
        <p:txBody>
          <a:bodyPr/>
          <a:lstStyle/>
          <a:p>
            <a:r>
              <a:rPr lang="en-US" dirty="0"/>
              <a:t>About me </a:t>
            </a:r>
            <a:r>
              <a:rPr lang="en-US" dirty="0">
                <a:sym typeface="Wingdings" pitchFamily="2" charset="2"/>
              </a:rPr>
              <a:t></a:t>
            </a:r>
            <a:endParaRPr lang="en-US" dirty="0"/>
          </a:p>
        </p:txBody>
      </p:sp>
      <p:sp>
        <p:nvSpPr>
          <p:cNvPr id="3" name="Content Placeholder 2">
            <a:extLst>
              <a:ext uri="{FF2B5EF4-FFF2-40B4-BE49-F238E27FC236}">
                <a16:creationId xmlns:a16="http://schemas.microsoft.com/office/drawing/2014/main" id="{7774D3D4-9DA3-1B75-0784-0E0E3063F3AE}"/>
              </a:ext>
            </a:extLst>
          </p:cNvPr>
          <p:cNvSpPr>
            <a:spLocks noGrp="1"/>
          </p:cNvSpPr>
          <p:nvPr>
            <p:ph idx="1"/>
          </p:nvPr>
        </p:nvSpPr>
        <p:spPr>
          <a:xfrm>
            <a:off x="460376" y="1112516"/>
            <a:ext cx="5955028" cy="3224176"/>
          </a:xfrm>
        </p:spPr>
        <p:txBody>
          <a:bodyPr>
            <a:normAutofit fontScale="77500" lnSpcReduction="20000"/>
          </a:bodyPr>
          <a:lstStyle/>
          <a:p>
            <a:r>
              <a:rPr lang="en-US" dirty="0"/>
              <a:t>Ali Mirzazadeh, MD, MPH, PhD</a:t>
            </a:r>
          </a:p>
          <a:p>
            <a:r>
              <a:rPr lang="en-US" dirty="0"/>
              <a:t>Epidemiologist | UCSF</a:t>
            </a:r>
          </a:p>
          <a:p>
            <a:r>
              <a:rPr lang="en-US" dirty="0"/>
              <a:t>Born in Kerman, Iran (at 7 months premature)</a:t>
            </a:r>
          </a:p>
          <a:p>
            <a:r>
              <a:rPr lang="en-US" dirty="0"/>
              <a:t>MD (2004), MPH (2007), PhD in Epidemiology (2013)</a:t>
            </a:r>
          </a:p>
          <a:p>
            <a:r>
              <a:rPr lang="en-US" dirty="0"/>
              <a:t>At UCSF since 2012 (Visiting Scholar → Associate Professor)</a:t>
            </a:r>
          </a:p>
          <a:p>
            <a:r>
              <a:rPr lang="en-US" dirty="0"/>
              <a:t>Associate Director, Global Health PhD Program</a:t>
            </a:r>
          </a:p>
          <a:p>
            <a:r>
              <a:rPr lang="en-US" dirty="0"/>
              <a:t>Research: HIV &amp; hard-to-reach populations, EMR</a:t>
            </a:r>
          </a:p>
          <a:p>
            <a:r>
              <a:rPr lang="en-US" dirty="0"/>
              <a:t>🚴 Biked San Francisco → Los Angeles </a:t>
            </a:r>
          </a:p>
          <a:p>
            <a:pPr lvl="1"/>
            <a:r>
              <a:rPr lang="en-US" dirty="0"/>
              <a:t>9 times | 5,000+ miles | $33,327 raised for HIV programs</a:t>
            </a:r>
          </a:p>
          <a:p>
            <a:r>
              <a:rPr lang="en-US" dirty="0"/>
              <a:t>I love Vietnam 🇻🇳 ❤️</a:t>
            </a:r>
          </a:p>
        </p:txBody>
      </p:sp>
      <p:pic>
        <p:nvPicPr>
          <p:cNvPr id="6" name="Picture 5">
            <a:extLst>
              <a:ext uri="{FF2B5EF4-FFF2-40B4-BE49-F238E27FC236}">
                <a16:creationId xmlns:a16="http://schemas.microsoft.com/office/drawing/2014/main" id="{70428564-7252-B00B-A68C-3950766CBDD3}"/>
              </a:ext>
            </a:extLst>
          </p:cNvPr>
          <p:cNvPicPr>
            <a:picLocks noChangeAspect="1"/>
          </p:cNvPicPr>
          <p:nvPr/>
        </p:nvPicPr>
        <p:blipFill>
          <a:blip r:embed="rId3"/>
          <a:stretch>
            <a:fillRect/>
          </a:stretch>
        </p:blipFill>
        <p:spPr>
          <a:xfrm>
            <a:off x="6562468" y="535376"/>
            <a:ext cx="1916942" cy="2522101"/>
          </a:xfrm>
          <a:prstGeom prst="rect">
            <a:avLst/>
          </a:prstGeom>
        </p:spPr>
      </p:pic>
      <p:sp>
        <p:nvSpPr>
          <p:cNvPr id="7" name="TextBox 6">
            <a:extLst>
              <a:ext uri="{FF2B5EF4-FFF2-40B4-BE49-F238E27FC236}">
                <a16:creationId xmlns:a16="http://schemas.microsoft.com/office/drawing/2014/main" id="{FBF2EDCD-2567-0F63-04BA-A95C30E064D7}"/>
              </a:ext>
            </a:extLst>
          </p:cNvPr>
          <p:cNvSpPr txBox="1"/>
          <p:nvPr/>
        </p:nvSpPr>
        <p:spPr>
          <a:xfrm>
            <a:off x="6313645" y="3287111"/>
            <a:ext cx="2414587" cy="1338828"/>
          </a:xfrm>
          <a:prstGeom prst="rect">
            <a:avLst/>
          </a:prstGeom>
          <a:noFill/>
        </p:spPr>
        <p:txBody>
          <a:bodyPr wrap="square" rtlCol="0">
            <a:spAutoFit/>
          </a:bodyPr>
          <a:lstStyle/>
          <a:p>
            <a:pPr algn="ctr"/>
            <a:r>
              <a:rPr lang="en-US" sz="1350" dirty="0"/>
              <a:t>This is a selfie of me riding on a motorcycle in Da Nang, Vietnam, sheltered under a plastic cover on my way to a workshop to teach 😊⛈️🛵</a:t>
            </a:r>
          </a:p>
          <a:p>
            <a:pPr algn="ctr"/>
            <a:r>
              <a:rPr lang="en-US" sz="1350" dirty="0"/>
              <a:t>Time: Aug. 29, 2025 - 8 am</a:t>
            </a:r>
          </a:p>
        </p:txBody>
      </p:sp>
    </p:spTree>
    <p:extLst>
      <p:ext uri="{BB962C8B-B14F-4D97-AF65-F5344CB8AC3E}">
        <p14:creationId xmlns:p14="http://schemas.microsoft.com/office/powerpoint/2010/main" val="749008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7B6AA-3C1F-319D-07C3-46758C9C4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41CC1-F479-EC60-A9D9-A07DE42AC325}"/>
              </a:ext>
            </a:extLst>
          </p:cNvPr>
          <p:cNvSpPr>
            <a:spLocks noGrp="1"/>
          </p:cNvSpPr>
          <p:nvPr>
            <p:ph type="title"/>
          </p:nvPr>
        </p:nvSpPr>
        <p:spPr/>
        <p:txBody>
          <a:bodyPr/>
          <a:lstStyle/>
          <a:p>
            <a:pPr algn="ctr"/>
            <a:r>
              <a:rPr lang="en-US" sz="2800" b="1" dirty="0"/>
              <a:t>Principles of Effective Data Visualization</a:t>
            </a:r>
          </a:p>
        </p:txBody>
      </p:sp>
    </p:spTree>
    <p:extLst>
      <p:ext uri="{BB962C8B-B14F-4D97-AF65-F5344CB8AC3E}">
        <p14:creationId xmlns:p14="http://schemas.microsoft.com/office/powerpoint/2010/main" val="364405995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Visualization Matters in Public Health</a:t>
            </a:r>
          </a:p>
        </p:txBody>
      </p:sp>
      <p:sp>
        <p:nvSpPr>
          <p:cNvPr id="3" name="Content Placeholder 2"/>
          <p:cNvSpPr>
            <a:spLocks noGrp="1"/>
          </p:cNvSpPr>
          <p:nvPr>
            <p:ph idx="1"/>
          </p:nvPr>
        </p:nvSpPr>
        <p:spPr/>
        <p:txBody>
          <a:bodyPr/>
          <a:lstStyle/>
          <a:p>
            <a:r>
              <a:rPr dirty="0"/>
              <a:t>Communicates complex research clearly</a:t>
            </a:r>
          </a:p>
          <a:p>
            <a:r>
              <a:rPr dirty="0"/>
              <a:t>Helps identify trends and disparities</a:t>
            </a:r>
          </a:p>
          <a:p>
            <a:r>
              <a:rPr dirty="0"/>
              <a:t>Supports evidence‑based decision making</a:t>
            </a:r>
          </a:p>
          <a:p>
            <a:r>
              <a:rPr dirty="0"/>
              <a:t>Improves accessibility of research findings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585" y="318751"/>
            <a:ext cx="8173580" cy="458587"/>
          </a:xfrm>
        </p:spPr>
        <p:txBody>
          <a:bodyPr/>
          <a:lstStyle/>
          <a:p>
            <a:r>
              <a:rPr lang="en-US" dirty="0"/>
              <a:t>Principles of Effective Visualization</a:t>
            </a:r>
          </a:p>
        </p:txBody>
      </p:sp>
      <p:sp>
        <p:nvSpPr>
          <p:cNvPr id="3" name="Content Placeholder 2"/>
          <p:cNvSpPr>
            <a:spLocks noGrp="1"/>
          </p:cNvSpPr>
          <p:nvPr>
            <p:ph idx="1"/>
          </p:nvPr>
        </p:nvSpPr>
        <p:spPr>
          <a:xfrm>
            <a:off x="460375" y="1091681"/>
            <a:ext cx="8137525" cy="3592285"/>
          </a:xfrm>
        </p:spPr>
        <p:txBody>
          <a:bodyPr/>
          <a:lstStyle/>
          <a:p>
            <a:r>
              <a:rPr lang="en-US" sz="1500" b="1" dirty="0"/>
              <a:t>Simplicity</a:t>
            </a:r>
            <a:r>
              <a:rPr lang="en-US" sz="1500" dirty="0"/>
              <a:t>: </a:t>
            </a:r>
          </a:p>
          <a:p>
            <a:pPr lvl="1"/>
            <a:r>
              <a:rPr lang="en-US" sz="1500" dirty="0"/>
              <a:t>Keep the visualization simple by avoiding unnecessary elements (lines, colors, etc.) so the main message is easy to understand.</a:t>
            </a:r>
          </a:p>
          <a:p>
            <a:r>
              <a:rPr lang="en-US" sz="1500" b="1" dirty="0"/>
              <a:t>Clarity</a:t>
            </a:r>
            <a:r>
              <a:rPr lang="en-US" sz="1500" dirty="0"/>
              <a:t>: </a:t>
            </a:r>
          </a:p>
          <a:p>
            <a:pPr lvl="1"/>
            <a:r>
              <a:rPr lang="en-US" sz="1500" dirty="0"/>
              <a:t>Use clear labels, titles, and legends so viewers can quickly interpret the information.</a:t>
            </a:r>
          </a:p>
          <a:p>
            <a:r>
              <a:rPr lang="en-US" sz="1500" b="1" dirty="0"/>
              <a:t>Accuracy</a:t>
            </a:r>
            <a:r>
              <a:rPr lang="en-US" sz="1500" dirty="0"/>
              <a:t>: </a:t>
            </a:r>
          </a:p>
          <a:p>
            <a:pPr lvl="1"/>
            <a:r>
              <a:rPr lang="en-US" sz="1500" dirty="0"/>
              <a:t>Ensure the data are represented truthfully without misleading scales or distortions.</a:t>
            </a:r>
          </a:p>
          <a:p>
            <a:r>
              <a:rPr lang="en-US" sz="1500" b="1" dirty="0"/>
              <a:t>Appropriate</a:t>
            </a:r>
            <a:r>
              <a:rPr lang="en-US" sz="1500" dirty="0"/>
              <a:t>: </a:t>
            </a:r>
          </a:p>
          <a:p>
            <a:pPr lvl="1"/>
            <a:r>
              <a:rPr lang="en-US" sz="1500" dirty="0"/>
              <a:t>Choose the chart type that best matches the data and the question being addressed.</a:t>
            </a:r>
          </a:p>
          <a:p>
            <a:r>
              <a:rPr lang="en-US" sz="1500" b="1" dirty="0"/>
              <a:t>Consistent formatting</a:t>
            </a:r>
            <a:r>
              <a:rPr lang="en-US" sz="1500" dirty="0"/>
              <a:t>: </a:t>
            </a:r>
          </a:p>
          <a:p>
            <a:pPr lvl="1"/>
            <a:r>
              <a:rPr lang="en-US" sz="1500" dirty="0"/>
              <a:t>Use consistent colors, fonts, and styles across charts to improve readability and comparison.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FCF0-EC24-3C01-0966-D1D2BDC11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3616C9-25AA-5E54-5F9D-7ADE5F6336B0}"/>
              </a:ext>
            </a:extLst>
          </p:cNvPr>
          <p:cNvSpPr>
            <a:spLocks noGrp="1"/>
          </p:cNvSpPr>
          <p:nvPr>
            <p:ph type="title"/>
          </p:nvPr>
        </p:nvSpPr>
        <p:spPr>
          <a:xfrm>
            <a:off x="453585" y="318751"/>
            <a:ext cx="8173580" cy="458587"/>
          </a:xfrm>
        </p:spPr>
        <p:txBody>
          <a:bodyPr/>
          <a:lstStyle/>
          <a:p>
            <a:r>
              <a:rPr lang="en-US" dirty="0"/>
              <a:t>Example of and Effective Visualization</a:t>
            </a:r>
          </a:p>
        </p:txBody>
      </p:sp>
      <p:sp>
        <p:nvSpPr>
          <p:cNvPr id="3" name="Content Placeholder 2">
            <a:extLst>
              <a:ext uri="{FF2B5EF4-FFF2-40B4-BE49-F238E27FC236}">
                <a16:creationId xmlns:a16="http://schemas.microsoft.com/office/drawing/2014/main" id="{79BC645E-DE12-D4AB-1B2F-034FD9CC9290}"/>
              </a:ext>
            </a:extLst>
          </p:cNvPr>
          <p:cNvSpPr>
            <a:spLocks noGrp="1"/>
          </p:cNvSpPr>
          <p:nvPr>
            <p:ph idx="1"/>
          </p:nvPr>
        </p:nvSpPr>
        <p:spPr>
          <a:xfrm>
            <a:off x="170435" y="969314"/>
            <a:ext cx="4700145" cy="3204871"/>
          </a:xfrm>
        </p:spPr>
        <p:txBody>
          <a:bodyPr/>
          <a:lstStyle/>
          <a:p>
            <a:r>
              <a:rPr lang="en-US" sz="1600" b="1" dirty="0"/>
              <a:t>Vietnam’s Provincial Mergers: Consolidation from 63 to 34 Provinces and Cities</a:t>
            </a:r>
          </a:p>
          <a:p>
            <a:r>
              <a:rPr lang="en-US" sz="1600" b="1" dirty="0"/>
              <a:t>28 provinces</a:t>
            </a:r>
            <a:r>
              <a:rPr lang="en-US" sz="1600" dirty="0"/>
              <a:t>: Cao Bang, Dien Bien, Ha Tinh, Lai Chau, Lang Son, Nghe An, Quang Ninh, Thanh Hoa, Son La, Tuyen Quang, Lao Cai, Thai Nguyen, Phu Tho, Bac Ninh, Hung Yen, Ninh Binh, Quang Tri, Quang Ngai, Gia Lai, Khanh Hoa, Lam Dong, Dak Lak, Dong Nai, Tay Ninh, Vinh Long, Dong Thap, Ca Mau, and An Giang; and</a:t>
            </a:r>
          </a:p>
          <a:p>
            <a:r>
              <a:rPr lang="en-US" sz="1600" b="1" dirty="0"/>
              <a:t>Six centrally governed cities</a:t>
            </a:r>
            <a:r>
              <a:rPr lang="en-US" sz="1600" dirty="0"/>
              <a:t>: Hanoi, Ho Chi Minh City (HCMC), Hue, Da Nang, Can Tho, and Hai Phong.</a:t>
            </a:r>
          </a:p>
        </p:txBody>
      </p:sp>
      <p:pic>
        <p:nvPicPr>
          <p:cNvPr id="4" name="Picture 3">
            <a:extLst>
              <a:ext uri="{FF2B5EF4-FFF2-40B4-BE49-F238E27FC236}">
                <a16:creationId xmlns:a16="http://schemas.microsoft.com/office/drawing/2014/main" id="{065CBA7D-2BD2-46A3-7A0D-CA924467C2E5}"/>
              </a:ext>
            </a:extLst>
          </p:cNvPr>
          <p:cNvPicPr>
            <a:picLocks noChangeAspect="1"/>
          </p:cNvPicPr>
          <p:nvPr/>
        </p:nvPicPr>
        <p:blipFill>
          <a:blip r:embed="rId3"/>
          <a:stretch>
            <a:fillRect/>
          </a:stretch>
        </p:blipFill>
        <p:spPr>
          <a:xfrm>
            <a:off x="4755274" y="969314"/>
            <a:ext cx="4218291" cy="3430734"/>
          </a:xfrm>
          <a:prstGeom prst="rect">
            <a:avLst/>
          </a:prstGeom>
        </p:spPr>
      </p:pic>
    </p:spTree>
    <p:extLst>
      <p:ext uri="{BB962C8B-B14F-4D97-AF65-F5344CB8AC3E}">
        <p14:creationId xmlns:p14="http://schemas.microsoft.com/office/powerpoint/2010/main" val="3434356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626BB-D22B-F702-36B8-48D004F7B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DA4B7-5BF9-C937-DEE6-4567E374ECF5}"/>
              </a:ext>
            </a:extLst>
          </p:cNvPr>
          <p:cNvSpPr>
            <a:spLocks noGrp="1"/>
          </p:cNvSpPr>
          <p:nvPr>
            <p:ph type="title"/>
          </p:nvPr>
        </p:nvSpPr>
        <p:spPr/>
        <p:txBody>
          <a:bodyPr/>
          <a:lstStyle/>
          <a:p>
            <a:pPr algn="ctr"/>
            <a:r>
              <a:rPr lang="en-US" sz="2400" b="1" dirty="0"/>
              <a:t>Common Visualization Types in public health</a:t>
            </a:r>
          </a:p>
        </p:txBody>
      </p:sp>
    </p:spTree>
    <p:extLst>
      <p:ext uri="{BB962C8B-B14F-4D97-AF65-F5344CB8AC3E}">
        <p14:creationId xmlns:p14="http://schemas.microsoft.com/office/powerpoint/2010/main" val="69096818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Common Visualization Types</a:t>
            </a:r>
            <a:r>
              <a:rPr lang="en-US" dirty="0"/>
              <a:t> in public health:</a:t>
            </a:r>
            <a:endParaRPr dirty="0"/>
          </a:p>
        </p:txBody>
      </p:sp>
      <p:sp>
        <p:nvSpPr>
          <p:cNvPr id="3" name="Content Placeholder 2"/>
          <p:cNvSpPr>
            <a:spLocks noGrp="1"/>
          </p:cNvSpPr>
          <p:nvPr>
            <p:ph idx="1"/>
          </p:nvPr>
        </p:nvSpPr>
        <p:spPr/>
        <p:txBody>
          <a:bodyPr/>
          <a:lstStyle/>
          <a:p>
            <a:r>
              <a:rPr dirty="0"/>
              <a:t>Bar charts</a:t>
            </a:r>
          </a:p>
          <a:p>
            <a:r>
              <a:rPr dirty="0"/>
              <a:t>Line charts</a:t>
            </a:r>
            <a:endParaRPr lang="en-US" dirty="0"/>
          </a:p>
          <a:p>
            <a:r>
              <a:rPr lang="en-US" dirty="0"/>
              <a:t>Mozaic charts</a:t>
            </a:r>
            <a:endParaRPr dirty="0"/>
          </a:p>
          <a:p>
            <a:r>
              <a:rPr dirty="0"/>
              <a:t>Histograms</a:t>
            </a:r>
          </a:p>
          <a:p>
            <a:r>
              <a:rPr dirty="0"/>
              <a:t>Boxplots</a:t>
            </a:r>
          </a:p>
          <a:p>
            <a:r>
              <a:rPr lang="en-US" dirty="0"/>
              <a:t>Scatterplots</a:t>
            </a:r>
          </a:p>
          <a:p>
            <a:r>
              <a:rPr dirty="0"/>
              <a:t>Maps</a:t>
            </a:r>
            <a:endParaRPr lang="en-US" dirty="0"/>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7F0E-80F0-2B21-2E03-424C97AC8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991A8-639E-1550-A745-95CF9F3B20BC}"/>
              </a:ext>
            </a:extLst>
          </p:cNvPr>
          <p:cNvSpPr>
            <a:spLocks noGrp="1"/>
          </p:cNvSpPr>
          <p:nvPr>
            <p:ph type="title"/>
          </p:nvPr>
        </p:nvSpPr>
        <p:spPr>
          <a:xfrm>
            <a:off x="453585" y="318751"/>
            <a:ext cx="8173580" cy="458587"/>
          </a:xfrm>
        </p:spPr>
        <p:txBody>
          <a:bodyPr/>
          <a:lstStyle/>
          <a:p>
            <a:r>
              <a:rPr lang="en-US" dirty="0"/>
              <a:t>Bar charts</a:t>
            </a:r>
          </a:p>
        </p:txBody>
      </p:sp>
      <p:sp>
        <p:nvSpPr>
          <p:cNvPr id="3" name="Content Placeholder 2">
            <a:extLst>
              <a:ext uri="{FF2B5EF4-FFF2-40B4-BE49-F238E27FC236}">
                <a16:creationId xmlns:a16="http://schemas.microsoft.com/office/drawing/2014/main" id="{20049F93-8170-138B-E80B-34BBEFF7F567}"/>
              </a:ext>
            </a:extLst>
          </p:cNvPr>
          <p:cNvSpPr>
            <a:spLocks noGrp="1"/>
          </p:cNvSpPr>
          <p:nvPr>
            <p:ph idx="1"/>
          </p:nvPr>
        </p:nvSpPr>
        <p:spPr>
          <a:xfrm>
            <a:off x="460376" y="1401763"/>
            <a:ext cx="4080000" cy="2932112"/>
          </a:xfrm>
        </p:spPr>
        <p:txBody>
          <a:bodyPr/>
          <a:lstStyle/>
          <a:p>
            <a:r>
              <a:rPr lang="en-US" sz="1600" dirty="0"/>
              <a:t>A chart used to compare values across categories.</a:t>
            </a:r>
          </a:p>
          <a:p>
            <a:r>
              <a:rPr lang="en-US" sz="1600" dirty="0"/>
              <a:t>Each bar’s height (or length) represents the count or value for a category.</a:t>
            </a:r>
          </a:p>
          <a:p>
            <a:r>
              <a:rPr lang="en-US" sz="1600" dirty="0"/>
              <a:t>Makes it easy to compare groups and see differences quickly.</a:t>
            </a:r>
          </a:p>
          <a:p>
            <a:endParaRPr lang="en-US" sz="1600" dirty="0"/>
          </a:p>
          <a:p>
            <a:r>
              <a:rPr lang="en-US" sz="1600" dirty="0"/>
              <a:t>Example: Comparing the number of universities and colleges across provinces in Vietnam.</a:t>
            </a:r>
          </a:p>
        </p:txBody>
      </p:sp>
      <p:pic>
        <p:nvPicPr>
          <p:cNvPr id="9" name="Picture 8">
            <a:extLst>
              <a:ext uri="{FF2B5EF4-FFF2-40B4-BE49-F238E27FC236}">
                <a16:creationId xmlns:a16="http://schemas.microsoft.com/office/drawing/2014/main" id="{93042708-DCA8-1D39-129F-6EE125AA29AB}"/>
              </a:ext>
            </a:extLst>
          </p:cNvPr>
          <p:cNvPicPr>
            <a:picLocks noChangeAspect="1"/>
          </p:cNvPicPr>
          <p:nvPr/>
        </p:nvPicPr>
        <p:blipFill>
          <a:blip r:embed="rId3"/>
          <a:stretch>
            <a:fillRect/>
          </a:stretch>
        </p:blipFill>
        <p:spPr>
          <a:xfrm>
            <a:off x="4540377" y="355078"/>
            <a:ext cx="4378940" cy="4327664"/>
          </a:xfrm>
          <a:prstGeom prst="rect">
            <a:avLst/>
          </a:prstGeom>
        </p:spPr>
      </p:pic>
    </p:spTree>
    <p:extLst>
      <p:ext uri="{BB962C8B-B14F-4D97-AF65-F5344CB8AC3E}">
        <p14:creationId xmlns:p14="http://schemas.microsoft.com/office/powerpoint/2010/main" val="4194336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2CC59-AD74-B938-18E8-906F60DD3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126F7A-0472-8DD5-944B-D8E37EAB45FA}"/>
              </a:ext>
            </a:extLst>
          </p:cNvPr>
          <p:cNvSpPr>
            <a:spLocks noGrp="1"/>
          </p:cNvSpPr>
          <p:nvPr>
            <p:ph type="title"/>
          </p:nvPr>
        </p:nvSpPr>
        <p:spPr>
          <a:xfrm>
            <a:off x="453585" y="318751"/>
            <a:ext cx="8173580" cy="458587"/>
          </a:xfrm>
        </p:spPr>
        <p:txBody>
          <a:bodyPr/>
          <a:lstStyle/>
          <a:p>
            <a:r>
              <a:rPr lang="en-US" dirty="0"/>
              <a:t>Line charts</a:t>
            </a:r>
          </a:p>
        </p:txBody>
      </p:sp>
      <p:sp>
        <p:nvSpPr>
          <p:cNvPr id="3" name="Content Placeholder 2">
            <a:extLst>
              <a:ext uri="{FF2B5EF4-FFF2-40B4-BE49-F238E27FC236}">
                <a16:creationId xmlns:a16="http://schemas.microsoft.com/office/drawing/2014/main" id="{25AAE836-747E-B4E1-0F07-336FF877DAA0}"/>
              </a:ext>
            </a:extLst>
          </p:cNvPr>
          <p:cNvSpPr>
            <a:spLocks noGrp="1"/>
          </p:cNvSpPr>
          <p:nvPr>
            <p:ph idx="1"/>
          </p:nvPr>
        </p:nvSpPr>
        <p:spPr>
          <a:xfrm>
            <a:off x="460376" y="1401763"/>
            <a:ext cx="4080000" cy="2932112"/>
          </a:xfrm>
        </p:spPr>
        <p:txBody>
          <a:bodyPr/>
          <a:lstStyle/>
          <a:p>
            <a:r>
              <a:rPr lang="en-US" sz="1600" dirty="0"/>
              <a:t>A plot used to show changes in a variable over time or ordered categories.</a:t>
            </a:r>
          </a:p>
          <a:p>
            <a:r>
              <a:rPr lang="en-US" sz="1600" dirty="0"/>
              <a:t>Data points are connected by lines to show trends or patterns.</a:t>
            </a:r>
          </a:p>
          <a:p>
            <a:r>
              <a:rPr lang="en-US" sz="1600" dirty="0"/>
              <a:t>Helps identify trends, increases, decreases, or fluctuations.</a:t>
            </a:r>
          </a:p>
          <a:p>
            <a:endParaRPr lang="en-US" sz="1600" dirty="0"/>
          </a:p>
          <a:p>
            <a:r>
              <a:rPr lang="en-US" sz="1600" dirty="0"/>
              <a:t>Example: Showing the global number of new HIV infections over years (UNAIDS estimates).</a:t>
            </a:r>
          </a:p>
        </p:txBody>
      </p:sp>
      <p:pic>
        <p:nvPicPr>
          <p:cNvPr id="4" name="Picture 3">
            <a:extLst>
              <a:ext uri="{FF2B5EF4-FFF2-40B4-BE49-F238E27FC236}">
                <a16:creationId xmlns:a16="http://schemas.microsoft.com/office/drawing/2014/main" id="{7A4DC1DA-8D91-3D6A-BC54-451CBDB1DB27}"/>
              </a:ext>
            </a:extLst>
          </p:cNvPr>
          <p:cNvPicPr>
            <a:picLocks noChangeAspect="1"/>
          </p:cNvPicPr>
          <p:nvPr/>
        </p:nvPicPr>
        <p:blipFill>
          <a:blip r:embed="rId3"/>
          <a:stretch>
            <a:fillRect/>
          </a:stretch>
        </p:blipFill>
        <p:spPr>
          <a:xfrm>
            <a:off x="4603626" y="1024038"/>
            <a:ext cx="4080001" cy="2848189"/>
          </a:xfrm>
          <a:prstGeom prst="rect">
            <a:avLst/>
          </a:prstGeom>
        </p:spPr>
      </p:pic>
      <p:sp>
        <p:nvSpPr>
          <p:cNvPr id="5" name="TextBox 4">
            <a:extLst>
              <a:ext uri="{FF2B5EF4-FFF2-40B4-BE49-F238E27FC236}">
                <a16:creationId xmlns:a16="http://schemas.microsoft.com/office/drawing/2014/main" id="{F5B59866-0431-E56C-86DB-ED2F739A47FC}"/>
              </a:ext>
            </a:extLst>
          </p:cNvPr>
          <p:cNvSpPr txBox="1"/>
          <p:nvPr/>
        </p:nvSpPr>
        <p:spPr bwMode="auto">
          <a:xfrm>
            <a:off x="5154694" y="4170395"/>
            <a:ext cx="3471781" cy="553998"/>
          </a:xfrm>
          <a:prstGeom prst="rect">
            <a:avLst/>
          </a:prstGeom>
          <a:noFill/>
          <a:ln w="19050" algn="ctr">
            <a:noFill/>
            <a:miter lim="800000"/>
            <a:headEnd/>
            <a:tailEnd/>
          </a:ln>
        </p:spPr>
        <p:txBody>
          <a:bodyPr wrap="square" lIns="0" tIns="0" rIns="0" bIns="0" rtlCol="0">
            <a:spAutoFit/>
          </a:bodyPr>
          <a:lstStyle/>
          <a:p>
            <a:pPr algn="ctr"/>
            <a:r>
              <a:rPr lang="en-US" sz="1200" b="1" dirty="0">
                <a:solidFill>
                  <a:srgbClr val="000000"/>
                </a:solidFill>
                <a:latin typeface="Calibri" panose="020F0502020204030204" pitchFamily="34" charset="0"/>
              </a:rPr>
              <a:t>Number of new HIV infections, global, 1990-2024, 2025 and 2030 targets</a:t>
            </a:r>
          </a:p>
          <a:p>
            <a:pPr algn="ctr"/>
            <a:endParaRPr lang="en-US" sz="1200" dirty="0" err="1"/>
          </a:p>
        </p:txBody>
      </p:sp>
      <p:pic>
        <p:nvPicPr>
          <p:cNvPr id="6" name="Picture 5">
            <a:extLst>
              <a:ext uri="{FF2B5EF4-FFF2-40B4-BE49-F238E27FC236}">
                <a16:creationId xmlns:a16="http://schemas.microsoft.com/office/drawing/2014/main" id="{DD45EB1A-ADA9-98FF-3572-3E83F15902BB}"/>
              </a:ext>
            </a:extLst>
          </p:cNvPr>
          <p:cNvPicPr>
            <a:picLocks noChangeAspect="1"/>
          </p:cNvPicPr>
          <p:nvPr/>
        </p:nvPicPr>
        <p:blipFill>
          <a:blip r:embed="rId4"/>
          <a:stretch>
            <a:fillRect/>
          </a:stretch>
        </p:blipFill>
        <p:spPr>
          <a:xfrm>
            <a:off x="7135483" y="816457"/>
            <a:ext cx="1611394" cy="415163"/>
          </a:xfrm>
          <a:prstGeom prst="rect">
            <a:avLst/>
          </a:prstGeom>
        </p:spPr>
      </p:pic>
    </p:spTree>
    <p:extLst>
      <p:ext uri="{BB962C8B-B14F-4D97-AF65-F5344CB8AC3E}">
        <p14:creationId xmlns:p14="http://schemas.microsoft.com/office/powerpoint/2010/main" val="1419733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AA0FA-D29E-CE41-712F-026DBA5A3B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6A094-6B0F-1E72-4D3A-5303A04699A1}"/>
              </a:ext>
            </a:extLst>
          </p:cNvPr>
          <p:cNvSpPr>
            <a:spLocks noGrp="1"/>
          </p:cNvSpPr>
          <p:nvPr>
            <p:ph type="title"/>
          </p:nvPr>
        </p:nvSpPr>
        <p:spPr>
          <a:xfrm>
            <a:off x="453585" y="318751"/>
            <a:ext cx="8173580" cy="458587"/>
          </a:xfrm>
        </p:spPr>
        <p:txBody>
          <a:bodyPr/>
          <a:lstStyle/>
          <a:p>
            <a:r>
              <a:rPr lang="en-US" dirty="0"/>
              <a:t>Mozaic charts</a:t>
            </a:r>
          </a:p>
        </p:txBody>
      </p:sp>
      <p:sp>
        <p:nvSpPr>
          <p:cNvPr id="3" name="Content Placeholder 2">
            <a:extLst>
              <a:ext uri="{FF2B5EF4-FFF2-40B4-BE49-F238E27FC236}">
                <a16:creationId xmlns:a16="http://schemas.microsoft.com/office/drawing/2014/main" id="{D385408C-6F6D-2A11-DA46-FC0AFFFDD45F}"/>
              </a:ext>
            </a:extLst>
          </p:cNvPr>
          <p:cNvSpPr>
            <a:spLocks noGrp="1"/>
          </p:cNvSpPr>
          <p:nvPr>
            <p:ph idx="1"/>
          </p:nvPr>
        </p:nvSpPr>
        <p:spPr>
          <a:xfrm>
            <a:off x="460376" y="1401763"/>
            <a:ext cx="4080000" cy="2932112"/>
          </a:xfrm>
        </p:spPr>
        <p:txBody>
          <a:bodyPr/>
          <a:lstStyle/>
          <a:p>
            <a:r>
              <a:rPr lang="en-US" sz="1600" dirty="0"/>
              <a:t>Show the relationship between two or more categorical variables.</a:t>
            </a:r>
          </a:p>
          <a:p>
            <a:r>
              <a:rPr lang="en-US" sz="1600" dirty="0"/>
              <a:t>Each rectangle’s area represents the proportion or count of observations in a category combination.</a:t>
            </a:r>
          </a:p>
          <a:p>
            <a:r>
              <a:rPr lang="en-US" sz="1600" dirty="0"/>
              <a:t>Helps compare proportions across groups and identify patterns or associations.</a:t>
            </a:r>
          </a:p>
          <a:p>
            <a:endParaRPr lang="en-US" sz="1600" dirty="0"/>
          </a:p>
          <a:p>
            <a:r>
              <a:rPr lang="en-US" sz="1600" dirty="0"/>
              <a:t>Example: Showing how province poverty levels differ across regions in Vietnam.</a:t>
            </a:r>
          </a:p>
        </p:txBody>
      </p:sp>
      <p:pic>
        <p:nvPicPr>
          <p:cNvPr id="4" name="Picture 3">
            <a:extLst>
              <a:ext uri="{FF2B5EF4-FFF2-40B4-BE49-F238E27FC236}">
                <a16:creationId xmlns:a16="http://schemas.microsoft.com/office/drawing/2014/main" id="{FB429C3D-E01C-B36B-1A3D-D21FE92B5D03}"/>
              </a:ext>
            </a:extLst>
          </p:cNvPr>
          <p:cNvPicPr>
            <a:picLocks noChangeAspect="1"/>
          </p:cNvPicPr>
          <p:nvPr/>
        </p:nvPicPr>
        <p:blipFill>
          <a:blip r:embed="rId3"/>
          <a:stretch>
            <a:fillRect/>
          </a:stretch>
        </p:blipFill>
        <p:spPr>
          <a:xfrm>
            <a:off x="4603626" y="402354"/>
            <a:ext cx="4310569" cy="3931521"/>
          </a:xfrm>
          <a:prstGeom prst="rect">
            <a:avLst/>
          </a:prstGeom>
        </p:spPr>
      </p:pic>
      <p:sp>
        <p:nvSpPr>
          <p:cNvPr id="7" name="TextBox 6">
            <a:extLst>
              <a:ext uri="{FF2B5EF4-FFF2-40B4-BE49-F238E27FC236}">
                <a16:creationId xmlns:a16="http://schemas.microsoft.com/office/drawing/2014/main" id="{17A488D0-A73B-B0D1-46C8-7612504208A8}"/>
              </a:ext>
            </a:extLst>
          </p:cNvPr>
          <p:cNvSpPr txBox="1"/>
          <p:nvPr/>
        </p:nvSpPr>
        <p:spPr bwMode="auto">
          <a:xfrm>
            <a:off x="6372809" y="4361155"/>
            <a:ext cx="1418658" cy="307777"/>
          </a:xfrm>
          <a:prstGeom prst="rect">
            <a:avLst/>
          </a:prstGeom>
          <a:noFill/>
          <a:ln w="19050" algn="ctr">
            <a:noFill/>
            <a:miter lim="800000"/>
            <a:headEnd/>
            <a:tailEnd/>
          </a:ln>
        </p:spPr>
        <p:txBody>
          <a:bodyPr wrap="none" lIns="0" tIns="0" rIns="0" bIns="0" rtlCol="0">
            <a:spAutoFit/>
          </a:bodyPr>
          <a:lstStyle/>
          <a:p>
            <a:r>
              <a:rPr lang="en-US" sz="2000" dirty="0"/>
              <a:t>0% </a:t>
            </a:r>
            <a:r>
              <a:rPr lang="en-US" sz="2000" dirty="0">
                <a:sym typeface="Wingdings" pitchFamily="2" charset="2"/>
              </a:rPr>
              <a:t> 100%</a:t>
            </a:r>
            <a:endParaRPr lang="en-US" sz="2000" dirty="0"/>
          </a:p>
        </p:txBody>
      </p:sp>
      <p:sp>
        <p:nvSpPr>
          <p:cNvPr id="8" name="TextBox 7">
            <a:extLst>
              <a:ext uri="{FF2B5EF4-FFF2-40B4-BE49-F238E27FC236}">
                <a16:creationId xmlns:a16="http://schemas.microsoft.com/office/drawing/2014/main" id="{74CF46AA-E031-93BD-5D27-1D161E295D1D}"/>
              </a:ext>
            </a:extLst>
          </p:cNvPr>
          <p:cNvSpPr txBox="1"/>
          <p:nvPr/>
        </p:nvSpPr>
        <p:spPr bwMode="auto">
          <a:xfrm rot="5400000">
            <a:off x="8204866" y="2339525"/>
            <a:ext cx="1418658" cy="307777"/>
          </a:xfrm>
          <a:prstGeom prst="rect">
            <a:avLst/>
          </a:prstGeom>
          <a:noFill/>
          <a:ln w="19050" algn="ctr">
            <a:noFill/>
            <a:miter lim="800000"/>
            <a:headEnd/>
            <a:tailEnd/>
          </a:ln>
        </p:spPr>
        <p:txBody>
          <a:bodyPr wrap="none" lIns="0" tIns="0" rIns="0" bIns="0" rtlCol="0">
            <a:spAutoFit/>
          </a:bodyPr>
          <a:lstStyle/>
          <a:p>
            <a:r>
              <a:rPr lang="en-US" sz="2000" dirty="0"/>
              <a:t>0% </a:t>
            </a:r>
            <a:r>
              <a:rPr lang="en-US" sz="2000" dirty="0">
                <a:sym typeface="Wingdings" pitchFamily="2" charset="2"/>
              </a:rPr>
              <a:t> 100%</a:t>
            </a:r>
            <a:endParaRPr lang="en-US" sz="2000" dirty="0"/>
          </a:p>
        </p:txBody>
      </p:sp>
    </p:spTree>
    <p:extLst>
      <p:ext uri="{BB962C8B-B14F-4D97-AF65-F5344CB8AC3E}">
        <p14:creationId xmlns:p14="http://schemas.microsoft.com/office/powerpoint/2010/main" val="3365935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B5455-E481-54E8-61D6-F921365D4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D2CE01-0F5F-B868-686F-155DB7025D0B}"/>
              </a:ext>
            </a:extLst>
          </p:cNvPr>
          <p:cNvSpPr>
            <a:spLocks noGrp="1"/>
          </p:cNvSpPr>
          <p:nvPr>
            <p:ph type="title"/>
          </p:nvPr>
        </p:nvSpPr>
        <p:spPr>
          <a:xfrm>
            <a:off x="453585" y="318751"/>
            <a:ext cx="8173580" cy="458587"/>
          </a:xfrm>
        </p:spPr>
        <p:txBody>
          <a:bodyPr/>
          <a:lstStyle/>
          <a:p>
            <a:r>
              <a:rPr lang="en-US" dirty="0"/>
              <a:t>Histograms</a:t>
            </a:r>
          </a:p>
        </p:txBody>
      </p:sp>
      <p:sp>
        <p:nvSpPr>
          <p:cNvPr id="3" name="Content Placeholder 2">
            <a:extLst>
              <a:ext uri="{FF2B5EF4-FFF2-40B4-BE49-F238E27FC236}">
                <a16:creationId xmlns:a16="http://schemas.microsoft.com/office/drawing/2014/main" id="{7AC3E5D8-FD40-AEC7-A8FC-A6807ECAD229}"/>
              </a:ext>
            </a:extLst>
          </p:cNvPr>
          <p:cNvSpPr>
            <a:spLocks noGrp="1"/>
          </p:cNvSpPr>
          <p:nvPr>
            <p:ph idx="1"/>
          </p:nvPr>
        </p:nvSpPr>
        <p:spPr>
          <a:xfrm>
            <a:off x="460376" y="1401763"/>
            <a:ext cx="4080000" cy="2932112"/>
          </a:xfrm>
        </p:spPr>
        <p:txBody>
          <a:bodyPr/>
          <a:lstStyle/>
          <a:p>
            <a:r>
              <a:rPr lang="en-US" sz="1600" dirty="0"/>
              <a:t>A chart used to show the distribution of a continuous (age, BMI, etc.) numeric variable.</a:t>
            </a:r>
          </a:p>
          <a:p>
            <a:r>
              <a:rPr lang="en-US" sz="1600" dirty="0"/>
              <a:t>Data are grouped into bins (intervals), and bar heights show the frequency in each range.</a:t>
            </a:r>
          </a:p>
          <a:p>
            <a:r>
              <a:rPr lang="en-US" sz="1600" dirty="0"/>
              <a:t>Helps visualize the shape, spread, and skewness of the data.</a:t>
            </a:r>
          </a:p>
          <a:p>
            <a:pPr marL="0" indent="0">
              <a:buNone/>
            </a:pPr>
            <a:endParaRPr lang="en-US" sz="1600" dirty="0"/>
          </a:p>
          <a:p>
            <a:r>
              <a:rPr lang="en-US" sz="1600" dirty="0"/>
              <a:t>Example: Showing the distribution of age by gender in Vietnam.</a:t>
            </a:r>
          </a:p>
        </p:txBody>
      </p:sp>
      <p:pic>
        <p:nvPicPr>
          <p:cNvPr id="5" name="Picture 4">
            <a:extLst>
              <a:ext uri="{FF2B5EF4-FFF2-40B4-BE49-F238E27FC236}">
                <a16:creationId xmlns:a16="http://schemas.microsoft.com/office/drawing/2014/main" id="{BFD4E784-D681-4982-9773-DBC421DE0101}"/>
              </a:ext>
            </a:extLst>
          </p:cNvPr>
          <p:cNvPicPr>
            <a:picLocks noChangeAspect="1"/>
          </p:cNvPicPr>
          <p:nvPr/>
        </p:nvPicPr>
        <p:blipFill>
          <a:blip r:embed="rId3"/>
          <a:stretch>
            <a:fillRect/>
          </a:stretch>
        </p:blipFill>
        <p:spPr>
          <a:xfrm>
            <a:off x="4761040" y="628295"/>
            <a:ext cx="4116190" cy="3409831"/>
          </a:xfrm>
          <a:prstGeom prst="rect">
            <a:avLst/>
          </a:prstGeom>
        </p:spPr>
      </p:pic>
    </p:spTree>
    <p:extLst>
      <p:ext uri="{BB962C8B-B14F-4D97-AF65-F5344CB8AC3E}">
        <p14:creationId xmlns:p14="http://schemas.microsoft.com/office/powerpoint/2010/main" val="587733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B97CA-60D4-0C34-1C7E-F0D16C03B1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15FE6-190F-02E8-5C85-1B34C897D0C1}"/>
              </a:ext>
            </a:extLst>
          </p:cNvPr>
          <p:cNvSpPr>
            <a:spLocks noGrp="1"/>
          </p:cNvSpPr>
          <p:nvPr>
            <p:ph type="title"/>
          </p:nvPr>
        </p:nvSpPr>
        <p:spPr>
          <a:xfrm>
            <a:off x="453585" y="318751"/>
            <a:ext cx="8173580" cy="458587"/>
          </a:xfrm>
        </p:spPr>
        <p:txBody>
          <a:bodyPr/>
          <a:lstStyle/>
          <a:p>
            <a:r>
              <a:rPr lang="en-US" dirty="0"/>
              <a:t>Boxplots</a:t>
            </a:r>
          </a:p>
        </p:txBody>
      </p:sp>
      <p:sp>
        <p:nvSpPr>
          <p:cNvPr id="3" name="Content Placeholder 2">
            <a:extLst>
              <a:ext uri="{FF2B5EF4-FFF2-40B4-BE49-F238E27FC236}">
                <a16:creationId xmlns:a16="http://schemas.microsoft.com/office/drawing/2014/main" id="{1B574FD6-2011-56CA-F9FB-8ABDD24FE305}"/>
              </a:ext>
            </a:extLst>
          </p:cNvPr>
          <p:cNvSpPr>
            <a:spLocks noGrp="1"/>
          </p:cNvSpPr>
          <p:nvPr>
            <p:ph idx="1"/>
          </p:nvPr>
        </p:nvSpPr>
        <p:spPr>
          <a:xfrm>
            <a:off x="460376" y="1401763"/>
            <a:ext cx="4080000" cy="2932112"/>
          </a:xfrm>
        </p:spPr>
        <p:txBody>
          <a:bodyPr/>
          <a:lstStyle/>
          <a:p>
            <a:r>
              <a:rPr lang="en-US" sz="1600" dirty="0"/>
              <a:t>A chart used to summarize the distribution of a numeric variable.</a:t>
            </a:r>
          </a:p>
          <a:p>
            <a:r>
              <a:rPr lang="en-US" sz="1600" dirty="0"/>
              <a:t>The box shows the median and interquartile range, while whiskers and points show the spread and outliers.</a:t>
            </a:r>
          </a:p>
          <a:p>
            <a:r>
              <a:rPr lang="en-US" sz="1600" dirty="0"/>
              <a:t>Helps compare distributions across groups and identify outliers.</a:t>
            </a:r>
          </a:p>
          <a:p>
            <a:endParaRPr lang="en-US" sz="1600" dirty="0"/>
          </a:p>
          <a:p>
            <a:r>
              <a:rPr lang="en-US" sz="1600" dirty="0"/>
              <a:t>Example: Province-level literacy rates across regions.</a:t>
            </a:r>
          </a:p>
        </p:txBody>
      </p:sp>
      <p:pic>
        <p:nvPicPr>
          <p:cNvPr id="4" name="Picture 3">
            <a:extLst>
              <a:ext uri="{FF2B5EF4-FFF2-40B4-BE49-F238E27FC236}">
                <a16:creationId xmlns:a16="http://schemas.microsoft.com/office/drawing/2014/main" id="{A76B58BE-4D61-7DEC-A4AD-985C22D544A2}"/>
              </a:ext>
            </a:extLst>
          </p:cNvPr>
          <p:cNvPicPr>
            <a:picLocks noChangeAspect="1"/>
          </p:cNvPicPr>
          <p:nvPr/>
        </p:nvPicPr>
        <p:blipFill>
          <a:blip r:embed="rId3"/>
          <a:stretch>
            <a:fillRect/>
          </a:stretch>
        </p:blipFill>
        <p:spPr>
          <a:xfrm>
            <a:off x="4748187" y="1105694"/>
            <a:ext cx="4093892" cy="2932112"/>
          </a:xfrm>
          <a:prstGeom prst="rect">
            <a:avLst/>
          </a:prstGeom>
        </p:spPr>
      </p:pic>
    </p:spTree>
    <p:extLst>
      <p:ext uri="{BB962C8B-B14F-4D97-AF65-F5344CB8AC3E}">
        <p14:creationId xmlns:p14="http://schemas.microsoft.com/office/powerpoint/2010/main" val="912306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B2FE4-7EA8-6CCA-C34B-F704F4AF2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733CA-9814-8C52-0A39-5A6347CFD976}"/>
              </a:ext>
            </a:extLst>
          </p:cNvPr>
          <p:cNvSpPr>
            <a:spLocks noGrp="1"/>
          </p:cNvSpPr>
          <p:nvPr>
            <p:ph type="title"/>
          </p:nvPr>
        </p:nvSpPr>
        <p:spPr>
          <a:xfrm>
            <a:off x="453585" y="318751"/>
            <a:ext cx="8173580" cy="458587"/>
          </a:xfrm>
        </p:spPr>
        <p:txBody>
          <a:bodyPr/>
          <a:lstStyle/>
          <a:p>
            <a:r>
              <a:rPr lang="en-US" dirty="0"/>
              <a:t>Scatterplots</a:t>
            </a:r>
          </a:p>
        </p:txBody>
      </p:sp>
      <p:sp>
        <p:nvSpPr>
          <p:cNvPr id="3" name="Content Placeholder 2">
            <a:extLst>
              <a:ext uri="{FF2B5EF4-FFF2-40B4-BE49-F238E27FC236}">
                <a16:creationId xmlns:a16="http://schemas.microsoft.com/office/drawing/2014/main" id="{1364BB8A-95B9-3282-3120-1E55637430AE}"/>
              </a:ext>
            </a:extLst>
          </p:cNvPr>
          <p:cNvSpPr>
            <a:spLocks noGrp="1"/>
          </p:cNvSpPr>
          <p:nvPr>
            <p:ph idx="1"/>
          </p:nvPr>
        </p:nvSpPr>
        <p:spPr>
          <a:xfrm>
            <a:off x="460376" y="1401763"/>
            <a:ext cx="4080000" cy="2932112"/>
          </a:xfrm>
        </p:spPr>
        <p:txBody>
          <a:bodyPr/>
          <a:lstStyle/>
          <a:p>
            <a:r>
              <a:rPr lang="en-US" sz="1600" dirty="0"/>
              <a:t>A chart used to show the relationship between two numeric variables.</a:t>
            </a:r>
          </a:p>
          <a:p>
            <a:r>
              <a:rPr lang="en-US" sz="1600" dirty="0"/>
              <a:t>Each point represents an observation with its position determined by the two variables.</a:t>
            </a:r>
          </a:p>
          <a:p>
            <a:r>
              <a:rPr lang="en-US" sz="1600" dirty="0"/>
              <a:t>Helps identify correlations, patterns, and outliers.</a:t>
            </a:r>
          </a:p>
          <a:p>
            <a:pPr marL="0" indent="0">
              <a:buNone/>
            </a:pPr>
            <a:endParaRPr lang="en-US" sz="1600" dirty="0"/>
          </a:p>
          <a:p>
            <a:r>
              <a:rPr lang="en-US" sz="1600" dirty="0"/>
              <a:t>Example: Examining the relationship between poverty rate and tourism revenue across provinces in Vietnam.</a:t>
            </a:r>
          </a:p>
        </p:txBody>
      </p:sp>
      <p:pic>
        <p:nvPicPr>
          <p:cNvPr id="5" name="Picture 4">
            <a:extLst>
              <a:ext uri="{FF2B5EF4-FFF2-40B4-BE49-F238E27FC236}">
                <a16:creationId xmlns:a16="http://schemas.microsoft.com/office/drawing/2014/main" id="{627DB134-C06B-34D0-ED70-1E4675ADCD36}"/>
              </a:ext>
            </a:extLst>
          </p:cNvPr>
          <p:cNvPicPr>
            <a:picLocks noChangeAspect="1"/>
          </p:cNvPicPr>
          <p:nvPr/>
        </p:nvPicPr>
        <p:blipFill>
          <a:blip r:embed="rId3"/>
          <a:stretch>
            <a:fillRect/>
          </a:stretch>
        </p:blipFill>
        <p:spPr>
          <a:xfrm>
            <a:off x="4540250" y="1025149"/>
            <a:ext cx="4257026" cy="2932112"/>
          </a:xfrm>
          <a:prstGeom prst="rect">
            <a:avLst/>
          </a:prstGeom>
        </p:spPr>
      </p:pic>
    </p:spTree>
    <p:extLst>
      <p:ext uri="{BB962C8B-B14F-4D97-AF65-F5344CB8AC3E}">
        <p14:creationId xmlns:p14="http://schemas.microsoft.com/office/powerpoint/2010/main" val="1855966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D7F0-A613-8D28-3FD2-0B5BB6BBF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25239-C2F3-D39D-4196-EE2C277C4194}"/>
              </a:ext>
            </a:extLst>
          </p:cNvPr>
          <p:cNvSpPr>
            <a:spLocks noGrp="1"/>
          </p:cNvSpPr>
          <p:nvPr>
            <p:ph type="title"/>
          </p:nvPr>
        </p:nvSpPr>
        <p:spPr>
          <a:xfrm>
            <a:off x="453585" y="318751"/>
            <a:ext cx="8173580" cy="458587"/>
          </a:xfrm>
        </p:spPr>
        <p:txBody>
          <a:bodyPr/>
          <a:lstStyle/>
          <a:p>
            <a:r>
              <a:rPr lang="en-US"/>
              <a:t>Maps</a:t>
            </a:r>
            <a:endParaRPr lang="en-US" dirty="0"/>
          </a:p>
        </p:txBody>
      </p:sp>
      <p:sp>
        <p:nvSpPr>
          <p:cNvPr id="3" name="Content Placeholder 2">
            <a:extLst>
              <a:ext uri="{FF2B5EF4-FFF2-40B4-BE49-F238E27FC236}">
                <a16:creationId xmlns:a16="http://schemas.microsoft.com/office/drawing/2014/main" id="{1E18E99E-45C0-48A0-21E0-C435AF169BC6}"/>
              </a:ext>
            </a:extLst>
          </p:cNvPr>
          <p:cNvSpPr>
            <a:spLocks noGrp="1"/>
          </p:cNvSpPr>
          <p:nvPr>
            <p:ph idx="1"/>
          </p:nvPr>
        </p:nvSpPr>
        <p:spPr>
          <a:xfrm>
            <a:off x="460376" y="1401763"/>
            <a:ext cx="4080000" cy="2932112"/>
          </a:xfrm>
        </p:spPr>
        <p:txBody>
          <a:bodyPr/>
          <a:lstStyle/>
          <a:p>
            <a:r>
              <a:rPr lang="en-US" sz="1600" dirty="0"/>
              <a:t>A visualization used to show geographic patterns or spatial distribution of data.</a:t>
            </a:r>
          </a:p>
          <a:p>
            <a:r>
              <a:rPr lang="en-US" sz="1600" dirty="0"/>
              <a:t>Data values are linked to geographic areas (e.g., regions or provinces) and displayed using colors, symbols, or shading.</a:t>
            </a:r>
          </a:p>
          <a:p>
            <a:r>
              <a:rPr lang="en-US" sz="1600" dirty="0"/>
              <a:t>Helps identify spatial patterns, regional differences, and geographic clusters.</a:t>
            </a:r>
          </a:p>
          <a:p>
            <a:r>
              <a:rPr lang="en-US" sz="1600" dirty="0"/>
              <a:t>Example: Showing population size of people who inject drugs in districts of Nepal</a:t>
            </a:r>
          </a:p>
        </p:txBody>
      </p:sp>
      <p:pic>
        <p:nvPicPr>
          <p:cNvPr id="6" name="Picture 5">
            <a:extLst>
              <a:ext uri="{FF2B5EF4-FFF2-40B4-BE49-F238E27FC236}">
                <a16:creationId xmlns:a16="http://schemas.microsoft.com/office/drawing/2014/main" id="{D59BD965-423D-E1CF-C0AD-96F36AD54442}"/>
              </a:ext>
            </a:extLst>
          </p:cNvPr>
          <p:cNvPicPr>
            <a:picLocks noChangeAspect="1"/>
          </p:cNvPicPr>
          <p:nvPr/>
        </p:nvPicPr>
        <p:blipFill>
          <a:blip r:embed="rId3"/>
          <a:stretch>
            <a:fillRect/>
          </a:stretch>
        </p:blipFill>
        <p:spPr>
          <a:xfrm>
            <a:off x="4788288" y="1148767"/>
            <a:ext cx="4080000" cy="2403182"/>
          </a:xfrm>
          <a:prstGeom prst="rect">
            <a:avLst/>
          </a:prstGeom>
        </p:spPr>
      </p:pic>
    </p:spTree>
    <p:extLst>
      <p:ext uri="{BB962C8B-B14F-4D97-AF65-F5344CB8AC3E}">
        <p14:creationId xmlns:p14="http://schemas.microsoft.com/office/powerpoint/2010/main" val="3972949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FC418-1C66-CC0C-FA76-6560152E4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0668B-55DB-09DC-5A67-21EAB290827B}"/>
              </a:ext>
            </a:extLst>
          </p:cNvPr>
          <p:cNvSpPr>
            <a:spLocks noGrp="1"/>
          </p:cNvSpPr>
          <p:nvPr>
            <p:ph type="title"/>
          </p:nvPr>
        </p:nvSpPr>
        <p:spPr/>
        <p:txBody>
          <a:bodyPr/>
          <a:lstStyle/>
          <a:p>
            <a:pPr algn="ctr"/>
            <a:r>
              <a:rPr lang="en-US" sz="3200" b="1" dirty="0"/>
              <a:t>Create plots by R (ggplot2)</a:t>
            </a:r>
          </a:p>
        </p:txBody>
      </p:sp>
    </p:spTree>
    <p:extLst>
      <p:ext uri="{BB962C8B-B14F-4D97-AF65-F5344CB8AC3E}">
        <p14:creationId xmlns:p14="http://schemas.microsoft.com/office/powerpoint/2010/main" val="223503642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 to ggplot2</a:t>
            </a:r>
          </a:p>
        </p:txBody>
      </p:sp>
      <p:sp>
        <p:nvSpPr>
          <p:cNvPr id="3" name="Content Placeholder 2"/>
          <p:cNvSpPr>
            <a:spLocks noGrp="1"/>
          </p:cNvSpPr>
          <p:nvPr>
            <p:ph idx="1"/>
          </p:nvPr>
        </p:nvSpPr>
        <p:spPr>
          <a:xfrm>
            <a:off x="471542" y="1177483"/>
            <a:ext cx="8137665" cy="2932045"/>
          </a:xfrm>
        </p:spPr>
        <p:txBody>
          <a:bodyPr/>
          <a:lstStyle/>
          <a:p>
            <a:pPr marL="0" indent="0">
              <a:buNone/>
            </a:pPr>
            <a:r>
              <a:rPr dirty="0"/>
              <a:t>ggplot2 is the most widely used R visualization package.</a:t>
            </a:r>
            <a:endParaRPr lang="en-US" dirty="0"/>
          </a:p>
          <a:p>
            <a:pPr marL="0" indent="0">
              <a:buNone/>
            </a:pPr>
            <a:endParaRPr lang="en-US" dirty="0"/>
          </a:p>
          <a:p>
            <a:pPr marL="0" indent="0">
              <a:buNone/>
            </a:pPr>
            <a:r>
              <a:rPr dirty="0"/>
              <a:t>Advantages:</a:t>
            </a:r>
          </a:p>
          <a:p>
            <a:r>
              <a:rPr dirty="0"/>
              <a:t>Grammar of graphics framework</a:t>
            </a:r>
          </a:p>
          <a:p>
            <a:r>
              <a:rPr dirty="0"/>
              <a:t>Flexible layering system</a:t>
            </a:r>
          </a:p>
          <a:p>
            <a:r>
              <a:rPr dirty="0"/>
              <a:t>Publication-quality plots</a:t>
            </a:r>
          </a:p>
          <a:p>
            <a:r>
              <a:rPr dirty="0"/>
              <a:t>Strong community support</a:t>
            </a:r>
            <a:endParaRPr lang="en-US" dirty="0"/>
          </a:p>
          <a:p>
            <a:r>
              <a:rPr lang="en-US" dirty="0"/>
              <a:t>Free</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Structure of ggplot2</a:t>
            </a:r>
          </a:p>
        </p:txBody>
      </p:sp>
      <p:sp>
        <p:nvSpPr>
          <p:cNvPr id="3" name="Content Placeholder 2"/>
          <p:cNvSpPr>
            <a:spLocks noGrp="1"/>
          </p:cNvSpPr>
          <p:nvPr>
            <p:ph idx="1"/>
          </p:nvPr>
        </p:nvSpPr>
        <p:spPr>
          <a:xfrm>
            <a:off x="459686" y="1401417"/>
            <a:ext cx="3396698" cy="2932045"/>
          </a:xfrm>
        </p:spPr>
        <p:txBody>
          <a:bodyPr/>
          <a:lstStyle/>
          <a:p>
            <a:pPr marL="0" indent="0">
              <a:buNone/>
            </a:pPr>
            <a:r>
              <a:rPr b="1" dirty="0"/>
              <a:t>A </a:t>
            </a:r>
            <a:r>
              <a:rPr b="1" dirty="0" err="1"/>
              <a:t>ggplot</a:t>
            </a:r>
            <a:r>
              <a:rPr b="1" dirty="0"/>
              <a:t> chart is built using layers:</a:t>
            </a:r>
          </a:p>
          <a:p>
            <a:pPr marL="0" indent="0">
              <a:buNone/>
            </a:pPr>
            <a:endParaRPr lang="en-US" dirty="0"/>
          </a:p>
          <a:p>
            <a:pPr marL="0" indent="0">
              <a:buNone/>
            </a:pPr>
            <a:r>
              <a:rPr dirty="0" err="1">
                <a:solidFill>
                  <a:srgbClr val="00B0F0"/>
                </a:solidFill>
              </a:rPr>
              <a:t>ggplot</a:t>
            </a:r>
            <a:r>
              <a:rPr dirty="0">
                <a:solidFill>
                  <a:srgbClr val="00B0F0"/>
                </a:solidFill>
              </a:rPr>
              <a:t>(data, </a:t>
            </a:r>
            <a:r>
              <a:rPr dirty="0" err="1">
                <a:solidFill>
                  <a:srgbClr val="00B0F0"/>
                </a:solidFill>
              </a:rPr>
              <a:t>aes</a:t>
            </a:r>
            <a:r>
              <a:rPr dirty="0">
                <a:solidFill>
                  <a:srgbClr val="00B0F0"/>
                </a:solidFill>
              </a:rPr>
              <a:t>(x, y)) +</a:t>
            </a:r>
          </a:p>
          <a:p>
            <a:pPr marL="0" indent="0">
              <a:buNone/>
            </a:pPr>
            <a:r>
              <a:rPr dirty="0">
                <a:solidFill>
                  <a:srgbClr val="00B0F0"/>
                </a:solidFill>
              </a:rPr>
              <a:t>  </a:t>
            </a:r>
            <a:r>
              <a:rPr dirty="0" err="1">
                <a:solidFill>
                  <a:srgbClr val="00B0F0"/>
                </a:solidFill>
              </a:rPr>
              <a:t>geom</a:t>
            </a:r>
            <a:r>
              <a:rPr dirty="0">
                <a:solidFill>
                  <a:srgbClr val="00B0F0"/>
                </a:solidFill>
              </a:rPr>
              <a:t>_</a:t>
            </a:r>
            <a:r>
              <a:rPr dirty="0">
                <a:solidFill>
                  <a:srgbClr val="FF0000"/>
                </a:solidFill>
              </a:rPr>
              <a:t>*</a:t>
            </a:r>
            <a:r>
              <a:rPr dirty="0">
                <a:solidFill>
                  <a:srgbClr val="00B0F0"/>
                </a:solidFill>
              </a:rPr>
              <a:t>() +</a:t>
            </a:r>
          </a:p>
          <a:p>
            <a:pPr marL="0" indent="0">
              <a:buNone/>
            </a:pPr>
            <a:r>
              <a:rPr lang="en-US" dirty="0">
                <a:solidFill>
                  <a:srgbClr val="00B0F0"/>
                </a:solidFill>
              </a:rPr>
              <a:t> </a:t>
            </a:r>
            <a:r>
              <a:rPr dirty="0">
                <a:solidFill>
                  <a:srgbClr val="00B0F0"/>
                </a:solidFill>
              </a:rPr>
              <a:t>labs() +</a:t>
            </a:r>
          </a:p>
          <a:p>
            <a:pPr marL="0" indent="0">
              <a:buNone/>
            </a:pPr>
            <a:r>
              <a:rPr lang="en-US" dirty="0">
                <a:solidFill>
                  <a:srgbClr val="00B0F0"/>
                </a:solidFill>
              </a:rPr>
              <a:t> </a:t>
            </a:r>
            <a:r>
              <a:rPr dirty="0">
                <a:solidFill>
                  <a:srgbClr val="00B0F0"/>
                </a:solidFill>
              </a:rPr>
              <a:t>theme()</a:t>
            </a:r>
          </a:p>
        </p:txBody>
      </p:sp>
      <p:sp>
        <p:nvSpPr>
          <p:cNvPr id="4" name="TextBox 3">
            <a:extLst>
              <a:ext uri="{FF2B5EF4-FFF2-40B4-BE49-F238E27FC236}">
                <a16:creationId xmlns:a16="http://schemas.microsoft.com/office/drawing/2014/main" id="{5194A68D-99BA-300F-479A-945CD3ADCFA5}"/>
              </a:ext>
            </a:extLst>
          </p:cNvPr>
          <p:cNvSpPr txBox="1"/>
          <p:nvPr/>
        </p:nvSpPr>
        <p:spPr bwMode="auto">
          <a:xfrm>
            <a:off x="4174436" y="2857501"/>
            <a:ext cx="4681329" cy="1661993"/>
          </a:xfrm>
          <a:prstGeom prst="rect">
            <a:avLst/>
          </a:prstGeom>
          <a:noFill/>
          <a:ln w="19050" algn="ctr">
            <a:noFill/>
            <a:miter lim="800000"/>
            <a:headEnd/>
            <a:tailEnd/>
          </a:ln>
        </p:spPr>
        <p:txBody>
          <a:bodyPr wrap="square" lIns="0" tIns="0" rIns="0" bIns="0" rtlCol="0">
            <a:spAutoFit/>
          </a:bodyPr>
          <a:lstStyle/>
          <a:p>
            <a:r>
              <a:rPr lang="en-US" b="1" dirty="0"/>
              <a:t>Key Components:</a:t>
            </a:r>
          </a:p>
          <a:p>
            <a:r>
              <a:rPr lang="en-US" dirty="0"/>
              <a:t>data → dataset used for the plot</a:t>
            </a:r>
          </a:p>
          <a:p>
            <a:r>
              <a:rPr lang="en-US" dirty="0" err="1"/>
              <a:t>aes</a:t>
            </a:r>
            <a:r>
              <a:rPr lang="en-US" dirty="0"/>
              <a:t>() → aesthetic mappings (x, y, color, size)</a:t>
            </a:r>
          </a:p>
          <a:p>
            <a:r>
              <a:rPr lang="en-US" dirty="0" err="1"/>
              <a:t>geom</a:t>
            </a:r>
            <a:r>
              <a:rPr lang="en-US" dirty="0">
                <a:solidFill>
                  <a:srgbClr val="FF0000"/>
                </a:solidFill>
              </a:rPr>
              <a:t>*</a:t>
            </a:r>
            <a:r>
              <a:rPr lang="en-US" dirty="0"/>
              <a:t> → type of plot (points, lines, bars)</a:t>
            </a:r>
          </a:p>
          <a:p>
            <a:r>
              <a:rPr lang="en-US" dirty="0"/>
              <a:t>theme → controls the appearance of the plot</a:t>
            </a:r>
          </a:p>
          <a:p>
            <a:endParaRPr lang="en-US" dirty="0" err="1"/>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Scatter Plot in ggplot2</a:t>
            </a:r>
          </a:p>
        </p:txBody>
      </p:sp>
      <p:sp>
        <p:nvSpPr>
          <p:cNvPr id="3" name="Content Placeholder 2"/>
          <p:cNvSpPr>
            <a:spLocks noGrp="1"/>
          </p:cNvSpPr>
          <p:nvPr>
            <p:ph idx="1"/>
          </p:nvPr>
        </p:nvSpPr>
        <p:spPr>
          <a:xfrm>
            <a:off x="459685" y="1401417"/>
            <a:ext cx="7849428" cy="2932045"/>
          </a:xfrm>
        </p:spPr>
        <p:txBody>
          <a:bodyPr/>
          <a:lstStyle/>
          <a:p>
            <a:pPr marL="0" indent="0">
              <a:buNone/>
            </a:pPr>
            <a:r>
              <a:rPr lang="en-US" dirty="0">
                <a:solidFill>
                  <a:srgbClr val="00B0F0"/>
                </a:solidFill>
              </a:rPr>
              <a:t>install. packages(“ggplot2”)</a:t>
            </a:r>
          </a:p>
          <a:p>
            <a:pPr marL="0" indent="0">
              <a:buNone/>
            </a:pPr>
            <a:r>
              <a:rPr dirty="0">
                <a:solidFill>
                  <a:srgbClr val="00B0F0"/>
                </a:solidFill>
              </a:rPr>
              <a:t>library(ggplot2)</a:t>
            </a:r>
          </a:p>
          <a:p>
            <a:pPr marL="0" indent="0">
              <a:buNone/>
            </a:pPr>
            <a:endParaRPr dirty="0"/>
          </a:p>
          <a:p>
            <a:pPr marL="0" indent="0">
              <a:buNone/>
            </a:pPr>
            <a:r>
              <a:rPr sz="1600" dirty="0" err="1">
                <a:solidFill>
                  <a:srgbClr val="00B0F0"/>
                </a:solidFill>
              </a:rPr>
              <a:t>ggplot</a:t>
            </a:r>
            <a:r>
              <a:rPr sz="1600" dirty="0">
                <a:solidFill>
                  <a:srgbClr val="00B0F0"/>
                </a:solidFill>
              </a:rPr>
              <a:t>(V, </a:t>
            </a:r>
            <a:r>
              <a:rPr sz="1600" dirty="0" err="1">
                <a:solidFill>
                  <a:srgbClr val="00B0F0"/>
                </a:solidFill>
              </a:rPr>
              <a:t>aes</a:t>
            </a:r>
            <a:r>
              <a:rPr sz="1600" dirty="0">
                <a:solidFill>
                  <a:srgbClr val="00B0F0"/>
                </a:solidFill>
              </a:rPr>
              <a:t>(x = </a:t>
            </a:r>
            <a:r>
              <a:rPr sz="1600" dirty="0" err="1">
                <a:solidFill>
                  <a:srgbClr val="00B0F0"/>
                </a:solidFill>
              </a:rPr>
              <a:t>poverty_rate</a:t>
            </a:r>
            <a:r>
              <a:rPr sz="1600" dirty="0">
                <a:solidFill>
                  <a:srgbClr val="00B0F0"/>
                </a:solidFill>
              </a:rPr>
              <a:t>, y = </a:t>
            </a:r>
            <a:r>
              <a:rPr sz="1600" dirty="0" err="1">
                <a:solidFill>
                  <a:srgbClr val="00B0F0"/>
                </a:solidFill>
              </a:rPr>
              <a:t>tourism_rev_bil_vnd</a:t>
            </a:r>
            <a:r>
              <a:rPr sz="1600" dirty="0">
                <a:solidFill>
                  <a:srgbClr val="00B0F0"/>
                </a:solidFill>
              </a:rPr>
              <a:t>)) +</a:t>
            </a:r>
          </a:p>
          <a:p>
            <a:pPr marL="0" indent="0">
              <a:buNone/>
            </a:pPr>
            <a:r>
              <a:rPr sz="1600" dirty="0">
                <a:solidFill>
                  <a:srgbClr val="00B0F0"/>
                </a:solidFill>
              </a:rPr>
              <a:t>  </a:t>
            </a:r>
            <a:r>
              <a:rPr sz="1600" dirty="0" err="1">
                <a:solidFill>
                  <a:srgbClr val="00B0F0"/>
                </a:solidFill>
              </a:rPr>
              <a:t>geom_point</a:t>
            </a:r>
            <a:r>
              <a:rPr sz="1600" dirty="0">
                <a:solidFill>
                  <a:srgbClr val="00B0F0"/>
                </a:solidFill>
              </a:rPr>
              <a:t>() +</a:t>
            </a:r>
          </a:p>
          <a:p>
            <a:pPr marL="0" indent="0">
              <a:buNone/>
            </a:pPr>
            <a:r>
              <a:rPr sz="1600" dirty="0">
                <a:solidFill>
                  <a:srgbClr val="00B0F0"/>
                </a:solidFill>
              </a:rPr>
              <a:t>  labs(title = </a:t>
            </a:r>
            <a:r>
              <a:rPr lang="en-US" sz="1600" dirty="0">
                <a:solidFill>
                  <a:srgbClr val="00B0F0"/>
                </a:solidFill>
              </a:rPr>
              <a:t>"</a:t>
            </a:r>
            <a:r>
              <a:rPr sz="1600" dirty="0">
                <a:solidFill>
                  <a:srgbClr val="00B0F0"/>
                </a:solidFill>
              </a:rPr>
              <a:t>Tourism Revenue vs Poverty Rate</a:t>
            </a:r>
            <a:r>
              <a:rPr lang="en-US" sz="1600" dirty="0">
                <a:solidFill>
                  <a:srgbClr val="00B0F0"/>
                </a:solidFill>
              </a:rPr>
              <a:t>"</a:t>
            </a:r>
            <a:r>
              <a:rPr sz="1600" dirty="0">
                <a:solidFill>
                  <a:srgbClr val="00B0F0"/>
                </a:solidFill>
              </a:rPr>
              <a:t>)</a:t>
            </a:r>
          </a:p>
        </p:txBody>
      </p:sp>
      <p:pic>
        <p:nvPicPr>
          <p:cNvPr id="4" name="Picture 3">
            <a:extLst>
              <a:ext uri="{FF2B5EF4-FFF2-40B4-BE49-F238E27FC236}">
                <a16:creationId xmlns:a16="http://schemas.microsoft.com/office/drawing/2014/main" id="{43D5509D-05BA-2651-89BA-6D6D6B9F7F10}"/>
              </a:ext>
            </a:extLst>
          </p:cNvPr>
          <p:cNvPicPr>
            <a:picLocks noChangeAspect="1"/>
          </p:cNvPicPr>
          <p:nvPr/>
        </p:nvPicPr>
        <p:blipFill>
          <a:blip r:embed="rId3"/>
          <a:stretch>
            <a:fillRect/>
          </a:stretch>
        </p:blipFill>
        <p:spPr>
          <a:xfrm>
            <a:off x="6557341" y="2034925"/>
            <a:ext cx="2477328" cy="213951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Geoms</a:t>
            </a:r>
          </a:p>
        </p:txBody>
      </p:sp>
      <p:sp>
        <p:nvSpPr>
          <p:cNvPr id="3" name="Content Placeholder 2"/>
          <p:cNvSpPr>
            <a:spLocks noGrp="1"/>
          </p:cNvSpPr>
          <p:nvPr>
            <p:ph idx="1"/>
          </p:nvPr>
        </p:nvSpPr>
        <p:spPr>
          <a:xfrm>
            <a:off x="459685" y="924339"/>
            <a:ext cx="4112315" cy="3409123"/>
          </a:xfrm>
        </p:spPr>
        <p:txBody>
          <a:bodyPr/>
          <a:lstStyle/>
          <a:p>
            <a:pPr marL="0" indent="0">
              <a:buNone/>
            </a:pPr>
            <a:endParaRPr lang="en-US" dirty="0">
              <a:solidFill>
                <a:srgbClr val="00B0F0"/>
              </a:solidFill>
            </a:endParaRPr>
          </a:p>
          <a:p>
            <a:pPr marL="0" indent="0">
              <a:buNone/>
            </a:pPr>
            <a:r>
              <a:rPr lang="en-US" dirty="0" err="1">
                <a:solidFill>
                  <a:srgbClr val="00B0F0"/>
                </a:solidFill>
              </a:rPr>
              <a:t>ggplot</a:t>
            </a:r>
            <a:r>
              <a:rPr lang="en-US" dirty="0">
                <a:solidFill>
                  <a:srgbClr val="00B0F0"/>
                </a:solidFill>
              </a:rPr>
              <a:t>(data, </a:t>
            </a:r>
            <a:r>
              <a:rPr lang="en-US" dirty="0" err="1">
                <a:solidFill>
                  <a:srgbClr val="00B0F0"/>
                </a:solidFill>
              </a:rPr>
              <a:t>aes</a:t>
            </a:r>
            <a:r>
              <a:rPr lang="en-US" dirty="0">
                <a:solidFill>
                  <a:srgbClr val="00B0F0"/>
                </a:solidFill>
              </a:rPr>
              <a:t>(x, y)) +</a:t>
            </a:r>
          </a:p>
          <a:p>
            <a:pPr marL="0" indent="0">
              <a:buNone/>
            </a:pPr>
            <a:r>
              <a:rPr lang="en-US" dirty="0">
                <a:solidFill>
                  <a:srgbClr val="00B0F0"/>
                </a:solidFill>
              </a:rPr>
              <a:t>  </a:t>
            </a:r>
            <a:r>
              <a:rPr lang="en-US" dirty="0" err="1">
                <a:solidFill>
                  <a:srgbClr val="00B0F0"/>
                </a:solidFill>
              </a:rPr>
              <a:t>geom</a:t>
            </a:r>
            <a:r>
              <a:rPr lang="en-US" dirty="0">
                <a:solidFill>
                  <a:srgbClr val="00B0F0"/>
                </a:solidFill>
              </a:rPr>
              <a:t>_</a:t>
            </a:r>
            <a:r>
              <a:rPr lang="en-US" dirty="0">
                <a:solidFill>
                  <a:srgbClr val="FF0000"/>
                </a:solidFill>
              </a:rPr>
              <a:t>*</a:t>
            </a:r>
            <a:r>
              <a:rPr lang="en-US" dirty="0">
                <a:solidFill>
                  <a:srgbClr val="00B0F0"/>
                </a:solidFill>
              </a:rPr>
              <a:t>() +</a:t>
            </a:r>
          </a:p>
          <a:p>
            <a:pPr marL="0" indent="0">
              <a:buNone/>
            </a:pPr>
            <a:r>
              <a:rPr lang="en-US" dirty="0">
                <a:solidFill>
                  <a:srgbClr val="00B0F0"/>
                </a:solidFill>
              </a:rPr>
              <a:t> labs() +</a:t>
            </a:r>
          </a:p>
          <a:p>
            <a:pPr marL="0" indent="0">
              <a:buNone/>
            </a:pPr>
            <a:r>
              <a:rPr lang="en-US" dirty="0">
                <a:solidFill>
                  <a:srgbClr val="00B0F0"/>
                </a:solidFill>
              </a:rPr>
              <a:t> theme()</a:t>
            </a:r>
          </a:p>
        </p:txBody>
      </p:sp>
      <p:sp>
        <p:nvSpPr>
          <p:cNvPr id="4" name="Content Placeholder 2">
            <a:extLst>
              <a:ext uri="{FF2B5EF4-FFF2-40B4-BE49-F238E27FC236}">
                <a16:creationId xmlns:a16="http://schemas.microsoft.com/office/drawing/2014/main" id="{E82367EF-653C-1D4D-8DE6-191749F10FF1}"/>
              </a:ext>
            </a:extLst>
          </p:cNvPr>
          <p:cNvSpPr txBox="1">
            <a:spLocks/>
          </p:cNvSpPr>
          <p:nvPr/>
        </p:nvSpPr>
        <p:spPr>
          <a:xfrm>
            <a:off x="3498574" y="2017643"/>
            <a:ext cx="5128591" cy="2721537"/>
          </a:xfrm>
          <a:prstGeom prst="rect">
            <a:avLst/>
          </a:prstGeom>
        </p:spPr>
        <p:txBody>
          <a:bodyPr vert="horz" lIns="91440" tIns="45720" rIns="91440" bIns="45720" rtlCol="0">
            <a:noAutofit/>
          </a:bodyPr>
          <a:lstStyle>
            <a:lvl1pPr marL="233357" indent="-233357"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22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522275" indent="-227007" algn="l" defTabSz="640064" rtl="0" eaLnBrk="1" latinLnBrk="0" hangingPunct="1">
              <a:lnSpc>
                <a:spcPct val="100000"/>
              </a:lnSpc>
              <a:spcBef>
                <a:spcPts val="0"/>
              </a:spcBef>
              <a:spcAft>
                <a:spcPts val="600"/>
              </a:spcAft>
              <a:buClr>
                <a:schemeClr val="tx2"/>
              </a:buClr>
              <a:buSzPct val="100000"/>
              <a:buFont typeface=".AppleSystemUIFont" charset="0"/>
              <a:buChar char="-"/>
              <a:tabLst/>
              <a:defRPr lang="en-US" sz="20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2pPr>
            <a:lvl3pPr marL="746106" indent="-166684" algn="l" defTabSz="640064" rtl="0" eaLnBrk="1" latinLnBrk="0" hangingPunct="1">
              <a:lnSpc>
                <a:spcPct val="100000"/>
              </a:lnSpc>
              <a:spcBef>
                <a:spcPts val="0"/>
              </a:spcBef>
              <a:spcAft>
                <a:spcPts val="600"/>
              </a:spcAft>
              <a:buClr>
                <a:schemeClr val="accent1"/>
              </a:buClr>
              <a:buSzPct val="80000"/>
              <a:buFont typeface="Wingdings" charset="2"/>
              <a:buChar char="§"/>
              <a:tabLst/>
              <a:defRPr lang="en-US" sz="18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3pPr>
            <a:lvl4pPr marL="979463" indent="-173034" algn="l" defTabSz="640064" rtl="0" eaLnBrk="1" latinLnBrk="0" hangingPunct="1">
              <a:lnSpc>
                <a:spcPct val="100000"/>
              </a:lnSpc>
              <a:spcBef>
                <a:spcPts val="0"/>
              </a:spcBef>
              <a:spcAft>
                <a:spcPts val="600"/>
              </a:spcAft>
              <a:buClr>
                <a:schemeClr val="tx2"/>
              </a:buClr>
              <a:buSzPct val="100000"/>
              <a:buFont typeface=".AppleSystemUIFont" charset="0"/>
              <a:buChar char="-"/>
              <a:tabLst/>
              <a:defRPr lang="en-US" sz="16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4pPr>
            <a:lvl5pPr marL="1312830" indent="-227007" algn="l" defTabSz="640064" rtl="0" eaLnBrk="1" latinLnBrk="0" hangingPunct="1">
              <a:lnSpc>
                <a:spcPct val="200000"/>
              </a:lnSpc>
              <a:spcBef>
                <a:spcPts val="0"/>
              </a:spcBef>
              <a:buClr>
                <a:srgbClr val="18A3AC"/>
              </a:buClr>
              <a:buSzPct val="80000"/>
              <a:buFont typeface="Wingdings" charset="2"/>
              <a:buChar char="§"/>
              <a:defRPr lang="en-US" sz="2000" b="0" kern="1200" dirty="0">
                <a:solidFill>
                  <a:schemeClr val="tx1"/>
                </a:solidFill>
                <a:latin typeface="+mj-lt"/>
                <a:ea typeface="+mn-ea"/>
                <a:cs typeface="+mn-cs"/>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solidFill>
                  <a:srgbClr val="FF0000"/>
                </a:solidFill>
              </a:rPr>
              <a:t>* </a:t>
            </a:r>
            <a:r>
              <a:rPr lang="en-US" dirty="0" err="1"/>
              <a:t>geom_point</a:t>
            </a:r>
            <a:r>
              <a:rPr lang="en-US" dirty="0"/>
              <a:t>() → scatter plot</a:t>
            </a:r>
          </a:p>
          <a:p>
            <a:pPr marL="0" indent="0">
              <a:buNone/>
            </a:pPr>
            <a:r>
              <a:rPr lang="en-US" dirty="0">
                <a:solidFill>
                  <a:srgbClr val="FF0000"/>
                </a:solidFill>
              </a:rPr>
              <a:t>* </a:t>
            </a:r>
            <a:r>
              <a:rPr lang="en-US" dirty="0" err="1"/>
              <a:t>geom_line</a:t>
            </a:r>
            <a:r>
              <a:rPr lang="en-US" dirty="0"/>
              <a:t>() → line chart</a:t>
            </a:r>
          </a:p>
          <a:p>
            <a:pPr marL="0" indent="0">
              <a:buNone/>
            </a:pPr>
            <a:r>
              <a:rPr lang="en-US" dirty="0">
                <a:solidFill>
                  <a:srgbClr val="FF0000"/>
                </a:solidFill>
              </a:rPr>
              <a:t>* </a:t>
            </a:r>
            <a:r>
              <a:rPr lang="en-US" dirty="0" err="1"/>
              <a:t>geom_bar</a:t>
            </a:r>
            <a:r>
              <a:rPr lang="en-US" dirty="0"/>
              <a:t>() → bar chart</a:t>
            </a:r>
          </a:p>
          <a:p>
            <a:pPr marL="0" indent="0">
              <a:buNone/>
            </a:pPr>
            <a:r>
              <a:rPr lang="en-US" dirty="0">
                <a:solidFill>
                  <a:srgbClr val="FF0000"/>
                </a:solidFill>
              </a:rPr>
              <a:t>* </a:t>
            </a:r>
            <a:r>
              <a:rPr lang="en-US" dirty="0" err="1"/>
              <a:t>geom_histogram</a:t>
            </a:r>
            <a:r>
              <a:rPr lang="en-US" dirty="0"/>
              <a:t>() → histogram</a:t>
            </a:r>
          </a:p>
          <a:p>
            <a:pPr marL="0" indent="0">
              <a:buNone/>
            </a:pPr>
            <a:r>
              <a:rPr lang="en-US" dirty="0">
                <a:solidFill>
                  <a:srgbClr val="FF0000"/>
                </a:solidFill>
              </a:rPr>
              <a:t>* </a:t>
            </a:r>
            <a:r>
              <a:rPr lang="en-US" dirty="0" err="1"/>
              <a:t>geom_boxplot</a:t>
            </a:r>
            <a:r>
              <a:rPr lang="en-US" dirty="0"/>
              <a:t>() → boxplot</a:t>
            </a:r>
          </a:p>
          <a:p>
            <a:pPr marL="0" indent="0">
              <a:buNone/>
            </a:pPr>
            <a:r>
              <a:rPr lang="en-US" dirty="0">
                <a:solidFill>
                  <a:srgbClr val="FF0000"/>
                </a:solidFill>
              </a:rPr>
              <a:t>* </a:t>
            </a:r>
            <a:r>
              <a:rPr lang="en-US" dirty="0" err="1"/>
              <a:t>geom_sf</a:t>
            </a:r>
            <a:r>
              <a:rPr lang="en-US" dirty="0"/>
              <a:t>() → map</a:t>
            </a:r>
          </a:p>
          <a:p>
            <a:pPr marL="0" indent="0">
              <a:buNone/>
            </a:pPr>
            <a:endParaRPr lang="en-US" dirty="0"/>
          </a:p>
        </p:txBody>
      </p:sp>
      <p:cxnSp>
        <p:nvCxnSpPr>
          <p:cNvPr id="9" name="Straight Arrow Connector 8">
            <a:extLst>
              <a:ext uri="{FF2B5EF4-FFF2-40B4-BE49-F238E27FC236}">
                <a16:creationId xmlns:a16="http://schemas.microsoft.com/office/drawing/2014/main" id="{0C486551-BC3E-38D3-109C-593F5EAA8B5C}"/>
              </a:ext>
            </a:extLst>
          </p:cNvPr>
          <p:cNvCxnSpPr>
            <a:cxnSpLocks/>
          </p:cNvCxnSpPr>
          <p:nvPr/>
        </p:nvCxnSpPr>
        <p:spPr>
          <a:xfrm>
            <a:off x="1655064" y="2121408"/>
            <a:ext cx="1306797" cy="83796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CE5F0-316E-2FE7-6444-65DB4E39C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FC20B-2CB4-17CC-87C8-02A92AB5F7B5}"/>
              </a:ext>
            </a:extLst>
          </p:cNvPr>
          <p:cNvSpPr>
            <a:spLocks noGrp="1"/>
          </p:cNvSpPr>
          <p:nvPr>
            <p:ph type="title"/>
          </p:nvPr>
        </p:nvSpPr>
        <p:spPr/>
        <p:txBody>
          <a:bodyPr/>
          <a:lstStyle/>
          <a:p>
            <a:r>
              <a:rPr sz="3200" dirty="0"/>
              <a:t>Example: </a:t>
            </a:r>
            <a:r>
              <a:rPr lang="en-US" sz="3200" dirty="0"/>
              <a:t>Improved </a:t>
            </a:r>
            <a:r>
              <a:rPr sz="3200" dirty="0"/>
              <a:t>Scatter Plot in ggplot2</a:t>
            </a:r>
          </a:p>
        </p:txBody>
      </p:sp>
      <p:sp>
        <p:nvSpPr>
          <p:cNvPr id="3" name="Content Placeholder 2">
            <a:extLst>
              <a:ext uri="{FF2B5EF4-FFF2-40B4-BE49-F238E27FC236}">
                <a16:creationId xmlns:a16="http://schemas.microsoft.com/office/drawing/2014/main" id="{B8C0C1FA-690F-AA2E-CAE1-4F1A15AA4E9B}"/>
              </a:ext>
            </a:extLst>
          </p:cNvPr>
          <p:cNvSpPr>
            <a:spLocks noGrp="1"/>
          </p:cNvSpPr>
          <p:nvPr>
            <p:ph idx="1"/>
          </p:nvPr>
        </p:nvSpPr>
        <p:spPr>
          <a:xfrm>
            <a:off x="129209" y="1401417"/>
            <a:ext cx="6927573" cy="2932045"/>
          </a:xfrm>
        </p:spPr>
        <p:txBody>
          <a:bodyPr/>
          <a:lstStyle/>
          <a:p>
            <a:pPr marL="0" indent="0">
              <a:buNone/>
            </a:pPr>
            <a:r>
              <a:rPr lang="en-US" sz="1400" dirty="0" err="1">
                <a:solidFill>
                  <a:srgbClr val="00B0F0"/>
                </a:solidFill>
              </a:rPr>
              <a:t>ggplot</a:t>
            </a:r>
            <a:r>
              <a:rPr lang="en-US" sz="1400" dirty="0">
                <a:solidFill>
                  <a:srgbClr val="00B0F0"/>
                </a:solidFill>
              </a:rPr>
              <a:t>(V, </a:t>
            </a:r>
            <a:r>
              <a:rPr lang="en-US" sz="1400" dirty="0" err="1">
                <a:solidFill>
                  <a:srgbClr val="00B0F0"/>
                </a:solidFill>
              </a:rPr>
              <a:t>aes</a:t>
            </a:r>
            <a:r>
              <a:rPr lang="en-US" sz="1400" dirty="0">
                <a:solidFill>
                  <a:srgbClr val="00B0F0"/>
                </a:solidFill>
              </a:rPr>
              <a:t>(x = </a:t>
            </a:r>
            <a:r>
              <a:rPr lang="en-US" sz="1400" dirty="0" err="1">
                <a:solidFill>
                  <a:srgbClr val="00B0F0"/>
                </a:solidFill>
              </a:rPr>
              <a:t>poverty_rate</a:t>
            </a:r>
            <a:r>
              <a:rPr lang="en-US" sz="1400" dirty="0">
                <a:solidFill>
                  <a:srgbClr val="00B0F0"/>
                </a:solidFill>
              </a:rPr>
              <a:t>, y = </a:t>
            </a:r>
            <a:r>
              <a:rPr lang="en-US" sz="1400" dirty="0" err="1">
                <a:solidFill>
                  <a:srgbClr val="00B0F0"/>
                </a:solidFill>
              </a:rPr>
              <a:t>tourism_rev_bil_vnd</a:t>
            </a:r>
            <a:r>
              <a:rPr lang="en-US" sz="1400" dirty="0">
                <a:solidFill>
                  <a:srgbClr val="00B0F0"/>
                </a:solidFill>
              </a:rPr>
              <a:t>)) +</a:t>
            </a:r>
          </a:p>
          <a:p>
            <a:pPr marL="0" indent="0">
              <a:buNone/>
            </a:pPr>
            <a:r>
              <a:rPr lang="en-US" sz="1400" dirty="0">
                <a:solidFill>
                  <a:srgbClr val="00B0F0"/>
                </a:solidFill>
              </a:rPr>
              <a:t>  </a:t>
            </a:r>
            <a:r>
              <a:rPr lang="en-US" sz="1400" dirty="0" err="1">
                <a:solidFill>
                  <a:srgbClr val="00B0F0"/>
                </a:solidFill>
              </a:rPr>
              <a:t>geom_point</a:t>
            </a:r>
            <a:r>
              <a:rPr lang="en-US" sz="1400" dirty="0">
                <a:solidFill>
                  <a:srgbClr val="00B0F0"/>
                </a:solidFill>
              </a:rPr>
              <a:t>(color = "</a:t>
            </a:r>
            <a:r>
              <a:rPr lang="en-US" sz="1400" dirty="0" err="1">
                <a:solidFill>
                  <a:srgbClr val="00B0F0"/>
                </a:solidFill>
              </a:rPr>
              <a:t>steelblue</a:t>
            </a:r>
            <a:r>
              <a:rPr lang="en-US" sz="1400" dirty="0">
                <a:solidFill>
                  <a:srgbClr val="00B0F0"/>
                </a:solidFill>
              </a:rPr>
              <a:t>", size = 3, alpha = 0.8) +</a:t>
            </a:r>
          </a:p>
          <a:p>
            <a:pPr marL="0" indent="0">
              <a:buNone/>
            </a:pPr>
            <a:r>
              <a:rPr lang="en-US" sz="1400" dirty="0">
                <a:solidFill>
                  <a:srgbClr val="00B0F0"/>
                </a:solidFill>
              </a:rPr>
              <a:t>  </a:t>
            </a:r>
            <a:r>
              <a:rPr lang="en-US" sz="1400" dirty="0" err="1">
                <a:solidFill>
                  <a:srgbClr val="00B0F0"/>
                </a:solidFill>
              </a:rPr>
              <a:t>geom_smooth</a:t>
            </a:r>
            <a:r>
              <a:rPr lang="en-US" sz="1400" dirty="0">
                <a:solidFill>
                  <a:srgbClr val="00B0F0"/>
                </a:solidFill>
              </a:rPr>
              <a:t>(method = "</a:t>
            </a:r>
            <a:r>
              <a:rPr lang="en-US" sz="1400" dirty="0" err="1">
                <a:solidFill>
                  <a:srgbClr val="00B0F0"/>
                </a:solidFill>
              </a:rPr>
              <a:t>lm</a:t>
            </a:r>
            <a:r>
              <a:rPr lang="en-US" sz="1400" dirty="0">
                <a:solidFill>
                  <a:srgbClr val="00B0F0"/>
                </a:solidFill>
              </a:rPr>
              <a:t>", se = FALSE, color = "red", linewidth = 1) +</a:t>
            </a:r>
          </a:p>
          <a:p>
            <a:pPr marL="0" indent="0">
              <a:buNone/>
            </a:pPr>
            <a:r>
              <a:rPr lang="en-US" sz="1400" dirty="0">
                <a:solidFill>
                  <a:srgbClr val="00B0F0"/>
                </a:solidFill>
              </a:rPr>
              <a:t>  labs(</a:t>
            </a:r>
          </a:p>
          <a:p>
            <a:pPr marL="0" indent="0">
              <a:buNone/>
            </a:pPr>
            <a:r>
              <a:rPr lang="en-US" sz="1400" dirty="0">
                <a:solidFill>
                  <a:srgbClr val="00B0F0"/>
                </a:solidFill>
              </a:rPr>
              <a:t>    title = "Tourism Revenue and Poverty Rate by Province",</a:t>
            </a:r>
          </a:p>
          <a:p>
            <a:pPr marL="0" indent="0">
              <a:buNone/>
            </a:pPr>
            <a:r>
              <a:rPr lang="en-US" sz="1400" dirty="0">
                <a:solidFill>
                  <a:srgbClr val="00B0F0"/>
                </a:solidFill>
              </a:rPr>
              <a:t>    x = "Poverty Rate (%)",</a:t>
            </a:r>
          </a:p>
          <a:p>
            <a:pPr marL="0" indent="0">
              <a:buNone/>
            </a:pPr>
            <a:r>
              <a:rPr lang="en-US" sz="1400" dirty="0">
                <a:solidFill>
                  <a:srgbClr val="00B0F0"/>
                </a:solidFill>
              </a:rPr>
              <a:t>    y = "Tourism Revenue (Billion VND)"</a:t>
            </a:r>
          </a:p>
          <a:p>
            <a:pPr marL="0" indent="0">
              <a:buNone/>
            </a:pPr>
            <a:r>
              <a:rPr lang="en-US" sz="1400" dirty="0">
                <a:solidFill>
                  <a:srgbClr val="00B0F0"/>
                </a:solidFill>
              </a:rPr>
              <a:t>  ) +</a:t>
            </a:r>
          </a:p>
          <a:p>
            <a:pPr marL="0" indent="0">
              <a:buNone/>
            </a:pPr>
            <a:r>
              <a:rPr lang="en-US" sz="1400" dirty="0">
                <a:solidFill>
                  <a:srgbClr val="00B0F0"/>
                </a:solidFill>
              </a:rPr>
              <a:t>  </a:t>
            </a:r>
            <a:r>
              <a:rPr lang="en-US" sz="1400" dirty="0" err="1">
                <a:solidFill>
                  <a:srgbClr val="00B0F0"/>
                </a:solidFill>
              </a:rPr>
              <a:t>theme_minimal</a:t>
            </a:r>
            <a:r>
              <a:rPr lang="en-US" sz="1400" dirty="0">
                <a:solidFill>
                  <a:srgbClr val="00B0F0"/>
                </a:solidFill>
              </a:rPr>
              <a:t>()</a:t>
            </a:r>
            <a:endParaRPr sz="1050" dirty="0">
              <a:solidFill>
                <a:srgbClr val="00B0F0"/>
              </a:solidFill>
            </a:endParaRPr>
          </a:p>
        </p:txBody>
      </p:sp>
      <p:sp>
        <p:nvSpPr>
          <p:cNvPr id="6" name="TextBox 5">
            <a:extLst>
              <a:ext uri="{FF2B5EF4-FFF2-40B4-BE49-F238E27FC236}">
                <a16:creationId xmlns:a16="http://schemas.microsoft.com/office/drawing/2014/main" id="{414894FD-DAB7-1FAE-0EB8-C66B1592CDA8}"/>
              </a:ext>
            </a:extLst>
          </p:cNvPr>
          <p:cNvSpPr txBox="1"/>
          <p:nvPr/>
        </p:nvSpPr>
        <p:spPr bwMode="auto">
          <a:xfrm>
            <a:off x="208229" y="4257765"/>
            <a:ext cx="3965713" cy="276999"/>
          </a:xfrm>
          <a:prstGeom prst="rect">
            <a:avLst/>
          </a:prstGeom>
          <a:noFill/>
          <a:ln w="19050" algn="ctr">
            <a:noFill/>
            <a:miter lim="800000"/>
            <a:headEnd/>
            <a:tailEnd/>
          </a:ln>
        </p:spPr>
        <p:txBody>
          <a:bodyPr wrap="square">
            <a:spAutoFit/>
          </a:bodyPr>
          <a:lstStyle/>
          <a:p>
            <a:r>
              <a:rPr lang="en-US" sz="1200" dirty="0">
                <a:solidFill>
                  <a:srgbClr val="00B050"/>
                </a:solidFill>
              </a:rPr>
              <a:t># Apply a clean, minimal theme to the plot</a:t>
            </a:r>
          </a:p>
        </p:txBody>
      </p:sp>
      <p:sp>
        <p:nvSpPr>
          <p:cNvPr id="8" name="TextBox 7">
            <a:extLst>
              <a:ext uri="{FF2B5EF4-FFF2-40B4-BE49-F238E27FC236}">
                <a16:creationId xmlns:a16="http://schemas.microsoft.com/office/drawing/2014/main" id="{0CC8C9CD-F847-06E6-2C33-2A6B6605C941}"/>
              </a:ext>
            </a:extLst>
          </p:cNvPr>
          <p:cNvSpPr txBox="1"/>
          <p:nvPr/>
        </p:nvSpPr>
        <p:spPr bwMode="auto">
          <a:xfrm>
            <a:off x="5598367" y="1092736"/>
            <a:ext cx="3420684" cy="553998"/>
          </a:xfrm>
          <a:prstGeom prst="rect">
            <a:avLst/>
          </a:prstGeom>
          <a:noFill/>
          <a:ln w="19050" algn="ctr">
            <a:noFill/>
            <a:miter lim="800000"/>
            <a:headEnd/>
            <a:tailEnd/>
          </a:ln>
        </p:spPr>
        <p:txBody>
          <a:bodyPr wrap="square" lIns="0" tIns="0" rIns="0" bIns="0" rtlCol="0">
            <a:spAutoFit/>
          </a:bodyPr>
          <a:lstStyle/>
          <a:p>
            <a:r>
              <a:rPr lang="en-US" sz="1200" dirty="0">
                <a:solidFill>
                  <a:srgbClr val="00B050"/>
                </a:solidFill>
              </a:rPr>
              <a:t># Create a </a:t>
            </a:r>
            <a:r>
              <a:rPr lang="en-US" sz="1200" dirty="0" err="1">
                <a:solidFill>
                  <a:srgbClr val="00B050"/>
                </a:solidFill>
              </a:rPr>
              <a:t>ggplot</a:t>
            </a:r>
            <a:r>
              <a:rPr lang="en-US" sz="1200" dirty="0">
                <a:solidFill>
                  <a:srgbClr val="00B050"/>
                </a:solidFill>
              </a:rPr>
              <a:t> using dataset V and map variables to axes</a:t>
            </a:r>
          </a:p>
          <a:p>
            <a:endParaRPr lang="en-US" sz="1200" dirty="0" err="1">
              <a:solidFill>
                <a:srgbClr val="00B050"/>
              </a:solidFill>
            </a:endParaRPr>
          </a:p>
        </p:txBody>
      </p:sp>
      <p:sp>
        <p:nvSpPr>
          <p:cNvPr id="9" name="TextBox 8">
            <a:extLst>
              <a:ext uri="{FF2B5EF4-FFF2-40B4-BE49-F238E27FC236}">
                <a16:creationId xmlns:a16="http://schemas.microsoft.com/office/drawing/2014/main" id="{1F5E64A9-2C46-5C0D-754A-355EB6922C13}"/>
              </a:ext>
            </a:extLst>
          </p:cNvPr>
          <p:cNvSpPr txBox="1"/>
          <p:nvPr/>
        </p:nvSpPr>
        <p:spPr bwMode="auto">
          <a:xfrm>
            <a:off x="6102289" y="1655805"/>
            <a:ext cx="2985353" cy="369332"/>
          </a:xfrm>
          <a:prstGeom prst="rect">
            <a:avLst/>
          </a:prstGeom>
          <a:noFill/>
          <a:ln w="19050" algn="ctr">
            <a:noFill/>
            <a:miter lim="800000"/>
            <a:headEnd/>
            <a:tailEnd/>
          </a:ln>
        </p:spPr>
        <p:txBody>
          <a:bodyPr wrap="square" lIns="0" tIns="0" rIns="0" bIns="0" rtlCol="0">
            <a:spAutoFit/>
          </a:bodyPr>
          <a:lstStyle/>
          <a:p>
            <a:r>
              <a:rPr lang="en-US" sz="1200" dirty="0">
                <a:solidFill>
                  <a:srgbClr val="00B050"/>
                </a:solidFill>
              </a:rPr>
              <a:t># Add scatter plot points (one point per province)</a:t>
            </a:r>
          </a:p>
        </p:txBody>
      </p:sp>
      <p:sp>
        <p:nvSpPr>
          <p:cNvPr id="10" name="TextBox 9">
            <a:extLst>
              <a:ext uri="{FF2B5EF4-FFF2-40B4-BE49-F238E27FC236}">
                <a16:creationId xmlns:a16="http://schemas.microsoft.com/office/drawing/2014/main" id="{D964C817-9389-F2A6-51AA-44275D960EA1}"/>
              </a:ext>
            </a:extLst>
          </p:cNvPr>
          <p:cNvSpPr txBox="1"/>
          <p:nvPr/>
        </p:nvSpPr>
        <p:spPr bwMode="auto">
          <a:xfrm>
            <a:off x="5495732" y="2523613"/>
            <a:ext cx="3131434" cy="369332"/>
          </a:xfrm>
          <a:prstGeom prst="rect">
            <a:avLst/>
          </a:prstGeom>
          <a:noFill/>
          <a:ln w="19050" algn="ctr">
            <a:noFill/>
            <a:miter lim="800000"/>
            <a:headEnd/>
            <a:tailEnd/>
          </a:ln>
        </p:spPr>
        <p:txBody>
          <a:bodyPr wrap="square" lIns="0" tIns="0" rIns="0" bIns="0" rtlCol="0">
            <a:spAutoFit/>
          </a:bodyPr>
          <a:lstStyle/>
          <a:p>
            <a:r>
              <a:rPr lang="en-US" sz="1200" dirty="0">
                <a:solidFill>
                  <a:srgbClr val="00B050"/>
                </a:solidFill>
              </a:rPr>
              <a:t># Add linear regression trend line</a:t>
            </a:r>
          </a:p>
          <a:p>
            <a:r>
              <a:rPr lang="en-US" sz="1200" dirty="0">
                <a:solidFill>
                  <a:srgbClr val="00B050"/>
                </a:solidFill>
              </a:rPr>
              <a:t># se = FALSE removes confidence band</a:t>
            </a:r>
          </a:p>
        </p:txBody>
      </p:sp>
      <p:cxnSp>
        <p:nvCxnSpPr>
          <p:cNvPr id="12" name="Straight Arrow Connector 11">
            <a:extLst>
              <a:ext uri="{FF2B5EF4-FFF2-40B4-BE49-F238E27FC236}">
                <a16:creationId xmlns:a16="http://schemas.microsoft.com/office/drawing/2014/main" id="{73EBD25B-F5F9-6ADA-03FD-FBE6EEB9A8D0}"/>
              </a:ext>
            </a:extLst>
          </p:cNvPr>
          <p:cNvCxnSpPr>
            <a:cxnSpLocks/>
          </p:cNvCxnSpPr>
          <p:nvPr/>
        </p:nvCxnSpPr>
        <p:spPr>
          <a:xfrm flipV="1">
            <a:off x="4954555" y="1369735"/>
            <a:ext cx="541176" cy="188477"/>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11F15C7-C4F6-454E-C35B-D55A542599A7}"/>
              </a:ext>
            </a:extLst>
          </p:cNvPr>
          <p:cNvCxnSpPr>
            <a:cxnSpLocks/>
          </p:cNvCxnSpPr>
          <p:nvPr/>
        </p:nvCxnSpPr>
        <p:spPr>
          <a:xfrm>
            <a:off x="4766892" y="1844282"/>
            <a:ext cx="1213523"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538A970-C8E5-065B-7772-2A26D487AC40}"/>
              </a:ext>
            </a:extLst>
          </p:cNvPr>
          <p:cNvCxnSpPr>
            <a:cxnSpLocks/>
          </p:cNvCxnSpPr>
          <p:nvPr/>
        </p:nvCxnSpPr>
        <p:spPr>
          <a:xfrm>
            <a:off x="5840963" y="2286002"/>
            <a:ext cx="261326" cy="14922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5D39C21-E0C0-0D28-55CB-D2043B5A656D}"/>
              </a:ext>
            </a:extLst>
          </p:cNvPr>
          <p:cNvCxnSpPr>
            <a:cxnSpLocks/>
          </p:cNvCxnSpPr>
          <p:nvPr/>
        </p:nvCxnSpPr>
        <p:spPr>
          <a:xfrm>
            <a:off x="1700230" y="3930856"/>
            <a:ext cx="135736" cy="32690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835DA29-C578-4E51-4503-C7240808213A}"/>
              </a:ext>
            </a:extLst>
          </p:cNvPr>
          <p:cNvCxnSpPr>
            <a:cxnSpLocks/>
          </p:cNvCxnSpPr>
          <p:nvPr/>
        </p:nvCxnSpPr>
        <p:spPr>
          <a:xfrm>
            <a:off x="854254" y="2444553"/>
            <a:ext cx="981712"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8E282D8-46B8-54F7-4EA5-F07ED3E0654A}"/>
              </a:ext>
            </a:extLst>
          </p:cNvPr>
          <p:cNvSpPr txBox="1"/>
          <p:nvPr/>
        </p:nvSpPr>
        <p:spPr bwMode="auto">
          <a:xfrm>
            <a:off x="1948159" y="2355981"/>
            <a:ext cx="825547" cy="184666"/>
          </a:xfrm>
          <a:prstGeom prst="rect">
            <a:avLst/>
          </a:prstGeom>
          <a:noFill/>
          <a:ln w="19050" algn="ctr">
            <a:noFill/>
            <a:miter lim="800000"/>
            <a:headEnd/>
            <a:tailEnd/>
          </a:ln>
        </p:spPr>
        <p:txBody>
          <a:bodyPr wrap="none" lIns="0" tIns="0" rIns="0" bIns="0" rtlCol="0">
            <a:spAutoFit/>
          </a:bodyPr>
          <a:lstStyle/>
          <a:p>
            <a:r>
              <a:rPr lang="en-US" sz="1200" dirty="0">
                <a:solidFill>
                  <a:srgbClr val="00B050"/>
                </a:solidFill>
              </a:rPr>
              <a:t># add labels</a:t>
            </a:r>
            <a:endParaRPr lang="en-US" sz="1200" dirty="0"/>
          </a:p>
        </p:txBody>
      </p:sp>
      <p:pic>
        <p:nvPicPr>
          <p:cNvPr id="24" name="Picture 23">
            <a:extLst>
              <a:ext uri="{FF2B5EF4-FFF2-40B4-BE49-F238E27FC236}">
                <a16:creationId xmlns:a16="http://schemas.microsoft.com/office/drawing/2014/main" id="{DA35AF0D-9089-B568-DAB7-EE28CC144A90}"/>
              </a:ext>
            </a:extLst>
          </p:cNvPr>
          <p:cNvPicPr>
            <a:picLocks noChangeAspect="1"/>
          </p:cNvPicPr>
          <p:nvPr/>
        </p:nvPicPr>
        <p:blipFill>
          <a:blip r:embed="rId3"/>
          <a:stretch>
            <a:fillRect/>
          </a:stretch>
        </p:blipFill>
        <p:spPr>
          <a:xfrm>
            <a:off x="6443600" y="3077229"/>
            <a:ext cx="1812004" cy="1579440"/>
          </a:xfrm>
          <a:prstGeom prst="rect">
            <a:avLst/>
          </a:prstGeom>
        </p:spPr>
      </p:pic>
      <p:pic>
        <p:nvPicPr>
          <p:cNvPr id="25" name="Picture 24">
            <a:extLst>
              <a:ext uri="{FF2B5EF4-FFF2-40B4-BE49-F238E27FC236}">
                <a16:creationId xmlns:a16="http://schemas.microsoft.com/office/drawing/2014/main" id="{7C8AB3D2-DD61-F40A-5759-2B202D532E83}"/>
              </a:ext>
            </a:extLst>
          </p:cNvPr>
          <p:cNvPicPr>
            <a:picLocks noChangeAspect="1"/>
          </p:cNvPicPr>
          <p:nvPr/>
        </p:nvPicPr>
        <p:blipFill>
          <a:blip r:embed="rId4"/>
          <a:stretch>
            <a:fillRect/>
          </a:stretch>
        </p:blipFill>
        <p:spPr>
          <a:xfrm>
            <a:off x="3786362" y="3077229"/>
            <a:ext cx="1812005" cy="1564914"/>
          </a:xfrm>
          <a:prstGeom prst="rect">
            <a:avLst/>
          </a:prstGeom>
        </p:spPr>
      </p:pic>
      <p:sp>
        <p:nvSpPr>
          <p:cNvPr id="27" name="Right Arrow 26">
            <a:extLst>
              <a:ext uri="{FF2B5EF4-FFF2-40B4-BE49-F238E27FC236}">
                <a16:creationId xmlns:a16="http://schemas.microsoft.com/office/drawing/2014/main" id="{25DB294C-A1D9-7052-E476-E9EF25D36F47}"/>
              </a:ext>
            </a:extLst>
          </p:cNvPr>
          <p:cNvSpPr/>
          <p:nvPr/>
        </p:nvSpPr>
        <p:spPr bwMode="auto">
          <a:xfrm>
            <a:off x="5702119" y="3391421"/>
            <a:ext cx="556591" cy="745435"/>
          </a:xfrm>
          <a:prstGeom prst="rightArrow">
            <a:avLst/>
          </a:prstGeom>
          <a:solidFill>
            <a:schemeClr val="accent2"/>
          </a:solidFill>
          <a:ln w="19050" algn="ctr">
            <a:noFill/>
            <a:miter lim="800000"/>
            <a:headEnd/>
            <a:tailEnd/>
          </a:ln>
        </p:spPr>
        <p:txBody>
          <a:bodyPr wrap="none" rtlCol="0" anchor="ctr"/>
          <a:lstStyle/>
          <a:p>
            <a:pPr algn="ctr">
              <a:lnSpc>
                <a:spcPct val="90000"/>
              </a:lnSpc>
            </a:pPr>
            <a:endParaRPr lang="en-US" sz="1600" b="1" dirty="0" err="1">
              <a:solidFill>
                <a:schemeClr val="bg1"/>
              </a:solidFill>
              <a:latin typeface="+mj-lt"/>
            </a:endParaRPr>
          </a:p>
        </p:txBody>
      </p:sp>
    </p:spTree>
    <p:extLst>
      <p:ext uri="{BB962C8B-B14F-4D97-AF65-F5344CB8AC3E}">
        <p14:creationId xmlns:p14="http://schemas.microsoft.com/office/powerpoint/2010/main" val="2002274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2BED-C6BB-6827-AE5B-304371E1F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AF4E3-C2A4-3748-38EC-3131719DB434}"/>
              </a:ext>
            </a:extLst>
          </p:cNvPr>
          <p:cNvSpPr>
            <a:spLocks noGrp="1"/>
          </p:cNvSpPr>
          <p:nvPr>
            <p:ph type="title"/>
          </p:nvPr>
        </p:nvSpPr>
        <p:spPr>
          <a:xfrm>
            <a:off x="453585" y="318751"/>
            <a:ext cx="8173580" cy="458587"/>
          </a:xfrm>
        </p:spPr>
        <p:txBody>
          <a:bodyPr/>
          <a:lstStyle/>
          <a:p>
            <a:r>
              <a:rPr lang="en-US" sz="2400" dirty="0">
                <a:solidFill>
                  <a:srgbClr val="FF0000"/>
                </a:solidFill>
              </a:rPr>
              <a:t>PRACTICE 1</a:t>
            </a:r>
            <a:r>
              <a:rPr lang="en-US" sz="2400" dirty="0"/>
              <a:t> - Using the dataset V, create a simple bar chart that shows the number of provinces in each region</a:t>
            </a:r>
          </a:p>
        </p:txBody>
      </p:sp>
      <p:sp>
        <p:nvSpPr>
          <p:cNvPr id="11" name="Content Placeholder 10">
            <a:extLst>
              <a:ext uri="{FF2B5EF4-FFF2-40B4-BE49-F238E27FC236}">
                <a16:creationId xmlns:a16="http://schemas.microsoft.com/office/drawing/2014/main" id="{DB6903DF-DDC8-284C-81E0-318B7C9B5A6C}"/>
              </a:ext>
            </a:extLst>
          </p:cNvPr>
          <p:cNvSpPr>
            <a:spLocks noGrp="1"/>
          </p:cNvSpPr>
          <p:nvPr>
            <p:ph idx="1"/>
          </p:nvPr>
        </p:nvSpPr>
        <p:spPr>
          <a:xfrm>
            <a:off x="3041373" y="1353833"/>
            <a:ext cx="5431047" cy="1779103"/>
          </a:xfrm>
        </p:spPr>
        <p:txBody>
          <a:bodyPr/>
          <a:lstStyle/>
          <a:p>
            <a:pPr marL="0" indent="0">
              <a:buNone/>
            </a:pPr>
            <a:r>
              <a:rPr lang="en-US" sz="1600" dirty="0">
                <a:solidFill>
                  <a:srgbClr val="178CCB"/>
                </a:solidFill>
              </a:rPr>
              <a:t>library(ggplot2)</a:t>
            </a:r>
          </a:p>
          <a:p>
            <a:pPr marL="0" indent="0">
              <a:buNone/>
            </a:pPr>
            <a:r>
              <a:rPr lang="en-US" sz="1600" dirty="0" err="1">
                <a:solidFill>
                  <a:srgbClr val="178CCB"/>
                </a:solidFill>
              </a:rPr>
              <a:t>ggplot</a:t>
            </a:r>
            <a:r>
              <a:rPr lang="en-US" sz="1600" dirty="0">
                <a:solidFill>
                  <a:srgbClr val="178CCB"/>
                </a:solidFill>
              </a:rPr>
              <a:t>(V, </a:t>
            </a:r>
            <a:r>
              <a:rPr lang="en-US" sz="1600" dirty="0" err="1">
                <a:solidFill>
                  <a:srgbClr val="178CCB"/>
                </a:solidFill>
              </a:rPr>
              <a:t>aes</a:t>
            </a:r>
            <a:r>
              <a:rPr lang="en-US" sz="1600" dirty="0">
                <a:solidFill>
                  <a:srgbClr val="178CCB"/>
                </a:solidFill>
              </a:rPr>
              <a:t>(x = region)) +</a:t>
            </a:r>
          </a:p>
          <a:p>
            <a:pPr marL="0" indent="0">
              <a:buNone/>
            </a:pPr>
            <a:r>
              <a:rPr lang="en-US" sz="1600" dirty="0">
                <a:solidFill>
                  <a:srgbClr val="178CCB"/>
                </a:solidFill>
              </a:rPr>
              <a:t>  </a:t>
            </a:r>
            <a:r>
              <a:rPr lang="en-US" sz="1600" dirty="0" err="1">
                <a:solidFill>
                  <a:srgbClr val="178CCB"/>
                </a:solidFill>
              </a:rPr>
              <a:t>geom_bar</a:t>
            </a:r>
            <a:r>
              <a:rPr lang="en-US" sz="1600" dirty="0">
                <a:solidFill>
                  <a:srgbClr val="178CCB"/>
                </a:solidFill>
              </a:rPr>
              <a:t>() +</a:t>
            </a:r>
          </a:p>
          <a:p>
            <a:pPr marL="0" indent="0">
              <a:buNone/>
            </a:pPr>
            <a:r>
              <a:rPr lang="en-US" sz="1600" dirty="0">
                <a:solidFill>
                  <a:srgbClr val="178CCB"/>
                </a:solidFill>
              </a:rPr>
              <a:t>  labs(</a:t>
            </a:r>
          </a:p>
          <a:p>
            <a:pPr marL="0" indent="0">
              <a:buNone/>
            </a:pPr>
            <a:r>
              <a:rPr lang="en-US" sz="1600" dirty="0">
                <a:solidFill>
                  <a:srgbClr val="178CCB"/>
                </a:solidFill>
              </a:rPr>
              <a:t>    title = "Number of Provinces by Region",</a:t>
            </a:r>
          </a:p>
          <a:p>
            <a:pPr marL="0" indent="0">
              <a:buNone/>
            </a:pPr>
            <a:r>
              <a:rPr lang="en-US" sz="1600" dirty="0">
                <a:solidFill>
                  <a:srgbClr val="178CCB"/>
                </a:solidFill>
              </a:rPr>
              <a:t>    x = "Region",</a:t>
            </a:r>
          </a:p>
          <a:p>
            <a:pPr marL="0" indent="0">
              <a:buNone/>
            </a:pPr>
            <a:r>
              <a:rPr lang="en-US" sz="1600" dirty="0">
                <a:solidFill>
                  <a:srgbClr val="178CCB"/>
                </a:solidFill>
              </a:rPr>
              <a:t>    y = "Count"</a:t>
            </a:r>
          </a:p>
          <a:p>
            <a:pPr marL="0" indent="0">
              <a:buNone/>
            </a:pPr>
            <a:r>
              <a:rPr lang="en-US" sz="1600" dirty="0">
                <a:solidFill>
                  <a:srgbClr val="178CCB"/>
                </a:solidFill>
              </a:rPr>
              <a:t>  ) +</a:t>
            </a:r>
          </a:p>
          <a:p>
            <a:pPr marL="0" indent="0">
              <a:buNone/>
            </a:pPr>
            <a:r>
              <a:rPr lang="en-US" sz="1600" dirty="0">
                <a:solidFill>
                  <a:srgbClr val="178CCB"/>
                </a:solidFill>
              </a:rPr>
              <a:t>  </a:t>
            </a:r>
            <a:r>
              <a:rPr lang="en-US" sz="1600" dirty="0" err="1">
                <a:solidFill>
                  <a:srgbClr val="178CCB"/>
                </a:solidFill>
              </a:rPr>
              <a:t>theme_minimal</a:t>
            </a:r>
            <a:r>
              <a:rPr lang="en-US" sz="1600" dirty="0">
                <a:solidFill>
                  <a:srgbClr val="178CCB"/>
                </a:solidFill>
              </a:rPr>
              <a:t>()</a:t>
            </a:r>
          </a:p>
        </p:txBody>
      </p:sp>
      <p:pic>
        <p:nvPicPr>
          <p:cNvPr id="12" name="Picture 11">
            <a:extLst>
              <a:ext uri="{FF2B5EF4-FFF2-40B4-BE49-F238E27FC236}">
                <a16:creationId xmlns:a16="http://schemas.microsoft.com/office/drawing/2014/main" id="{3C365CC0-B526-AB87-8113-E07D72CC32A6}"/>
              </a:ext>
            </a:extLst>
          </p:cNvPr>
          <p:cNvPicPr>
            <a:picLocks noChangeAspect="1"/>
          </p:cNvPicPr>
          <p:nvPr/>
        </p:nvPicPr>
        <p:blipFill>
          <a:blip r:embed="rId3"/>
          <a:stretch>
            <a:fillRect/>
          </a:stretch>
        </p:blipFill>
        <p:spPr>
          <a:xfrm>
            <a:off x="6345756" y="2987762"/>
            <a:ext cx="2523459" cy="1578211"/>
          </a:xfrm>
          <a:prstGeom prst="rect">
            <a:avLst/>
          </a:prstGeom>
        </p:spPr>
      </p:pic>
      <p:pic>
        <p:nvPicPr>
          <p:cNvPr id="13" name="Picture 12">
            <a:extLst>
              <a:ext uri="{FF2B5EF4-FFF2-40B4-BE49-F238E27FC236}">
                <a16:creationId xmlns:a16="http://schemas.microsoft.com/office/drawing/2014/main" id="{E48E7E01-9ECF-F791-E8AC-BF72083455AD}"/>
              </a:ext>
            </a:extLst>
          </p:cNvPr>
          <p:cNvPicPr>
            <a:picLocks noChangeAspect="1"/>
          </p:cNvPicPr>
          <p:nvPr/>
        </p:nvPicPr>
        <p:blipFill>
          <a:blip r:embed="rId4"/>
          <a:stretch>
            <a:fillRect/>
          </a:stretch>
        </p:blipFill>
        <p:spPr>
          <a:xfrm>
            <a:off x="221494" y="1741230"/>
            <a:ext cx="2423084" cy="2493065"/>
          </a:xfrm>
          <a:prstGeom prst="rect">
            <a:avLst/>
          </a:prstGeom>
        </p:spPr>
      </p:pic>
      <p:sp>
        <p:nvSpPr>
          <p:cNvPr id="14" name="TextBox 13">
            <a:extLst>
              <a:ext uri="{FF2B5EF4-FFF2-40B4-BE49-F238E27FC236}">
                <a16:creationId xmlns:a16="http://schemas.microsoft.com/office/drawing/2014/main" id="{A0690E38-8F50-FE4B-D173-A45E3D84C363}"/>
              </a:ext>
            </a:extLst>
          </p:cNvPr>
          <p:cNvSpPr txBox="1"/>
          <p:nvPr/>
        </p:nvSpPr>
        <p:spPr bwMode="auto">
          <a:xfrm>
            <a:off x="1106023" y="4234295"/>
            <a:ext cx="327013" cy="307777"/>
          </a:xfrm>
          <a:prstGeom prst="rect">
            <a:avLst/>
          </a:prstGeom>
          <a:noFill/>
          <a:ln w="19050" algn="ctr">
            <a:noFill/>
            <a:miter lim="800000"/>
            <a:headEnd/>
            <a:tailEnd/>
          </a:ln>
        </p:spPr>
        <p:txBody>
          <a:bodyPr wrap="none" lIns="0" tIns="0" rIns="0" bIns="0" rtlCol="0">
            <a:spAutoFit/>
          </a:bodyPr>
          <a:lstStyle/>
          <a:p>
            <a:r>
              <a:rPr lang="en-US" sz="2000" dirty="0"/>
              <a:t>….</a:t>
            </a:r>
          </a:p>
        </p:txBody>
      </p:sp>
    </p:spTree>
    <p:extLst>
      <p:ext uri="{BB962C8B-B14F-4D97-AF65-F5344CB8AC3E}">
        <p14:creationId xmlns:p14="http://schemas.microsoft.com/office/powerpoint/2010/main" val="308157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F0000"/>
                </a:solidFill>
              </a:rPr>
              <a:t>PRACTICE 2</a:t>
            </a:r>
            <a:r>
              <a:rPr lang="en-US" sz="2400" dirty="0"/>
              <a:t> - Using the dataset V, create a simple boxplot to display the distribution of poverty rates across regions, showing the poverty rates of provinces within each region.</a:t>
            </a:r>
            <a:endParaRPr sz="2400" dirty="0"/>
          </a:p>
        </p:txBody>
      </p:sp>
      <p:sp>
        <p:nvSpPr>
          <p:cNvPr id="8" name="TextBox 7">
            <a:extLst>
              <a:ext uri="{FF2B5EF4-FFF2-40B4-BE49-F238E27FC236}">
                <a16:creationId xmlns:a16="http://schemas.microsoft.com/office/drawing/2014/main" id="{DB279008-C498-7DCF-3B6B-4BA3563A8B9D}"/>
              </a:ext>
            </a:extLst>
          </p:cNvPr>
          <p:cNvSpPr txBox="1"/>
          <p:nvPr/>
        </p:nvSpPr>
        <p:spPr bwMode="auto">
          <a:xfrm>
            <a:off x="3625339" y="1416326"/>
            <a:ext cx="5329818" cy="2062103"/>
          </a:xfrm>
          <a:prstGeom prst="rect">
            <a:avLst/>
          </a:prstGeom>
          <a:noFill/>
          <a:ln w="19050" algn="ctr">
            <a:noFill/>
            <a:miter lim="800000"/>
            <a:headEnd/>
            <a:tailEnd/>
          </a:ln>
        </p:spPr>
        <p:txBody>
          <a:bodyPr wrap="square">
            <a:spAutoFit/>
          </a:bodyPr>
          <a:lstStyle/>
          <a:p>
            <a:r>
              <a:rPr lang="en-US" sz="1600" dirty="0" err="1">
                <a:solidFill>
                  <a:srgbClr val="178CCB"/>
                </a:solidFill>
              </a:rPr>
              <a:t>ggplot</a:t>
            </a:r>
            <a:r>
              <a:rPr lang="en-US" sz="1600" dirty="0">
                <a:solidFill>
                  <a:srgbClr val="178CCB"/>
                </a:solidFill>
              </a:rPr>
              <a:t>(V, </a:t>
            </a:r>
            <a:r>
              <a:rPr lang="en-US" sz="1600" dirty="0" err="1">
                <a:solidFill>
                  <a:srgbClr val="178CCB"/>
                </a:solidFill>
              </a:rPr>
              <a:t>aes</a:t>
            </a:r>
            <a:r>
              <a:rPr lang="en-US" sz="1600" dirty="0">
                <a:solidFill>
                  <a:srgbClr val="178CCB"/>
                </a:solidFill>
              </a:rPr>
              <a:t>(x = region, y = </a:t>
            </a:r>
            <a:r>
              <a:rPr lang="en-US" sz="1600" dirty="0" err="1">
                <a:solidFill>
                  <a:srgbClr val="178CCB"/>
                </a:solidFill>
              </a:rPr>
              <a:t>poverty_rate</a:t>
            </a:r>
            <a:r>
              <a:rPr lang="en-US" sz="1600" dirty="0">
                <a:solidFill>
                  <a:srgbClr val="178CCB"/>
                </a:solidFill>
              </a:rPr>
              <a:t>)) +</a:t>
            </a:r>
          </a:p>
          <a:p>
            <a:r>
              <a:rPr lang="en-US" sz="1600" dirty="0">
                <a:solidFill>
                  <a:srgbClr val="178CCB"/>
                </a:solidFill>
              </a:rPr>
              <a:t>  </a:t>
            </a:r>
            <a:r>
              <a:rPr lang="en-US" sz="1600" dirty="0" err="1">
                <a:solidFill>
                  <a:srgbClr val="178CCB"/>
                </a:solidFill>
              </a:rPr>
              <a:t>geom_boxplot</a:t>
            </a:r>
            <a:r>
              <a:rPr lang="en-US" sz="1600" dirty="0">
                <a:solidFill>
                  <a:srgbClr val="178CCB"/>
                </a:solidFill>
              </a:rPr>
              <a:t>() +</a:t>
            </a:r>
          </a:p>
          <a:p>
            <a:r>
              <a:rPr lang="en-US" sz="1600" dirty="0">
                <a:solidFill>
                  <a:srgbClr val="178CCB"/>
                </a:solidFill>
              </a:rPr>
              <a:t>  labs(</a:t>
            </a:r>
          </a:p>
          <a:p>
            <a:r>
              <a:rPr lang="en-US" sz="1600" dirty="0">
                <a:solidFill>
                  <a:srgbClr val="178CCB"/>
                </a:solidFill>
              </a:rPr>
              <a:t>    title = "Poverty Rate by Region",</a:t>
            </a:r>
          </a:p>
          <a:p>
            <a:r>
              <a:rPr lang="en-US" sz="1600" dirty="0">
                <a:solidFill>
                  <a:srgbClr val="178CCB"/>
                </a:solidFill>
              </a:rPr>
              <a:t>    x = "Region",</a:t>
            </a:r>
          </a:p>
          <a:p>
            <a:r>
              <a:rPr lang="en-US" sz="1600" dirty="0">
                <a:solidFill>
                  <a:srgbClr val="178CCB"/>
                </a:solidFill>
              </a:rPr>
              <a:t>    y = "Poverty Rate (%)"</a:t>
            </a:r>
          </a:p>
          <a:p>
            <a:r>
              <a:rPr lang="en-US" sz="1600" dirty="0">
                <a:solidFill>
                  <a:srgbClr val="178CCB"/>
                </a:solidFill>
              </a:rPr>
              <a:t>  ) +</a:t>
            </a:r>
          </a:p>
          <a:p>
            <a:r>
              <a:rPr lang="en-US" sz="1600" dirty="0">
                <a:solidFill>
                  <a:srgbClr val="178CCB"/>
                </a:solidFill>
              </a:rPr>
              <a:t>  </a:t>
            </a:r>
            <a:r>
              <a:rPr lang="en-US" sz="1600" dirty="0" err="1">
                <a:solidFill>
                  <a:srgbClr val="178CCB"/>
                </a:solidFill>
              </a:rPr>
              <a:t>theme_minimal</a:t>
            </a:r>
            <a:r>
              <a:rPr lang="en-US" sz="1600" dirty="0">
                <a:solidFill>
                  <a:srgbClr val="178CCB"/>
                </a:solidFill>
              </a:rPr>
              <a:t>()</a:t>
            </a:r>
          </a:p>
        </p:txBody>
      </p:sp>
      <p:pic>
        <p:nvPicPr>
          <p:cNvPr id="10" name="Picture 9">
            <a:extLst>
              <a:ext uri="{FF2B5EF4-FFF2-40B4-BE49-F238E27FC236}">
                <a16:creationId xmlns:a16="http://schemas.microsoft.com/office/drawing/2014/main" id="{E11B9162-BAB4-C591-BC51-78B74F6695D7}"/>
              </a:ext>
            </a:extLst>
          </p:cNvPr>
          <p:cNvPicPr>
            <a:picLocks noChangeAspect="1"/>
          </p:cNvPicPr>
          <p:nvPr/>
        </p:nvPicPr>
        <p:blipFill>
          <a:blip r:embed="rId3"/>
          <a:stretch>
            <a:fillRect/>
          </a:stretch>
        </p:blipFill>
        <p:spPr>
          <a:xfrm>
            <a:off x="265215" y="1495838"/>
            <a:ext cx="3191159" cy="2921828"/>
          </a:xfrm>
          <a:prstGeom prst="rect">
            <a:avLst/>
          </a:prstGeom>
        </p:spPr>
      </p:pic>
      <p:sp>
        <p:nvSpPr>
          <p:cNvPr id="11" name="TextBox 10">
            <a:extLst>
              <a:ext uri="{FF2B5EF4-FFF2-40B4-BE49-F238E27FC236}">
                <a16:creationId xmlns:a16="http://schemas.microsoft.com/office/drawing/2014/main" id="{3B864BA5-4A74-6090-0C73-07D15C433C25}"/>
              </a:ext>
            </a:extLst>
          </p:cNvPr>
          <p:cNvSpPr txBox="1"/>
          <p:nvPr/>
        </p:nvSpPr>
        <p:spPr bwMode="auto">
          <a:xfrm>
            <a:off x="1583101" y="4274051"/>
            <a:ext cx="327013" cy="307777"/>
          </a:xfrm>
          <a:prstGeom prst="rect">
            <a:avLst/>
          </a:prstGeom>
          <a:noFill/>
          <a:ln w="19050" algn="ctr">
            <a:noFill/>
            <a:miter lim="800000"/>
            <a:headEnd/>
            <a:tailEnd/>
          </a:ln>
        </p:spPr>
        <p:txBody>
          <a:bodyPr wrap="none" lIns="0" tIns="0" rIns="0" bIns="0" rtlCol="0">
            <a:spAutoFit/>
          </a:bodyPr>
          <a:lstStyle/>
          <a:p>
            <a:r>
              <a:rPr lang="en-US" sz="2000" dirty="0"/>
              <a:t>….</a:t>
            </a:r>
          </a:p>
        </p:txBody>
      </p:sp>
      <p:pic>
        <p:nvPicPr>
          <p:cNvPr id="12" name="Picture 11">
            <a:extLst>
              <a:ext uri="{FF2B5EF4-FFF2-40B4-BE49-F238E27FC236}">
                <a16:creationId xmlns:a16="http://schemas.microsoft.com/office/drawing/2014/main" id="{2A1A2B08-0FE0-EEA4-9438-E597372C85E1}"/>
              </a:ext>
            </a:extLst>
          </p:cNvPr>
          <p:cNvPicPr>
            <a:picLocks noChangeAspect="1"/>
          </p:cNvPicPr>
          <p:nvPr/>
        </p:nvPicPr>
        <p:blipFill>
          <a:blip r:embed="rId4"/>
          <a:stretch>
            <a:fillRect/>
          </a:stretch>
        </p:blipFill>
        <p:spPr>
          <a:xfrm>
            <a:off x="5991191" y="3012562"/>
            <a:ext cx="2794998" cy="15692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AEACA-FF94-59EE-A282-6B8094809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04E15-F07C-44DD-5105-1A31626A3B00}"/>
              </a:ext>
            </a:extLst>
          </p:cNvPr>
          <p:cNvSpPr>
            <a:spLocks noGrp="1"/>
          </p:cNvSpPr>
          <p:nvPr>
            <p:ph type="title"/>
          </p:nvPr>
        </p:nvSpPr>
        <p:spPr>
          <a:xfrm>
            <a:off x="279918" y="1919440"/>
            <a:ext cx="6609079" cy="1107896"/>
          </a:xfrm>
        </p:spPr>
        <p:txBody>
          <a:bodyPr/>
          <a:lstStyle/>
          <a:p>
            <a:pPr algn="ctr"/>
            <a:r>
              <a:rPr lang="en-US" sz="2400" b="1" dirty="0"/>
              <a:t>Building Maps and Reproducible Workflows In R</a:t>
            </a:r>
          </a:p>
        </p:txBody>
      </p:sp>
    </p:spTree>
    <p:extLst>
      <p:ext uri="{BB962C8B-B14F-4D97-AF65-F5344CB8AC3E}">
        <p14:creationId xmlns:p14="http://schemas.microsoft.com/office/powerpoint/2010/main" val="133365534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Spatial Visualization Matters</a:t>
            </a:r>
          </a:p>
        </p:txBody>
      </p:sp>
      <p:sp>
        <p:nvSpPr>
          <p:cNvPr id="3" name="Content Placeholder 2"/>
          <p:cNvSpPr>
            <a:spLocks noGrp="1"/>
          </p:cNvSpPr>
          <p:nvPr>
            <p:ph idx="1"/>
          </p:nvPr>
        </p:nvSpPr>
        <p:spPr/>
        <p:txBody>
          <a:bodyPr/>
          <a:lstStyle/>
          <a:p>
            <a:pPr marL="0" indent="0">
              <a:buNone/>
            </a:pPr>
            <a:r>
              <a:rPr dirty="0"/>
              <a:t>Maps help reveal:</a:t>
            </a:r>
          </a:p>
          <a:p>
            <a:r>
              <a:rPr dirty="0"/>
              <a:t>Geographic disparities</a:t>
            </a:r>
          </a:p>
          <a:p>
            <a:r>
              <a:rPr dirty="0"/>
              <a:t>Disease hotspots</a:t>
            </a:r>
          </a:p>
          <a:p>
            <a:r>
              <a:rPr dirty="0"/>
              <a:t>Service access gaps</a:t>
            </a:r>
          </a:p>
          <a:p>
            <a:r>
              <a:rPr dirty="0"/>
              <a:t>Resource allocation needs</a:t>
            </a:r>
          </a:p>
        </p:txBody>
      </p:sp>
      <p:pic>
        <p:nvPicPr>
          <p:cNvPr id="4" name="Picture 3">
            <a:extLst>
              <a:ext uri="{FF2B5EF4-FFF2-40B4-BE49-F238E27FC236}">
                <a16:creationId xmlns:a16="http://schemas.microsoft.com/office/drawing/2014/main" id="{D1F3153C-3E0E-44DF-A7CC-D494E99B807B}"/>
              </a:ext>
            </a:extLst>
          </p:cNvPr>
          <p:cNvPicPr>
            <a:picLocks noChangeAspect="1"/>
          </p:cNvPicPr>
          <p:nvPr/>
        </p:nvPicPr>
        <p:blipFill>
          <a:blip r:embed="rId3"/>
          <a:stretch>
            <a:fillRect/>
          </a:stretch>
        </p:blipFill>
        <p:spPr>
          <a:xfrm>
            <a:off x="4572000" y="2102923"/>
            <a:ext cx="4080000" cy="240318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585" y="318751"/>
            <a:ext cx="8173580" cy="458587"/>
          </a:xfrm>
        </p:spPr>
        <p:txBody>
          <a:bodyPr/>
          <a:lstStyle/>
          <a:p>
            <a:r>
              <a:rPr lang="en-US" dirty="0"/>
              <a:t>Why conduct spatial data analysis and visualization in R?</a:t>
            </a:r>
          </a:p>
        </p:txBody>
      </p:sp>
      <p:sp>
        <p:nvSpPr>
          <p:cNvPr id="3" name="Content Placeholder 2"/>
          <p:cNvSpPr>
            <a:spLocks noGrp="1"/>
          </p:cNvSpPr>
          <p:nvPr>
            <p:ph idx="1"/>
          </p:nvPr>
        </p:nvSpPr>
        <p:spPr>
          <a:xfrm>
            <a:off x="459685" y="1401417"/>
            <a:ext cx="8137665" cy="2932045"/>
          </a:xfrm>
        </p:spPr>
        <p:txBody>
          <a:bodyPr/>
          <a:lstStyle/>
          <a:p>
            <a:r>
              <a:rPr lang="en-US" sz="1800" b="1" dirty="0"/>
              <a:t>Integrated analysis:</a:t>
            </a:r>
            <a:r>
              <a:rPr lang="en-US" sz="1800" dirty="0"/>
              <a:t> R allows you to analyze data and create maps in the same environment.</a:t>
            </a:r>
          </a:p>
          <a:p>
            <a:r>
              <a:rPr lang="en-US" sz="1800" b="1" dirty="0"/>
              <a:t>Powerful spatial packages: </a:t>
            </a:r>
            <a:r>
              <a:rPr lang="en-US" sz="1800" dirty="0"/>
              <a:t>Packages like sf, terra, and ggplot2 make spatial analysis and mapping easier.</a:t>
            </a:r>
          </a:p>
          <a:p>
            <a:r>
              <a:rPr lang="en-US" sz="1800" b="1" dirty="0"/>
              <a:t>Reproducible workflows: </a:t>
            </a:r>
            <a:r>
              <a:rPr lang="en-US" sz="1800" dirty="0"/>
              <a:t>Code-based analysis ensures results can be reproduced and shared.</a:t>
            </a:r>
          </a:p>
          <a:p>
            <a:r>
              <a:rPr lang="en-US" sz="1800" b="1" dirty="0"/>
              <a:t>Advanced analysis:</a:t>
            </a:r>
            <a:r>
              <a:rPr lang="en-US" sz="1800" dirty="0"/>
              <a:t> R supports spatial statistics, modeling, and data visualization.</a:t>
            </a:r>
          </a:p>
          <a:p>
            <a:r>
              <a:rPr lang="en-US" sz="1800" b="1" dirty="0"/>
              <a:t>Free and open source:</a:t>
            </a:r>
            <a:r>
              <a:rPr lang="en-US" sz="1800" dirty="0"/>
              <a:t> R is widely used in research, public health, and data science without licensing costs.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770" y="156150"/>
            <a:ext cx="8173580" cy="458587"/>
          </a:xfrm>
        </p:spPr>
        <p:txBody>
          <a:bodyPr/>
          <a:lstStyle/>
          <a:p>
            <a:r>
              <a:rPr lang="en-US" sz="2800" dirty="0"/>
              <a:t>Create a </a:t>
            </a:r>
            <a:r>
              <a:rPr sz="2800" dirty="0"/>
              <a:t>Map</a:t>
            </a:r>
            <a:r>
              <a:rPr lang="en-US" sz="2800" dirty="0"/>
              <a:t> of Vietnam </a:t>
            </a:r>
            <a:r>
              <a:rPr sz="2800" dirty="0"/>
              <a:t>(R Code)</a:t>
            </a:r>
          </a:p>
        </p:txBody>
      </p:sp>
      <p:sp>
        <p:nvSpPr>
          <p:cNvPr id="3" name="Content Placeholder 2"/>
          <p:cNvSpPr>
            <a:spLocks noGrp="1"/>
          </p:cNvSpPr>
          <p:nvPr>
            <p:ph idx="1"/>
          </p:nvPr>
        </p:nvSpPr>
        <p:spPr>
          <a:xfrm>
            <a:off x="423770" y="785191"/>
            <a:ext cx="8137665" cy="3081131"/>
          </a:xfrm>
        </p:spPr>
        <p:txBody>
          <a:bodyPr/>
          <a:lstStyle/>
          <a:p>
            <a:pPr marL="0" indent="0">
              <a:buNone/>
            </a:pPr>
            <a:r>
              <a:rPr lang="en-US" sz="1200" b="1" dirty="0">
                <a:solidFill>
                  <a:srgbClr val="178CCB"/>
                </a:solidFill>
              </a:rPr>
              <a:t>library(geodata)</a:t>
            </a:r>
          </a:p>
          <a:p>
            <a:pPr marL="0" indent="0">
              <a:buNone/>
            </a:pPr>
            <a:r>
              <a:rPr lang="en-US" sz="1200" dirty="0">
                <a:solidFill>
                  <a:srgbClr val="178CCB"/>
                </a:solidFill>
              </a:rPr>
              <a:t># download Vietnam province boundaries from GADM (</a:t>
            </a:r>
            <a:r>
              <a:rPr lang="en-US" sz="1200" dirty="0">
                <a:solidFill>
                  <a:srgbClr val="178CCB"/>
                </a:solidFill>
                <a:hlinkClick r:id="rId3"/>
              </a:rPr>
              <a:t>https://gadm.org/</a:t>
            </a:r>
            <a:r>
              <a:rPr lang="en-US" sz="1200" dirty="0">
                <a:solidFill>
                  <a:srgbClr val="178CCB"/>
                </a:solidFill>
              </a:rPr>
              <a:t>)</a:t>
            </a:r>
          </a:p>
          <a:p>
            <a:pPr marL="0" indent="0">
              <a:buNone/>
            </a:pPr>
            <a:r>
              <a:rPr lang="en-US" sz="1200" dirty="0">
                <a:solidFill>
                  <a:srgbClr val="178CCB"/>
                </a:solidFill>
              </a:rPr>
              <a:t>map &lt;- geodata::</a:t>
            </a:r>
            <a:r>
              <a:rPr lang="en-US" sz="1200" dirty="0" err="1">
                <a:solidFill>
                  <a:srgbClr val="178CCB"/>
                </a:solidFill>
              </a:rPr>
              <a:t>gadm</a:t>
            </a:r>
            <a:r>
              <a:rPr lang="en-US" sz="1200" dirty="0">
                <a:solidFill>
                  <a:srgbClr val="178CCB"/>
                </a:solidFill>
              </a:rPr>
              <a:t>(country = "VNM", level = 1, path = </a:t>
            </a:r>
            <a:r>
              <a:rPr lang="en-US" sz="1200" dirty="0" err="1">
                <a:solidFill>
                  <a:srgbClr val="178CCB"/>
                </a:solidFill>
              </a:rPr>
              <a:t>tempdir</a:t>
            </a:r>
            <a:r>
              <a:rPr lang="en-US" sz="1200" dirty="0">
                <a:solidFill>
                  <a:srgbClr val="178CCB"/>
                </a:solidFill>
              </a:rPr>
              <a:t>())</a:t>
            </a:r>
          </a:p>
          <a:p>
            <a:pPr marL="0" indent="0">
              <a:buNone/>
            </a:pPr>
            <a:endParaRPr lang="en-US" sz="1200" dirty="0">
              <a:solidFill>
                <a:srgbClr val="178CCB"/>
              </a:solidFill>
            </a:endParaRPr>
          </a:p>
          <a:p>
            <a:pPr marL="0" indent="0">
              <a:buNone/>
            </a:pPr>
            <a:endParaRPr lang="en-US" sz="1200" b="1" dirty="0">
              <a:solidFill>
                <a:srgbClr val="178CCB"/>
              </a:solidFill>
            </a:endParaRPr>
          </a:p>
          <a:p>
            <a:pPr marL="0" indent="0">
              <a:buNone/>
            </a:pPr>
            <a:r>
              <a:rPr lang="en-US" sz="1200" b="1" dirty="0">
                <a:solidFill>
                  <a:srgbClr val="178CCB"/>
                </a:solidFill>
              </a:rPr>
              <a:t>library(sf)</a:t>
            </a:r>
          </a:p>
          <a:p>
            <a:pPr marL="0" indent="0">
              <a:buNone/>
            </a:pPr>
            <a:r>
              <a:rPr lang="en-US" sz="1200" dirty="0">
                <a:solidFill>
                  <a:srgbClr val="178CCB"/>
                </a:solidFill>
              </a:rPr>
              <a:t># converts the map to sf spatial format</a:t>
            </a:r>
          </a:p>
          <a:p>
            <a:pPr marL="0" indent="0">
              <a:buNone/>
            </a:pPr>
            <a:r>
              <a:rPr lang="en-US" sz="1200" dirty="0">
                <a:solidFill>
                  <a:srgbClr val="178CCB"/>
                </a:solidFill>
              </a:rPr>
              <a:t>map &lt;- </a:t>
            </a:r>
            <a:r>
              <a:rPr lang="en-US" sz="1200" dirty="0" err="1">
                <a:solidFill>
                  <a:srgbClr val="178CCB"/>
                </a:solidFill>
              </a:rPr>
              <a:t>st_as_sf</a:t>
            </a:r>
            <a:r>
              <a:rPr lang="en-US" sz="1200" dirty="0">
                <a:solidFill>
                  <a:srgbClr val="178CCB"/>
                </a:solidFill>
              </a:rPr>
              <a:t>(map)</a:t>
            </a:r>
          </a:p>
          <a:p>
            <a:pPr marL="0" indent="0">
              <a:buNone/>
            </a:pPr>
            <a:endParaRPr lang="en-US" sz="1200" dirty="0">
              <a:solidFill>
                <a:srgbClr val="178CCB"/>
              </a:solidFill>
            </a:endParaRPr>
          </a:p>
          <a:p>
            <a:pPr marL="0" indent="0">
              <a:buNone/>
            </a:pPr>
            <a:r>
              <a:rPr lang="en-US" sz="1200" b="1" dirty="0">
                <a:solidFill>
                  <a:srgbClr val="178CCB"/>
                </a:solidFill>
              </a:rPr>
              <a:t>library(ggplot2)</a:t>
            </a:r>
          </a:p>
          <a:p>
            <a:pPr marL="0" indent="0">
              <a:buNone/>
            </a:pPr>
            <a:r>
              <a:rPr lang="en-US" sz="1200" dirty="0">
                <a:solidFill>
                  <a:srgbClr val="178CCB"/>
                </a:solidFill>
              </a:rPr>
              <a:t># plot simple map</a:t>
            </a:r>
          </a:p>
          <a:p>
            <a:pPr marL="0" indent="0">
              <a:buNone/>
            </a:pPr>
            <a:r>
              <a:rPr lang="en-US" sz="1200" dirty="0" err="1">
                <a:solidFill>
                  <a:srgbClr val="178CCB"/>
                </a:solidFill>
              </a:rPr>
              <a:t>ggplot</a:t>
            </a:r>
            <a:r>
              <a:rPr lang="en-US" sz="1200" dirty="0">
                <a:solidFill>
                  <a:srgbClr val="178CCB"/>
                </a:solidFill>
              </a:rPr>
              <a:t>(map) +</a:t>
            </a:r>
          </a:p>
          <a:p>
            <a:pPr marL="0" indent="0">
              <a:buNone/>
            </a:pPr>
            <a:r>
              <a:rPr lang="en-US" sz="1200" dirty="0">
                <a:solidFill>
                  <a:srgbClr val="178CCB"/>
                </a:solidFill>
              </a:rPr>
              <a:t>  </a:t>
            </a:r>
            <a:r>
              <a:rPr lang="en-US" sz="1200" dirty="0" err="1">
                <a:solidFill>
                  <a:srgbClr val="178CCB"/>
                </a:solidFill>
              </a:rPr>
              <a:t>geom_sf</a:t>
            </a:r>
            <a:r>
              <a:rPr lang="en-US" sz="1200" dirty="0">
                <a:solidFill>
                  <a:srgbClr val="178CCB"/>
                </a:solidFill>
              </a:rPr>
              <a:t>() +</a:t>
            </a:r>
          </a:p>
          <a:p>
            <a:pPr marL="0" indent="0">
              <a:buNone/>
            </a:pPr>
            <a:r>
              <a:rPr lang="en-US" sz="1200" dirty="0">
                <a:solidFill>
                  <a:srgbClr val="178CCB"/>
                </a:solidFill>
              </a:rPr>
              <a:t>  labs(title = "Map of Vietnam Provinces") +</a:t>
            </a:r>
          </a:p>
          <a:p>
            <a:pPr marL="0" indent="0">
              <a:buNone/>
            </a:pPr>
            <a:r>
              <a:rPr lang="en-US" sz="1200" dirty="0">
                <a:solidFill>
                  <a:srgbClr val="178CCB"/>
                </a:solidFill>
              </a:rPr>
              <a:t>  </a:t>
            </a:r>
            <a:r>
              <a:rPr lang="en-US" sz="1200" dirty="0" err="1">
                <a:solidFill>
                  <a:srgbClr val="178CCB"/>
                </a:solidFill>
              </a:rPr>
              <a:t>theme_void</a:t>
            </a:r>
            <a:r>
              <a:rPr lang="en-US" sz="1200" dirty="0">
                <a:solidFill>
                  <a:srgbClr val="178CCB"/>
                </a:solidFill>
              </a:rPr>
              <a:t>()</a:t>
            </a:r>
            <a:endParaRPr sz="1200" dirty="0">
              <a:solidFill>
                <a:srgbClr val="178CCB"/>
              </a:solidFill>
            </a:endParaRPr>
          </a:p>
        </p:txBody>
      </p:sp>
      <p:sp>
        <p:nvSpPr>
          <p:cNvPr id="7" name="TextBox 6">
            <a:extLst>
              <a:ext uri="{FF2B5EF4-FFF2-40B4-BE49-F238E27FC236}">
                <a16:creationId xmlns:a16="http://schemas.microsoft.com/office/drawing/2014/main" id="{5E98986B-5680-0EE7-084B-C726265B2C43}"/>
              </a:ext>
            </a:extLst>
          </p:cNvPr>
          <p:cNvSpPr txBox="1"/>
          <p:nvPr/>
        </p:nvSpPr>
        <p:spPr bwMode="auto">
          <a:xfrm>
            <a:off x="4099548" y="1572819"/>
            <a:ext cx="1098058" cy="307777"/>
          </a:xfrm>
          <a:prstGeom prst="rect">
            <a:avLst/>
          </a:prstGeom>
          <a:noFill/>
          <a:ln w="19050" algn="ctr">
            <a:noFill/>
            <a:miter lim="800000"/>
            <a:headEnd/>
            <a:tailEnd/>
          </a:ln>
        </p:spPr>
        <p:txBody>
          <a:bodyPr wrap="none" lIns="0" tIns="0" rIns="0" bIns="0" rtlCol="0">
            <a:spAutoFit/>
          </a:bodyPr>
          <a:lstStyle/>
          <a:p>
            <a:r>
              <a:rPr lang="en-US" sz="2000" dirty="0"/>
              <a:t>provinces</a:t>
            </a:r>
          </a:p>
        </p:txBody>
      </p:sp>
      <p:cxnSp>
        <p:nvCxnSpPr>
          <p:cNvPr id="9" name="Straight Arrow Connector 8">
            <a:extLst>
              <a:ext uri="{FF2B5EF4-FFF2-40B4-BE49-F238E27FC236}">
                <a16:creationId xmlns:a16="http://schemas.microsoft.com/office/drawing/2014/main" id="{407DC8DD-61C9-6F03-458E-5F563E55EC7B}"/>
              </a:ext>
            </a:extLst>
          </p:cNvPr>
          <p:cNvCxnSpPr>
            <a:cxnSpLocks/>
          </p:cNvCxnSpPr>
          <p:nvPr/>
        </p:nvCxnSpPr>
        <p:spPr>
          <a:xfrm>
            <a:off x="3809395" y="1517936"/>
            <a:ext cx="255709" cy="17109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118BAEF-3DAB-37FB-0D7B-D1688A803E40}"/>
              </a:ext>
            </a:extLst>
          </p:cNvPr>
          <p:cNvSpPr txBox="1"/>
          <p:nvPr/>
        </p:nvSpPr>
        <p:spPr bwMode="auto">
          <a:xfrm>
            <a:off x="1947506" y="3862049"/>
            <a:ext cx="1941743" cy="369332"/>
          </a:xfrm>
          <a:prstGeom prst="rect">
            <a:avLst/>
          </a:prstGeom>
          <a:noFill/>
          <a:ln w="19050" algn="ctr">
            <a:noFill/>
            <a:miter lim="800000"/>
            <a:headEnd/>
            <a:tailEnd/>
          </a:ln>
        </p:spPr>
        <p:txBody>
          <a:bodyPr wrap="square">
            <a:spAutoFit/>
          </a:bodyPr>
          <a:lstStyle/>
          <a:p>
            <a:r>
              <a:rPr lang="en-US" dirty="0"/>
              <a:t>draws the map</a:t>
            </a:r>
          </a:p>
        </p:txBody>
      </p:sp>
      <p:cxnSp>
        <p:nvCxnSpPr>
          <p:cNvPr id="12" name="Straight Arrow Connector 11">
            <a:extLst>
              <a:ext uri="{FF2B5EF4-FFF2-40B4-BE49-F238E27FC236}">
                <a16:creationId xmlns:a16="http://schemas.microsoft.com/office/drawing/2014/main" id="{03638CD7-5CB7-15A2-A037-CC2A98FCF9C1}"/>
              </a:ext>
            </a:extLst>
          </p:cNvPr>
          <p:cNvCxnSpPr>
            <a:cxnSpLocks/>
          </p:cNvCxnSpPr>
          <p:nvPr/>
        </p:nvCxnSpPr>
        <p:spPr>
          <a:xfrm>
            <a:off x="1488035" y="4046715"/>
            <a:ext cx="459471"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4A821397-8C60-860C-0F0F-EC82346A0499}"/>
              </a:ext>
            </a:extLst>
          </p:cNvPr>
          <p:cNvPicPr>
            <a:picLocks noChangeAspect="1"/>
          </p:cNvPicPr>
          <p:nvPr/>
        </p:nvPicPr>
        <p:blipFill>
          <a:blip r:embed="rId4"/>
          <a:stretch>
            <a:fillRect/>
          </a:stretch>
        </p:blipFill>
        <p:spPr>
          <a:xfrm>
            <a:off x="2130146" y="2832856"/>
            <a:ext cx="4559119" cy="392458"/>
          </a:xfrm>
          <a:prstGeom prst="rect">
            <a:avLst/>
          </a:prstGeom>
        </p:spPr>
      </p:pic>
      <p:cxnSp>
        <p:nvCxnSpPr>
          <p:cNvPr id="21" name="Elbow Connector 20">
            <a:extLst>
              <a:ext uri="{FF2B5EF4-FFF2-40B4-BE49-F238E27FC236}">
                <a16:creationId xmlns:a16="http://schemas.microsoft.com/office/drawing/2014/main" id="{1201E6A8-1B88-7468-79BA-6456B8239C28}"/>
              </a:ext>
            </a:extLst>
          </p:cNvPr>
          <p:cNvCxnSpPr>
            <a:cxnSpLocks/>
          </p:cNvCxnSpPr>
          <p:nvPr/>
        </p:nvCxnSpPr>
        <p:spPr>
          <a:xfrm>
            <a:off x="652140" y="2827474"/>
            <a:ext cx="1478006" cy="201611"/>
          </a:xfrm>
          <a:prstGeom prst="bentConnector3">
            <a:avLst>
              <a:gd name="adj1" fmla="val 910"/>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872C61-B8F5-DD16-2B93-5BBCEC07E03A}"/>
              </a:ext>
            </a:extLst>
          </p:cNvPr>
          <p:cNvSpPr txBox="1"/>
          <p:nvPr/>
        </p:nvSpPr>
        <p:spPr bwMode="auto">
          <a:xfrm>
            <a:off x="4247959" y="2820389"/>
            <a:ext cx="324042" cy="307777"/>
          </a:xfrm>
          <a:prstGeom prst="rect">
            <a:avLst/>
          </a:prstGeom>
          <a:noFill/>
          <a:ln w="19050" algn="ctr">
            <a:noFill/>
            <a:miter lim="800000"/>
            <a:headEnd/>
            <a:tailEnd/>
          </a:ln>
        </p:spPr>
        <p:txBody>
          <a:bodyPr wrap="square" lIns="0" tIns="0" rIns="0" bIns="0" rtlCol="0">
            <a:spAutoFit/>
          </a:bodyPr>
          <a:lstStyle/>
          <a:p>
            <a:r>
              <a:rPr lang="en-US" sz="2000" dirty="0"/>
              <a:t>…</a:t>
            </a:r>
          </a:p>
        </p:txBody>
      </p:sp>
      <p:sp>
        <p:nvSpPr>
          <p:cNvPr id="30" name="TextBox 29">
            <a:extLst>
              <a:ext uri="{FF2B5EF4-FFF2-40B4-BE49-F238E27FC236}">
                <a16:creationId xmlns:a16="http://schemas.microsoft.com/office/drawing/2014/main" id="{00B2E2A7-BD5B-A766-8F58-2D4FF88944D0}"/>
              </a:ext>
            </a:extLst>
          </p:cNvPr>
          <p:cNvSpPr txBox="1"/>
          <p:nvPr/>
        </p:nvSpPr>
        <p:spPr bwMode="auto">
          <a:xfrm>
            <a:off x="1421291" y="1644345"/>
            <a:ext cx="1981055" cy="215444"/>
          </a:xfrm>
          <a:prstGeom prst="rect">
            <a:avLst/>
          </a:prstGeom>
          <a:noFill/>
          <a:ln w="19050" algn="ctr">
            <a:noFill/>
            <a:miter lim="800000"/>
            <a:headEnd/>
            <a:tailEnd/>
          </a:ln>
        </p:spPr>
        <p:txBody>
          <a:bodyPr wrap="none" lIns="0" tIns="0" rIns="0" bIns="0" rtlCol="0">
            <a:spAutoFit/>
          </a:bodyPr>
          <a:lstStyle/>
          <a:p>
            <a:r>
              <a:rPr lang="en-US" sz="1400" dirty="0"/>
              <a:t>Formal Class SpatVector</a:t>
            </a:r>
          </a:p>
        </p:txBody>
      </p:sp>
      <p:cxnSp>
        <p:nvCxnSpPr>
          <p:cNvPr id="31" name="Elbow Connector 30">
            <a:extLst>
              <a:ext uri="{FF2B5EF4-FFF2-40B4-BE49-F238E27FC236}">
                <a16:creationId xmlns:a16="http://schemas.microsoft.com/office/drawing/2014/main" id="{CE39B003-7BA6-D5C7-2A6B-10FDA79DFEB0}"/>
              </a:ext>
            </a:extLst>
          </p:cNvPr>
          <p:cNvCxnSpPr>
            <a:cxnSpLocks/>
          </p:cNvCxnSpPr>
          <p:nvPr/>
        </p:nvCxnSpPr>
        <p:spPr>
          <a:xfrm>
            <a:off x="635756" y="1572819"/>
            <a:ext cx="750409" cy="179248"/>
          </a:xfrm>
          <a:prstGeom prst="bentConnector3">
            <a:avLst>
              <a:gd name="adj1" fmla="val 994"/>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CCBB480B-C334-0BA6-B67E-62F2EF5C61CB}"/>
              </a:ext>
            </a:extLst>
          </p:cNvPr>
          <p:cNvPicPr>
            <a:picLocks noChangeAspect="1"/>
          </p:cNvPicPr>
          <p:nvPr/>
        </p:nvPicPr>
        <p:blipFill>
          <a:blip r:embed="rId5"/>
          <a:stretch>
            <a:fillRect/>
          </a:stretch>
        </p:blipFill>
        <p:spPr>
          <a:xfrm>
            <a:off x="6878668" y="280775"/>
            <a:ext cx="1994716" cy="421022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3AA48-614F-6360-AC57-6C8EBCF76114}"/>
            </a:ext>
          </a:extLst>
        </p:cNvPr>
        <p:cNvGrpSpPr/>
        <p:nvPr/>
      </p:nvGrpSpPr>
      <p:grpSpPr>
        <a:xfrm>
          <a:off x="0" y="0"/>
          <a:ext cx="0" cy="0"/>
          <a:chOff x="0" y="0"/>
          <a:chExt cx="0" cy="0"/>
        </a:xfrm>
      </p:grpSpPr>
      <p:pic>
        <p:nvPicPr>
          <p:cNvPr id="37" name="Picture 36">
            <a:extLst>
              <a:ext uri="{FF2B5EF4-FFF2-40B4-BE49-F238E27FC236}">
                <a16:creationId xmlns:a16="http://schemas.microsoft.com/office/drawing/2014/main" id="{2B0B2110-7947-9279-BDC7-89DC9C6EA91C}"/>
              </a:ext>
            </a:extLst>
          </p:cNvPr>
          <p:cNvPicPr>
            <a:picLocks noChangeAspect="1"/>
          </p:cNvPicPr>
          <p:nvPr/>
        </p:nvPicPr>
        <p:blipFill>
          <a:blip r:embed="rId3"/>
          <a:stretch>
            <a:fillRect/>
          </a:stretch>
        </p:blipFill>
        <p:spPr>
          <a:xfrm>
            <a:off x="6016486" y="0"/>
            <a:ext cx="3127513" cy="4691270"/>
          </a:xfrm>
          <a:prstGeom prst="rect">
            <a:avLst/>
          </a:prstGeom>
        </p:spPr>
      </p:pic>
      <p:sp>
        <p:nvSpPr>
          <p:cNvPr id="2" name="Title 1">
            <a:extLst>
              <a:ext uri="{FF2B5EF4-FFF2-40B4-BE49-F238E27FC236}">
                <a16:creationId xmlns:a16="http://schemas.microsoft.com/office/drawing/2014/main" id="{F9BBD271-57DA-2B7A-9B4E-E2B5E9358768}"/>
              </a:ext>
            </a:extLst>
          </p:cNvPr>
          <p:cNvSpPr>
            <a:spLocks noGrp="1"/>
          </p:cNvSpPr>
          <p:nvPr>
            <p:ph type="title"/>
          </p:nvPr>
        </p:nvSpPr>
        <p:spPr>
          <a:xfrm>
            <a:off x="423770" y="156150"/>
            <a:ext cx="8173580" cy="458587"/>
          </a:xfrm>
        </p:spPr>
        <p:txBody>
          <a:bodyPr/>
          <a:lstStyle/>
          <a:p>
            <a:r>
              <a:rPr lang="en-US" sz="2800" dirty="0"/>
              <a:t>Show Literacy in Vietnam </a:t>
            </a:r>
            <a:r>
              <a:rPr sz="2800" dirty="0"/>
              <a:t>(R Code)</a:t>
            </a:r>
          </a:p>
        </p:txBody>
      </p:sp>
      <p:sp>
        <p:nvSpPr>
          <p:cNvPr id="3" name="Content Placeholder 2">
            <a:extLst>
              <a:ext uri="{FF2B5EF4-FFF2-40B4-BE49-F238E27FC236}">
                <a16:creationId xmlns:a16="http://schemas.microsoft.com/office/drawing/2014/main" id="{10B93FB4-AEF5-5B5F-7878-4959B7EE27C2}"/>
              </a:ext>
            </a:extLst>
          </p:cNvPr>
          <p:cNvSpPr>
            <a:spLocks noGrp="1"/>
          </p:cNvSpPr>
          <p:nvPr>
            <p:ph idx="1"/>
          </p:nvPr>
        </p:nvSpPr>
        <p:spPr>
          <a:xfrm>
            <a:off x="423770" y="785191"/>
            <a:ext cx="8137665" cy="3081131"/>
          </a:xfrm>
        </p:spPr>
        <p:txBody>
          <a:bodyPr/>
          <a:lstStyle/>
          <a:p>
            <a:pPr marL="0" indent="0">
              <a:buNone/>
            </a:pPr>
            <a:r>
              <a:rPr lang="en-US" sz="1100" dirty="0">
                <a:solidFill>
                  <a:srgbClr val="178CCB"/>
                </a:solidFill>
              </a:rPr>
              <a:t>library(geodata) </a:t>
            </a:r>
          </a:p>
          <a:p>
            <a:pPr marL="0" indent="0">
              <a:buNone/>
            </a:pPr>
            <a:r>
              <a:rPr lang="en-US" sz="1100" dirty="0">
                <a:solidFill>
                  <a:srgbClr val="178CCB"/>
                </a:solidFill>
              </a:rPr>
              <a:t>map &lt;- geodata::</a:t>
            </a:r>
            <a:r>
              <a:rPr lang="en-US" sz="1100" dirty="0" err="1">
                <a:solidFill>
                  <a:srgbClr val="178CCB"/>
                </a:solidFill>
              </a:rPr>
              <a:t>gadm</a:t>
            </a:r>
            <a:r>
              <a:rPr lang="en-US" sz="1100" dirty="0">
                <a:solidFill>
                  <a:srgbClr val="178CCB"/>
                </a:solidFill>
              </a:rPr>
              <a:t>(country = "VNM", level = 1, path = </a:t>
            </a:r>
            <a:r>
              <a:rPr lang="en-US" sz="1100" dirty="0" err="1">
                <a:solidFill>
                  <a:srgbClr val="178CCB"/>
                </a:solidFill>
              </a:rPr>
              <a:t>tempdir</a:t>
            </a:r>
            <a:r>
              <a:rPr lang="en-US" sz="1100" dirty="0">
                <a:solidFill>
                  <a:srgbClr val="178CCB"/>
                </a:solidFill>
              </a:rPr>
              <a:t>())</a:t>
            </a:r>
          </a:p>
          <a:p>
            <a:pPr marL="0" indent="0">
              <a:buNone/>
            </a:pPr>
            <a:endParaRPr lang="en-US" sz="1100" dirty="0">
              <a:solidFill>
                <a:srgbClr val="178CCB"/>
              </a:solidFill>
            </a:endParaRPr>
          </a:p>
          <a:p>
            <a:pPr marL="0" indent="0">
              <a:buNone/>
            </a:pPr>
            <a:r>
              <a:rPr lang="en-US" sz="1100" dirty="0">
                <a:solidFill>
                  <a:srgbClr val="178CCB"/>
                </a:solidFill>
              </a:rPr>
              <a:t>library(sf)</a:t>
            </a:r>
          </a:p>
          <a:p>
            <a:pPr marL="0" indent="0">
              <a:buNone/>
            </a:pPr>
            <a:r>
              <a:rPr lang="en-US" sz="1100" dirty="0">
                <a:solidFill>
                  <a:srgbClr val="178CCB"/>
                </a:solidFill>
              </a:rPr>
              <a:t>map &lt;- </a:t>
            </a:r>
            <a:r>
              <a:rPr lang="en-US" sz="1100" dirty="0" err="1">
                <a:solidFill>
                  <a:srgbClr val="178CCB"/>
                </a:solidFill>
              </a:rPr>
              <a:t>st_as_sf</a:t>
            </a:r>
            <a:r>
              <a:rPr lang="en-US" sz="1100" dirty="0">
                <a:solidFill>
                  <a:srgbClr val="178CCB"/>
                </a:solidFill>
              </a:rPr>
              <a:t>(map)</a:t>
            </a:r>
          </a:p>
          <a:p>
            <a:pPr marL="0" indent="0">
              <a:buNone/>
            </a:pPr>
            <a:endParaRPr lang="en-US" sz="1100" dirty="0">
              <a:solidFill>
                <a:srgbClr val="178CCB"/>
              </a:solidFill>
            </a:endParaRPr>
          </a:p>
          <a:p>
            <a:pPr marL="0" indent="0">
              <a:buNone/>
            </a:pPr>
            <a:r>
              <a:rPr lang="en-US" sz="1100" dirty="0">
                <a:solidFill>
                  <a:srgbClr val="178CCB"/>
                </a:solidFill>
              </a:rPr>
              <a:t>library(</a:t>
            </a:r>
            <a:r>
              <a:rPr lang="en-US" sz="1100" dirty="0" err="1">
                <a:solidFill>
                  <a:srgbClr val="178CCB"/>
                </a:solidFill>
              </a:rPr>
              <a:t>dplyr</a:t>
            </a:r>
            <a:r>
              <a:rPr lang="en-US" sz="1100" dirty="0">
                <a:solidFill>
                  <a:srgbClr val="178CCB"/>
                </a:solidFill>
              </a:rPr>
              <a:t>)</a:t>
            </a:r>
          </a:p>
          <a:p>
            <a:pPr marL="0" indent="0">
              <a:buNone/>
            </a:pPr>
            <a:r>
              <a:rPr lang="en-US" sz="1100" dirty="0">
                <a:solidFill>
                  <a:srgbClr val="178CCB"/>
                </a:solidFill>
              </a:rPr>
              <a:t># join literacy rate from dataset V to map</a:t>
            </a:r>
          </a:p>
          <a:p>
            <a:pPr marL="0" indent="0">
              <a:buNone/>
            </a:pPr>
            <a:r>
              <a:rPr lang="en-US" sz="1100" dirty="0" err="1">
                <a:solidFill>
                  <a:srgbClr val="178CCB"/>
                </a:solidFill>
              </a:rPr>
              <a:t>map_data</a:t>
            </a:r>
            <a:r>
              <a:rPr lang="en-US" sz="1100" dirty="0">
                <a:solidFill>
                  <a:srgbClr val="178CCB"/>
                </a:solidFill>
              </a:rPr>
              <a:t> &lt;- map %&gt;%</a:t>
            </a:r>
          </a:p>
          <a:p>
            <a:pPr marL="0" indent="0">
              <a:buNone/>
            </a:pPr>
            <a:r>
              <a:rPr lang="en-US" sz="1100" dirty="0">
                <a:solidFill>
                  <a:srgbClr val="178CCB"/>
                </a:solidFill>
              </a:rPr>
              <a:t>  </a:t>
            </a:r>
            <a:r>
              <a:rPr lang="en-US" sz="1100" dirty="0" err="1">
                <a:solidFill>
                  <a:srgbClr val="178CCB"/>
                </a:solidFill>
              </a:rPr>
              <a:t>left_join</a:t>
            </a:r>
            <a:r>
              <a:rPr lang="en-US" sz="1100" dirty="0">
                <a:solidFill>
                  <a:srgbClr val="178CCB"/>
                </a:solidFill>
              </a:rPr>
              <a:t>(V, by = c("VARNAME_1" = "province"))</a:t>
            </a:r>
          </a:p>
          <a:p>
            <a:pPr marL="0" indent="0">
              <a:buNone/>
            </a:pPr>
            <a:endParaRPr lang="en-US" sz="1100" dirty="0">
              <a:solidFill>
                <a:srgbClr val="178CCB"/>
              </a:solidFill>
            </a:endParaRPr>
          </a:p>
          <a:p>
            <a:pPr marL="0" indent="0">
              <a:buNone/>
            </a:pPr>
            <a:r>
              <a:rPr lang="en-US" sz="1100" dirty="0">
                <a:solidFill>
                  <a:srgbClr val="178CCB"/>
                </a:solidFill>
              </a:rPr>
              <a:t>library(ggplot2)</a:t>
            </a:r>
          </a:p>
          <a:p>
            <a:pPr marL="0" indent="0">
              <a:buNone/>
            </a:pPr>
            <a:r>
              <a:rPr lang="en-US" sz="1100" dirty="0">
                <a:solidFill>
                  <a:srgbClr val="178CCB"/>
                </a:solidFill>
              </a:rPr>
              <a:t># plot map with literacy rate</a:t>
            </a:r>
          </a:p>
          <a:p>
            <a:pPr marL="0" indent="0">
              <a:buNone/>
            </a:pPr>
            <a:r>
              <a:rPr lang="en-US" sz="1100" dirty="0" err="1">
                <a:solidFill>
                  <a:srgbClr val="178CCB"/>
                </a:solidFill>
              </a:rPr>
              <a:t>ggplot</a:t>
            </a:r>
            <a:r>
              <a:rPr lang="en-US" sz="1100" dirty="0">
                <a:solidFill>
                  <a:srgbClr val="178CCB"/>
                </a:solidFill>
              </a:rPr>
              <a:t>(</a:t>
            </a:r>
            <a:r>
              <a:rPr lang="en-US" sz="1100" dirty="0" err="1">
                <a:solidFill>
                  <a:srgbClr val="178CCB"/>
                </a:solidFill>
              </a:rPr>
              <a:t>map_data</a:t>
            </a:r>
            <a:r>
              <a:rPr lang="en-US" sz="1100" dirty="0">
                <a:solidFill>
                  <a:srgbClr val="178CCB"/>
                </a:solidFill>
              </a:rPr>
              <a:t>) +</a:t>
            </a:r>
          </a:p>
          <a:p>
            <a:pPr marL="0" indent="0">
              <a:buNone/>
            </a:pPr>
            <a:r>
              <a:rPr lang="en-US" sz="1100" dirty="0">
                <a:solidFill>
                  <a:srgbClr val="178CCB"/>
                </a:solidFill>
              </a:rPr>
              <a:t>  </a:t>
            </a:r>
            <a:r>
              <a:rPr lang="en-US" sz="1100" dirty="0" err="1">
                <a:solidFill>
                  <a:srgbClr val="178CCB"/>
                </a:solidFill>
              </a:rPr>
              <a:t>geom_sf</a:t>
            </a:r>
            <a:r>
              <a:rPr lang="en-US" sz="1100" dirty="0">
                <a:solidFill>
                  <a:srgbClr val="178CCB"/>
                </a:solidFill>
              </a:rPr>
              <a:t>(</a:t>
            </a:r>
            <a:r>
              <a:rPr lang="en-US" sz="1100" dirty="0" err="1">
                <a:solidFill>
                  <a:srgbClr val="178CCB"/>
                </a:solidFill>
              </a:rPr>
              <a:t>aes</a:t>
            </a:r>
            <a:r>
              <a:rPr lang="en-US" sz="1100" dirty="0">
                <a:solidFill>
                  <a:srgbClr val="178CCB"/>
                </a:solidFill>
              </a:rPr>
              <a:t>(fill = </a:t>
            </a:r>
            <a:r>
              <a:rPr lang="en-US" sz="1100" dirty="0" err="1">
                <a:solidFill>
                  <a:srgbClr val="178CCB"/>
                </a:solidFill>
              </a:rPr>
              <a:t>literacy_rate</a:t>
            </a:r>
            <a:r>
              <a:rPr lang="en-US" sz="1100" dirty="0">
                <a:solidFill>
                  <a:srgbClr val="178CCB"/>
                </a:solidFill>
              </a:rPr>
              <a:t>)) +</a:t>
            </a:r>
          </a:p>
          <a:p>
            <a:pPr marL="0" indent="0">
              <a:buNone/>
            </a:pPr>
            <a:r>
              <a:rPr lang="en-US" sz="1100" dirty="0">
                <a:solidFill>
                  <a:srgbClr val="178CCB"/>
                </a:solidFill>
              </a:rPr>
              <a:t>  labs(title = "Literacy Rate by Province in Vietnam") +</a:t>
            </a:r>
          </a:p>
          <a:p>
            <a:pPr marL="0" indent="0">
              <a:buNone/>
            </a:pPr>
            <a:r>
              <a:rPr lang="en-US" sz="1100" dirty="0">
                <a:solidFill>
                  <a:srgbClr val="178CCB"/>
                </a:solidFill>
              </a:rPr>
              <a:t>  </a:t>
            </a:r>
            <a:r>
              <a:rPr lang="en-US" sz="1100" dirty="0" err="1">
                <a:solidFill>
                  <a:srgbClr val="178CCB"/>
                </a:solidFill>
              </a:rPr>
              <a:t>theme_void</a:t>
            </a:r>
            <a:r>
              <a:rPr lang="en-US" sz="1100" dirty="0">
                <a:solidFill>
                  <a:srgbClr val="178CCB"/>
                </a:solidFill>
              </a:rPr>
              <a:t>()</a:t>
            </a:r>
          </a:p>
          <a:p>
            <a:pPr marL="0" indent="0">
              <a:buNone/>
            </a:pPr>
            <a:endParaRPr sz="1100" dirty="0">
              <a:solidFill>
                <a:srgbClr val="178CCB"/>
              </a:solidFill>
            </a:endParaRPr>
          </a:p>
        </p:txBody>
      </p:sp>
      <p:sp>
        <p:nvSpPr>
          <p:cNvPr id="5" name="TextBox 4">
            <a:extLst>
              <a:ext uri="{FF2B5EF4-FFF2-40B4-BE49-F238E27FC236}">
                <a16:creationId xmlns:a16="http://schemas.microsoft.com/office/drawing/2014/main" id="{686C34BF-1C13-E021-1B28-BEF126318B58}"/>
              </a:ext>
            </a:extLst>
          </p:cNvPr>
          <p:cNvSpPr txBox="1"/>
          <p:nvPr/>
        </p:nvSpPr>
        <p:spPr bwMode="auto">
          <a:xfrm>
            <a:off x="1316165" y="3235354"/>
            <a:ext cx="2240365" cy="307777"/>
          </a:xfrm>
          <a:prstGeom prst="rect">
            <a:avLst/>
          </a:prstGeom>
          <a:noFill/>
          <a:ln w="19050" algn="ctr">
            <a:noFill/>
            <a:miter lim="800000"/>
            <a:headEnd/>
            <a:tailEnd/>
          </a:ln>
        </p:spPr>
        <p:txBody>
          <a:bodyPr wrap="square">
            <a:spAutoFit/>
          </a:bodyPr>
          <a:lstStyle/>
          <a:p>
            <a:r>
              <a:rPr lang="en-US" sz="1400" dirty="0"/>
              <a:t>merge map and your data</a:t>
            </a:r>
          </a:p>
        </p:txBody>
      </p:sp>
      <p:pic>
        <p:nvPicPr>
          <p:cNvPr id="29" name="Picture 28">
            <a:extLst>
              <a:ext uri="{FF2B5EF4-FFF2-40B4-BE49-F238E27FC236}">
                <a16:creationId xmlns:a16="http://schemas.microsoft.com/office/drawing/2014/main" id="{F28D1013-85DD-AC7F-C17F-F655C6CD48ED}"/>
              </a:ext>
            </a:extLst>
          </p:cNvPr>
          <p:cNvPicPr>
            <a:picLocks noChangeAspect="1"/>
          </p:cNvPicPr>
          <p:nvPr/>
        </p:nvPicPr>
        <p:blipFill>
          <a:blip r:embed="rId4"/>
          <a:stretch>
            <a:fillRect/>
          </a:stretch>
        </p:blipFill>
        <p:spPr>
          <a:xfrm>
            <a:off x="3675800" y="2483737"/>
            <a:ext cx="3351166" cy="1382585"/>
          </a:xfrm>
          <a:prstGeom prst="rect">
            <a:avLst/>
          </a:prstGeom>
        </p:spPr>
      </p:pic>
      <p:cxnSp>
        <p:nvCxnSpPr>
          <p:cNvPr id="32" name="Straight Arrow Connector 31">
            <a:extLst>
              <a:ext uri="{FF2B5EF4-FFF2-40B4-BE49-F238E27FC236}">
                <a16:creationId xmlns:a16="http://schemas.microsoft.com/office/drawing/2014/main" id="{A440E367-5E2E-13D7-7677-6D82D32FD3D1}"/>
              </a:ext>
            </a:extLst>
          </p:cNvPr>
          <p:cNvCxnSpPr>
            <a:cxnSpLocks/>
          </p:cNvCxnSpPr>
          <p:nvPr/>
        </p:nvCxnSpPr>
        <p:spPr>
          <a:xfrm>
            <a:off x="1083365" y="3260035"/>
            <a:ext cx="232800" cy="129208"/>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8102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B4B12-7226-33AD-3FF5-3A51D8E0A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C2C0E-E61D-572A-D7A5-5D72A8C90825}"/>
              </a:ext>
            </a:extLst>
          </p:cNvPr>
          <p:cNvSpPr>
            <a:spLocks noGrp="1"/>
          </p:cNvSpPr>
          <p:nvPr>
            <p:ph type="title"/>
          </p:nvPr>
        </p:nvSpPr>
        <p:spPr>
          <a:xfrm>
            <a:off x="423770" y="156150"/>
            <a:ext cx="8173580" cy="458587"/>
          </a:xfrm>
        </p:spPr>
        <p:txBody>
          <a:bodyPr/>
          <a:lstStyle/>
          <a:p>
            <a:r>
              <a:rPr lang="en-US" sz="2800" dirty="0"/>
              <a:t>Show Literacy in Vietnam </a:t>
            </a:r>
            <a:r>
              <a:rPr sz="2800" dirty="0"/>
              <a:t>(R Code)</a:t>
            </a:r>
          </a:p>
        </p:txBody>
      </p:sp>
      <p:sp>
        <p:nvSpPr>
          <p:cNvPr id="3" name="Content Placeholder 2">
            <a:extLst>
              <a:ext uri="{FF2B5EF4-FFF2-40B4-BE49-F238E27FC236}">
                <a16:creationId xmlns:a16="http://schemas.microsoft.com/office/drawing/2014/main" id="{7961AE9E-233F-C947-16A2-11081CA726BD}"/>
              </a:ext>
            </a:extLst>
          </p:cNvPr>
          <p:cNvSpPr>
            <a:spLocks noGrp="1"/>
          </p:cNvSpPr>
          <p:nvPr>
            <p:ph idx="1"/>
          </p:nvPr>
        </p:nvSpPr>
        <p:spPr>
          <a:xfrm>
            <a:off x="423771" y="785191"/>
            <a:ext cx="6404412" cy="3081131"/>
          </a:xfrm>
        </p:spPr>
        <p:txBody>
          <a:bodyPr/>
          <a:lstStyle/>
          <a:p>
            <a:pPr marL="0" indent="0">
              <a:buNone/>
            </a:pPr>
            <a:r>
              <a:rPr lang="en-US" sz="1100" dirty="0">
                <a:solidFill>
                  <a:srgbClr val="178CCB"/>
                </a:solidFill>
              </a:rPr>
              <a:t>library(geodata) </a:t>
            </a:r>
          </a:p>
          <a:p>
            <a:pPr marL="0" indent="0">
              <a:buNone/>
            </a:pPr>
            <a:r>
              <a:rPr lang="en-US" sz="1100" dirty="0">
                <a:solidFill>
                  <a:srgbClr val="178CCB"/>
                </a:solidFill>
              </a:rPr>
              <a:t>map &lt;- geodata::</a:t>
            </a:r>
            <a:r>
              <a:rPr lang="en-US" sz="1100" dirty="0" err="1">
                <a:solidFill>
                  <a:srgbClr val="178CCB"/>
                </a:solidFill>
              </a:rPr>
              <a:t>gadm</a:t>
            </a:r>
            <a:r>
              <a:rPr lang="en-US" sz="1100" dirty="0">
                <a:solidFill>
                  <a:srgbClr val="178CCB"/>
                </a:solidFill>
              </a:rPr>
              <a:t>(country = "VNM", level = 1, path = </a:t>
            </a:r>
            <a:r>
              <a:rPr lang="en-US" sz="1100" dirty="0" err="1">
                <a:solidFill>
                  <a:srgbClr val="178CCB"/>
                </a:solidFill>
              </a:rPr>
              <a:t>tempdir</a:t>
            </a:r>
            <a:r>
              <a:rPr lang="en-US" sz="1100" dirty="0">
                <a:solidFill>
                  <a:srgbClr val="178CCB"/>
                </a:solidFill>
              </a:rPr>
              <a:t>())</a:t>
            </a:r>
          </a:p>
          <a:p>
            <a:pPr marL="0" indent="0">
              <a:buNone/>
            </a:pPr>
            <a:endParaRPr lang="en-US" sz="1100" dirty="0">
              <a:solidFill>
                <a:srgbClr val="178CCB"/>
              </a:solidFill>
            </a:endParaRPr>
          </a:p>
          <a:p>
            <a:pPr marL="0" indent="0">
              <a:buNone/>
            </a:pPr>
            <a:r>
              <a:rPr lang="en-US" sz="1100" dirty="0">
                <a:solidFill>
                  <a:srgbClr val="178CCB"/>
                </a:solidFill>
              </a:rPr>
              <a:t>library(sf)</a:t>
            </a:r>
          </a:p>
          <a:p>
            <a:pPr marL="0" indent="0">
              <a:buNone/>
            </a:pPr>
            <a:r>
              <a:rPr lang="en-US" sz="1100" dirty="0">
                <a:solidFill>
                  <a:srgbClr val="178CCB"/>
                </a:solidFill>
              </a:rPr>
              <a:t>map &lt;- </a:t>
            </a:r>
            <a:r>
              <a:rPr lang="en-US" sz="1100" dirty="0" err="1">
                <a:solidFill>
                  <a:srgbClr val="178CCB"/>
                </a:solidFill>
              </a:rPr>
              <a:t>st_as_sf</a:t>
            </a:r>
            <a:r>
              <a:rPr lang="en-US" sz="1100" dirty="0">
                <a:solidFill>
                  <a:srgbClr val="178CCB"/>
                </a:solidFill>
              </a:rPr>
              <a:t>(map)</a:t>
            </a:r>
          </a:p>
          <a:p>
            <a:pPr marL="0" indent="0">
              <a:buNone/>
            </a:pPr>
            <a:endParaRPr lang="en-US" sz="1100" dirty="0">
              <a:solidFill>
                <a:srgbClr val="178CCB"/>
              </a:solidFill>
            </a:endParaRPr>
          </a:p>
          <a:p>
            <a:pPr marL="0" indent="0">
              <a:buNone/>
            </a:pPr>
            <a:r>
              <a:rPr lang="en-US" sz="1100" dirty="0">
                <a:solidFill>
                  <a:srgbClr val="178CCB"/>
                </a:solidFill>
              </a:rPr>
              <a:t>library(</a:t>
            </a:r>
            <a:r>
              <a:rPr lang="en-US" sz="1100" dirty="0" err="1">
                <a:solidFill>
                  <a:srgbClr val="178CCB"/>
                </a:solidFill>
              </a:rPr>
              <a:t>dplyr</a:t>
            </a:r>
            <a:r>
              <a:rPr lang="en-US" sz="1100" dirty="0">
                <a:solidFill>
                  <a:srgbClr val="178CCB"/>
                </a:solidFill>
              </a:rPr>
              <a:t>)</a:t>
            </a:r>
          </a:p>
          <a:p>
            <a:pPr marL="0" indent="0">
              <a:buNone/>
            </a:pPr>
            <a:r>
              <a:rPr lang="en-US" sz="1100" dirty="0">
                <a:solidFill>
                  <a:srgbClr val="178CCB"/>
                </a:solidFill>
              </a:rPr>
              <a:t># join literacy rate from dataset V to map</a:t>
            </a:r>
          </a:p>
          <a:p>
            <a:pPr marL="0" indent="0">
              <a:buNone/>
            </a:pPr>
            <a:r>
              <a:rPr lang="en-US" sz="1100" dirty="0" err="1">
                <a:solidFill>
                  <a:srgbClr val="178CCB"/>
                </a:solidFill>
              </a:rPr>
              <a:t>map_data</a:t>
            </a:r>
            <a:r>
              <a:rPr lang="en-US" sz="1100" dirty="0">
                <a:solidFill>
                  <a:srgbClr val="178CCB"/>
                </a:solidFill>
              </a:rPr>
              <a:t> &lt;- map %&gt;%</a:t>
            </a:r>
          </a:p>
          <a:p>
            <a:pPr marL="0" indent="0">
              <a:buNone/>
            </a:pPr>
            <a:r>
              <a:rPr lang="en-US" sz="1100" dirty="0">
                <a:solidFill>
                  <a:srgbClr val="178CCB"/>
                </a:solidFill>
              </a:rPr>
              <a:t>  </a:t>
            </a:r>
            <a:r>
              <a:rPr lang="en-US" sz="1100" dirty="0" err="1">
                <a:solidFill>
                  <a:srgbClr val="178CCB"/>
                </a:solidFill>
              </a:rPr>
              <a:t>left_join</a:t>
            </a:r>
            <a:r>
              <a:rPr lang="en-US" sz="1100" dirty="0">
                <a:solidFill>
                  <a:srgbClr val="178CCB"/>
                </a:solidFill>
              </a:rPr>
              <a:t>(V, by = c("VARNAME_1" = "province"))</a:t>
            </a:r>
          </a:p>
          <a:p>
            <a:pPr marL="0" indent="0">
              <a:buNone/>
            </a:pPr>
            <a:endParaRPr lang="en-US" sz="1100" dirty="0">
              <a:solidFill>
                <a:srgbClr val="178CCB"/>
              </a:solidFill>
            </a:endParaRPr>
          </a:p>
          <a:p>
            <a:pPr marL="0" indent="0">
              <a:buNone/>
            </a:pPr>
            <a:r>
              <a:rPr lang="en-US" sz="1100" dirty="0">
                <a:solidFill>
                  <a:srgbClr val="178CCB"/>
                </a:solidFill>
              </a:rPr>
              <a:t>library(ggplot2)</a:t>
            </a:r>
          </a:p>
          <a:p>
            <a:pPr marL="0" indent="0">
              <a:buNone/>
            </a:pPr>
            <a:r>
              <a:rPr lang="en-US" sz="1100" dirty="0">
                <a:solidFill>
                  <a:srgbClr val="178CCB"/>
                </a:solidFill>
              </a:rPr>
              <a:t># plot map with literacy rate</a:t>
            </a:r>
          </a:p>
          <a:p>
            <a:pPr marL="0" indent="0">
              <a:buNone/>
            </a:pPr>
            <a:r>
              <a:rPr lang="en-US" sz="1100" dirty="0" err="1">
                <a:solidFill>
                  <a:srgbClr val="178CCB"/>
                </a:solidFill>
              </a:rPr>
              <a:t>ggplot</a:t>
            </a:r>
            <a:r>
              <a:rPr lang="en-US" sz="1100" dirty="0">
                <a:solidFill>
                  <a:srgbClr val="178CCB"/>
                </a:solidFill>
              </a:rPr>
              <a:t>(</a:t>
            </a:r>
            <a:r>
              <a:rPr lang="en-US" sz="1100" dirty="0" err="1">
                <a:solidFill>
                  <a:srgbClr val="178CCB"/>
                </a:solidFill>
              </a:rPr>
              <a:t>map_data</a:t>
            </a:r>
            <a:r>
              <a:rPr lang="en-US" sz="1100" dirty="0">
                <a:solidFill>
                  <a:srgbClr val="178CCB"/>
                </a:solidFill>
              </a:rPr>
              <a:t>) +</a:t>
            </a:r>
            <a:br>
              <a:rPr lang="en-US" sz="1100" dirty="0">
                <a:solidFill>
                  <a:srgbClr val="178CCB"/>
                </a:solidFill>
              </a:rPr>
            </a:br>
            <a:r>
              <a:rPr lang="en-US" sz="1100" dirty="0" err="1">
                <a:solidFill>
                  <a:srgbClr val="178CCB"/>
                </a:solidFill>
              </a:rPr>
              <a:t>geom_sf</a:t>
            </a:r>
            <a:r>
              <a:rPr lang="en-US" sz="1100" dirty="0">
                <a:solidFill>
                  <a:srgbClr val="178CCB"/>
                </a:solidFill>
              </a:rPr>
              <a:t>(</a:t>
            </a:r>
            <a:r>
              <a:rPr lang="en-US" sz="1100" dirty="0" err="1">
                <a:solidFill>
                  <a:srgbClr val="178CCB"/>
                </a:solidFill>
              </a:rPr>
              <a:t>aes</a:t>
            </a:r>
            <a:r>
              <a:rPr lang="en-US" sz="1100" dirty="0">
                <a:solidFill>
                  <a:srgbClr val="178CCB"/>
                </a:solidFill>
              </a:rPr>
              <a:t>(fill = </a:t>
            </a:r>
            <a:r>
              <a:rPr lang="en-US" sz="1100" dirty="0" err="1">
                <a:solidFill>
                  <a:srgbClr val="178CCB"/>
                </a:solidFill>
              </a:rPr>
              <a:t>literacy_rate</a:t>
            </a:r>
            <a:r>
              <a:rPr lang="en-US" sz="1100" dirty="0">
                <a:solidFill>
                  <a:srgbClr val="178CCB"/>
                </a:solidFill>
              </a:rPr>
              <a:t>), color = "white") +</a:t>
            </a:r>
            <a:br>
              <a:rPr lang="en-US" sz="1100" dirty="0">
                <a:solidFill>
                  <a:srgbClr val="178CCB"/>
                </a:solidFill>
              </a:rPr>
            </a:br>
            <a:r>
              <a:rPr lang="en-US" sz="1100" dirty="0" err="1">
                <a:solidFill>
                  <a:srgbClr val="178CCB"/>
                </a:solidFill>
              </a:rPr>
              <a:t>scale_fill_gradient</a:t>
            </a:r>
            <a:r>
              <a:rPr lang="en-US" sz="1100" dirty="0">
                <a:solidFill>
                  <a:srgbClr val="178CCB"/>
                </a:solidFill>
              </a:rPr>
              <a:t>(low = "red", high = "green", name = "Literacy Rate (%)") +</a:t>
            </a:r>
            <a:br>
              <a:rPr lang="en-US" sz="1100" dirty="0">
                <a:solidFill>
                  <a:srgbClr val="178CCB"/>
                </a:solidFill>
              </a:rPr>
            </a:br>
            <a:r>
              <a:rPr lang="en-US" sz="1100" dirty="0">
                <a:solidFill>
                  <a:srgbClr val="178CCB"/>
                </a:solidFill>
              </a:rPr>
              <a:t>labs(title = "Literacy Rate by Province in Vietnam") +</a:t>
            </a:r>
            <a:br>
              <a:rPr lang="en-US" sz="1100" dirty="0">
                <a:solidFill>
                  <a:srgbClr val="178CCB"/>
                </a:solidFill>
              </a:rPr>
            </a:br>
            <a:r>
              <a:rPr lang="en-US" sz="1100" dirty="0" err="1">
                <a:solidFill>
                  <a:srgbClr val="178CCB"/>
                </a:solidFill>
              </a:rPr>
              <a:t>theme_void</a:t>
            </a:r>
            <a:r>
              <a:rPr lang="en-US" sz="1100" dirty="0">
                <a:solidFill>
                  <a:srgbClr val="178CCB"/>
                </a:solidFill>
              </a:rPr>
              <a:t>()</a:t>
            </a:r>
            <a:endParaRPr sz="1100" dirty="0">
              <a:solidFill>
                <a:srgbClr val="178CCB"/>
              </a:solidFill>
            </a:endParaRPr>
          </a:p>
        </p:txBody>
      </p:sp>
      <p:pic>
        <p:nvPicPr>
          <p:cNvPr id="5" name="Picture 4">
            <a:extLst>
              <a:ext uri="{FF2B5EF4-FFF2-40B4-BE49-F238E27FC236}">
                <a16:creationId xmlns:a16="http://schemas.microsoft.com/office/drawing/2014/main" id="{23D64C02-B6D8-D8B8-5D5A-1CC006D1FF59}"/>
              </a:ext>
            </a:extLst>
          </p:cNvPr>
          <p:cNvPicPr>
            <a:picLocks noChangeAspect="1"/>
          </p:cNvPicPr>
          <p:nvPr/>
        </p:nvPicPr>
        <p:blipFill>
          <a:blip r:embed="rId3"/>
          <a:stretch>
            <a:fillRect/>
          </a:stretch>
        </p:blipFill>
        <p:spPr>
          <a:xfrm>
            <a:off x="6170808" y="526774"/>
            <a:ext cx="2973192" cy="4089952"/>
          </a:xfrm>
          <a:prstGeom prst="rect">
            <a:avLst/>
          </a:prstGeom>
        </p:spPr>
      </p:pic>
      <p:sp>
        <p:nvSpPr>
          <p:cNvPr id="6" name="TextBox 5">
            <a:extLst>
              <a:ext uri="{FF2B5EF4-FFF2-40B4-BE49-F238E27FC236}">
                <a16:creationId xmlns:a16="http://schemas.microsoft.com/office/drawing/2014/main" id="{3FADB6C3-1C4C-7600-A6F7-64CF158BDB91}"/>
              </a:ext>
            </a:extLst>
          </p:cNvPr>
          <p:cNvSpPr txBox="1"/>
          <p:nvPr/>
        </p:nvSpPr>
        <p:spPr bwMode="auto">
          <a:xfrm>
            <a:off x="4572000" y="3929169"/>
            <a:ext cx="2240365" cy="307777"/>
          </a:xfrm>
          <a:prstGeom prst="rect">
            <a:avLst/>
          </a:prstGeom>
          <a:noFill/>
          <a:ln w="19050" algn="ctr">
            <a:noFill/>
            <a:miter lim="800000"/>
            <a:headEnd/>
            <a:tailEnd/>
          </a:ln>
        </p:spPr>
        <p:txBody>
          <a:bodyPr wrap="square">
            <a:spAutoFit/>
          </a:bodyPr>
          <a:lstStyle/>
          <a:p>
            <a:r>
              <a:rPr lang="en-US" sz="1400" dirty="0"/>
              <a:t>Gradient (red </a:t>
            </a:r>
            <a:r>
              <a:rPr lang="en-US" sz="1400" dirty="0">
                <a:sym typeface="Wingdings" pitchFamily="2" charset="2"/>
              </a:rPr>
              <a:t> green)</a:t>
            </a:r>
            <a:r>
              <a:rPr lang="en-US" sz="1400" dirty="0"/>
              <a:t> </a:t>
            </a:r>
          </a:p>
        </p:txBody>
      </p:sp>
      <p:cxnSp>
        <p:nvCxnSpPr>
          <p:cNvPr id="7" name="Straight Arrow Connector 6">
            <a:extLst>
              <a:ext uri="{FF2B5EF4-FFF2-40B4-BE49-F238E27FC236}">
                <a16:creationId xmlns:a16="http://schemas.microsoft.com/office/drawing/2014/main" id="{E61EE023-A830-3B24-E9E2-EC9D68D773C8}"/>
              </a:ext>
            </a:extLst>
          </p:cNvPr>
          <p:cNvCxnSpPr>
            <a:cxnSpLocks/>
          </p:cNvCxnSpPr>
          <p:nvPr/>
        </p:nvCxnSpPr>
        <p:spPr>
          <a:xfrm flipV="1">
            <a:off x="3747052" y="4083058"/>
            <a:ext cx="824948" cy="216735"/>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659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Mapping Tips</a:t>
            </a:r>
          </a:p>
        </p:txBody>
      </p:sp>
      <p:sp>
        <p:nvSpPr>
          <p:cNvPr id="3" name="Content Placeholder 2"/>
          <p:cNvSpPr>
            <a:spLocks noGrp="1"/>
          </p:cNvSpPr>
          <p:nvPr>
            <p:ph idx="1"/>
          </p:nvPr>
        </p:nvSpPr>
        <p:spPr/>
        <p:txBody>
          <a:bodyPr/>
          <a:lstStyle/>
          <a:p>
            <a:r>
              <a:rPr dirty="0"/>
              <a:t>Use intuitive color scales</a:t>
            </a:r>
          </a:p>
          <a:p>
            <a:r>
              <a:rPr dirty="0"/>
              <a:t>Avoid too many categories</a:t>
            </a:r>
          </a:p>
          <a:p>
            <a:r>
              <a:rPr dirty="0"/>
              <a:t>Include legends and labels</a:t>
            </a:r>
          </a:p>
          <a:p>
            <a:r>
              <a:rPr dirty="0"/>
              <a:t>Ensure geographic accuracy</a:t>
            </a:r>
          </a:p>
        </p:txBody>
      </p:sp>
      <p:pic>
        <p:nvPicPr>
          <p:cNvPr id="4" name="Picture 3">
            <a:extLst>
              <a:ext uri="{FF2B5EF4-FFF2-40B4-BE49-F238E27FC236}">
                <a16:creationId xmlns:a16="http://schemas.microsoft.com/office/drawing/2014/main" id="{BFF81F8C-81A6-94CE-AA81-0D2A4ABF7420}"/>
              </a:ext>
            </a:extLst>
          </p:cNvPr>
          <p:cNvPicPr>
            <a:picLocks noChangeAspect="1"/>
          </p:cNvPicPr>
          <p:nvPr/>
        </p:nvPicPr>
        <p:blipFill>
          <a:blip r:embed="rId3"/>
          <a:stretch>
            <a:fillRect/>
          </a:stretch>
        </p:blipFill>
        <p:spPr>
          <a:xfrm>
            <a:off x="4764157" y="1712014"/>
            <a:ext cx="1795670" cy="2693505"/>
          </a:xfrm>
          <a:prstGeom prst="rect">
            <a:avLst/>
          </a:prstGeom>
        </p:spPr>
      </p:pic>
      <p:pic>
        <p:nvPicPr>
          <p:cNvPr id="5" name="Picture 4">
            <a:extLst>
              <a:ext uri="{FF2B5EF4-FFF2-40B4-BE49-F238E27FC236}">
                <a16:creationId xmlns:a16="http://schemas.microsoft.com/office/drawing/2014/main" id="{94F6DFA3-AECD-4286-C458-7AD7924193D5}"/>
              </a:ext>
            </a:extLst>
          </p:cNvPr>
          <p:cNvPicPr>
            <a:picLocks noChangeAspect="1"/>
          </p:cNvPicPr>
          <p:nvPr/>
        </p:nvPicPr>
        <p:blipFill>
          <a:blip r:embed="rId4"/>
          <a:stretch>
            <a:fillRect/>
          </a:stretch>
        </p:blipFill>
        <p:spPr>
          <a:xfrm>
            <a:off x="7086599" y="1712014"/>
            <a:ext cx="1958009" cy="269345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Reproducible Workflows</a:t>
            </a:r>
          </a:p>
        </p:txBody>
      </p:sp>
      <p:sp>
        <p:nvSpPr>
          <p:cNvPr id="3" name="Content Placeholder 2"/>
          <p:cNvSpPr>
            <a:spLocks noGrp="1"/>
          </p:cNvSpPr>
          <p:nvPr>
            <p:ph idx="1"/>
          </p:nvPr>
        </p:nvSpPr>
        <p:spPr/>
        <p:txBody>
          <a:bodyPr/>
          <a:lstStyle/>
          <a:p>
            <a:pPr marL="0" indent="0">
              <a:buNone/>
            </a:pPr>
            <a:r>
              <a:rPr dirty="0"/>
              <a:t>Best practices:</a:t>
            </a:r>
          </a:p>
          <a:p>
            <a:r>
              <a:rPr dirty="0"/>
              <a:t>Keep scripts organized</a:t>
            </a:r>
          </a:p>
          <a:p>
            <a:r>
              <a:rPr dirty="0"/>
              <a:t>Use version control (Git</a:t>
            </a:r>
            <a:r>
              <a:rPr lang="en-US" dirty="0"/>
              <a:t>Hub</a:t>
            </a:r>
            <a:r>
              <a:rPr dirty="0"/>
              <a:t>)</a:t>
            </a:r>
          </a:p>
          <a:p>
            <a:r>
              <a:rPr dirty="0"/>
              <a:t>Document analysis </a:t>
            </a:r>
            <a:r>
              <a:rPr lang="en-US" dirty="0"/>
              <a:t>and visualization </a:t>
            </a:r>
            <a:r>
              <a:rPr dirty="0"/>
              <a:t>steps</a:t>
            </a:r>
          </a:p>
          <a:p>
            <a:r>
              <a:rPr dirty="0"/>
              <a:t>Automate reports using R</a:t>
            </a:r>
            <a:r>
              <a:rPr lang="en-US" dirty="0"/>
              <a:t> and </a:t>
            </a:r>
          </a:p>
          <a:p>
            <a:pPr lvl="1"/>
            <a:r>
              <a:rPr dirty="0"/>
              <a:t>Markdown</a:t>
            </a:r>
            <a:endParaRPr lang="en-US" dirty="0"/>
          </a:p>
          <a:p>
            <a:pPr lvl="1"/>
            <a:r>
              <a:rPr dirty="0"/>
              <a:t>Quarto</a:t>
            </a:r>
            <a:endParaRPr lang="en-US" dirty="0"/>
          </a:p>
          <a:p>
            <a:pPr lvl="1"/>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Exporting Publication-Ready Figures</a:t>
            </a:r>
          </a:p>
        </p:txBody>
      </p:sp>
      <p:sp>
        <p:nvSpPr>
          <p:cNvPr id="3" name="Content Placeholder 2"/>
          <p:cNvSpPr>
            <a:spLocks noGrp="1"/>
          </p:cNvSpPr>
          <p:nvPr>
            <p:ph idx="1"/>
          </p:nvPr>
        </p:nvSpPr>
        <p:spPr>
          <a:xfrm>
            <a:off x="453585" y="944217"/>
            <a:ext cx="8137665" cy="2932045"/>
          </a:xfrm>
        </p:spPr>
        <p:txBody>
          <a:bodyPr/>
          <a:lstStyle/>
          <a:p>
            <a:pPr marL="0" indent="0">
              <a:buNone/>
            </a:pPr>
            <a:endParaRPr lang="en-US" sz="1400" dirty="0">
              <a:solidFill>
                <a:srgbClr val="178CCB"/>
              </a:solidFill>
            </a:endParaRPr>
          </a:p>
          <a:p>
            <a:pPr marL="0" indent="0">
              <a:buNone/>
            </a:pPr>
            <a:r>
              <a:rPr lang="en-US" sz="1400" dirty="0">
                <a:solidFill>
                  <a:srgbClr val="178CCB"/>
                </a:solidFill>
              </a:rPr>
              <a:t>p &lt;- </a:t>
            </a:r>
            <a:r>
              <a:rPr lang="en-US" sz="1400" dirty="0" err="1">
                <a:solidFill>
                  <a:srgbClr val="178CCB"/>
                </a:solidFill>
              </a:rPr>
              <a:t>ggplot</a:t>
            </a:r>
            <a:r>
              <a:rPr lang="en-US" sz="1400" dirty="0">
                <a:solidFill>
                  <a:srgbClr val="178CCB"/>
                </a:solidFill>
              </a:rPr>
              <a:t>(V, </a:t>
            </a:r>
            <a:r>
              <a:rPr lang="en-US" sz="1400" dirty="0" err="1">
                <a:solidFill>
                  <a:srgbClr val="178CCB"/>
                </a:solidFill>
              </a:rPr>
              <a:t>aes</a:t>
            </a:r>
            <a:r>
              <a:rPr lang="en-US" sz="1400" dirty="0">
                <a:solidFill>
                  <a:srgbClr val="178CCB"/>
                </a:solidFill>
              </a:rPr>
              <a:t>(x = region, y = </a:t>
            </a:r>
            <a:r>
              <a:rPr lang="en-US" sz="1400" dirty="0" err="1">
                <a:solidFill>
                  <a:srgbClr val="178CCB"/>
                </a:solidFill>
              </a:rPr>
              <a:t>poverty_rate</a:t>
            </a:r>
            <a:r>
              <a:rPr lang="en-US" sz="1400" dirty="0">
                <a:solidFill>
                  <a:srgbClr val="178CCB"/>
                </a:solidFill>
              </a:rPr>
              <a:t>)) +</a:t>
            </a:r>
          </a:p>
          <a:p>
            <a:pPr marL="0" indent="0">
              <a:buNone/>
            </a:pPr>
            <a:r>
              <a:rPr lang="en-US" sz="1400" dirty="0">
                <a:solidFill>
                  <a:srgbClr val="178CCB"/>
                </a:solidFill>
              </a:rPr>
              <a:t>  </a:t>
            </a:r>
            <a:r>
              <a:rPr lang="en-US" sz="1400" dirty="0" err="1">
                <a:solidFill>
                  <a:srgbClr val="178CCB"/>
                </a:solidFill>
              </a:rPr>
              <a:t>geom_boxplot</a:t>
            </a:r>
            <a:r>
              <a:rPr lang="en-US" sz="1400" dirty="0">
                <a:solidFill>
                  <a:srgbClr val="178CCB"/>
                </a:solidFill>
              </a:rPr>
              <a:t>(fill = "</a:t>
            </a:r>
            <a:r>
              <a:rPr lang="en-US" sz="1400" dirty="0" err="1">
                <a:solidFill>
                  <a:srgbClr val="178CCB"/>
                </a:solidFill>
              </a:rPr>
              <a:t>steelblue</a:t>
            </a:r>
            <a:r>
              <a:rPr lang="en-US" sz="1400" dirty="0">
                <a:solidFill>
                  <a:srgbClr val="178CCB"/>
                </a:solidFill>
              </a:rPr>
              <a:t>", alpha = 0.7) +</a:t>
            </a:r>
          </a:p>
          <a:p>
            <a:pPr marL="0" indent="0">
              <a:buNone/>
            </a:pPr>
            <a:r>
              <a:rPr lang="en-US" sz="1400" dirty="0">
                <a:solidFill>
                  <a:srgbClr val="178CCB"/>
                </a:solidFill>
              </a:rPr>
              <a:t>  labs(</a:t>
            </a:r>
          </a:p>
          <a:p>
            <a:pPr marL="0" indent="0">
              <a:buNone/>
            </a:pPr>
            <a:r>
              <a:rPr lang="en-US" sz="1400" dirty="0">
                <a:solidFill>
                  <a:srgbClr val="178CCB"/>
                </a:solidFill>
              </a:rPr>
              <a:t>    title = "Poverty Rate by Region",</a:t>
            </a:r>
          </a:p>
          <a:p>
            <a:pPr marL="0" indent="0">
              <a:buNone/>
            </a:pPr>
            <a:r>
              <a:rPr lang="en-US" sz="1400" dirty="0">
                <a:solidFill>
                  <a:srgbClr val="178CCB"/>
                </a:solidFill>
              </a:rPr>
              <a:t>    x = "Region",</a:t>
            </a:r>
          </a:p>
          <a:p>
            <a:pPr marL="0" indent="0">
              <a:buNone/>
            </a:pPr>
            <a:r>
              <a:rPr lang="en-US" sz="1400" dirty="0">
                <a:solidFill>
                  <a:srgbClr val="178CCB"/>
                </a:solidFill>
              </a:rPr>
              <a:t>    y = "Poverty Rate (%)"</a:t>
            </a:r>
          </a:p>
          <a:p>
            <a:pPr marL="0" indent="0">
              <a:buNone/>
            </a:pPr>
            <a:r>
              <a:rPr lang="en-US" sz="1400" dirty="0">
                <a:solidFill>
                  <a:srgbClr val="178CCB"/>
                </a:solidFill>
              </a:rPr>
              <a:t>  ) +</a:t>
            </a:r>
          </a:p>
          <a:p>
            <a:pPr marL="0" indent="0">
              <a:buNone/>
            </a:pPr>
            <a:r>
              <a:rPr lang="en-US" sz="1400" dirty="0">
                <a:solidFill>
                  <a:srgbClr val="178CCB"/>
                </a:solidFill>
              </a:rPr>
              <a:t>  </a:t>
            </a:r>
            <a:r>
              <a:rPr lang="en-US" sz="1400" dirty="0" err="1">
                <a:solidFill>
                  <a:srgbClr val="178CCB"/>
                </a:solidFill>
              </a:rPr>
              <a:t>theme_minimal</a:t>
            </a:r>
            <a:r>
              <a:rPr lang="en-US" sz="1400" dirty="0">
                <a:solidFill>
                  <a:srgbClr val="178CCB"/>
                </a:solidFill>
              </a:rPr>
              <a:t>()</a:t>
            </a:r>
          </a:p>
          <a:p>
            <a:pPr marL="0" indent="0">
              <a:buNone/>
            </a:pPr>
            <a:endParaRPr lang="en-US" sz="1400" dirty="0">
              <a:solidFill>
                <a:srgbClr val="178CCB"/>
              </a:solidFill>
            </a:endParaRPr>
          </a:p>
          <a:p>
            <a:pPr marL="0" indent="0">
              <a:buNone/>
            </a:pPr>
            <a:r>
              <a:rPr lang="en-US" sz="1400" dirty="0">
                <a:solidFill>
                  <a:srgbClr val="178CCB"/>
                </a:solidFill>
              </a:rPr>
              <a:t># Save as JPG</a:t>
            </a:r>
          </a:p>
          <a:p>
            <a:pPr marL="0" indent="0">
              <a:buNone/>
            </a:pPr>
            <a:r>
              <a:rPr lang="en-US" sz="1400" dirty="0" err="1">
                <a:solidFill>
                  <a:srgbClr val="178CCB"/>
                </a:solidFill>
              </a:rPr>
              <a:t>ggsave</a:t>
            </a:r>
            <a:r>
              <a:rPr lang="en-US" sz="1400" dirty="0">
                <a:solidFill>
                  <a:srgbClr val="178CCB"/>
                </a:solidFill>
              </a:rPr>
              <a:t>("</a:t>
            </a:r>
            <a:r>
              <a:rPr lang="en-US" sz="1400" dirty="0" err="1">
                <a:solidFill>
                  <a:srgbClr val="178CCB"/>
                </a:solidFill>
              </a:rPr>
              <a:t>poverty_rate_boxplot.jpg</a:t>
            </a:r>
            <a:r>
              <a:rPr lang="en-US" sz="1400" dirty="0">
                <a:solidFill>
                  <a:srgbClr val="178CCB"/>
                </a:solidFill>
              </a:rPr>
              <a:t>", plot = p, width = 8, height = 6, dpi = 300)</a:t>
            </a:r>
          </a:p>
        </p:txBody>
      </p:sp>
      <p:pic>
        <p:nvPicPr>
          <p:cNvPr id="4" name="Picture 3">
            <a:extLst>
              <a:ext uri="{FF2B5EF4-FFF2-40B4-BE49-F238E27FC236}">
                <a16:creationId xmlns:a16="http://schemas.microsoft.com/office/drawing/2014/main" id="{70045143-96D6-10E4-346F-BB97C60F4CAF}"/>
              </a:ext>
            </a:extLst>
          </p:cNvPr>
          <p:cNvPicPr>
            <a:picLocks noChangeAspect="1"/>
          </p:cNvPicPr>
          <p:nvPr/>
        </p:nvPicPr>
        <p:blipFill>
          <a:blip r:embed="rId3"/>
          <a:stretch>
            <a:fillRect/>
          </a:stretch>
        </p:blipFill>
        <p:spPr>
          <a:xfrm>
            <a:off x="5997437" y="3611495"/>
            <a:ext cx="2476500" cy="292100"/>
          </a:xfrm>
          <a:prstGeom prst="rect">
            <a:avLst/>
          </a:prstGeom>
        </p:spPr>
      </p:pic>
      <p:cxnSp>
        <p:nvCxnSpPr>
          <p:cNvPr id="6" name="Elbow Connector 5">
            <a:extLst>
              <a:ext uri="{FF2B5EF4-FFF2-40B4-BE49-F238E27FC236}">
                <a16:creationId xmlns:a16="http://schemas.microsoft.com/office/drawing/2014/main" id="{191BD33A-E74E-C647-AB6E-65204BC10103}"/>
              </a:ext>
            </a:extLst>
          </p:cNvPr>
          <p:cNvCxnSpPr/>
          <p:nvPr/>
        </p:nvCxnSpPr>
        <p:spPr>
          <a:xfrm flipV="1">
            <a:off x="5357191" y="3747052"/>
            <a:ext cx="496957" cy="238539"/>
          </a:xfrm>
          <a:prstGeom prst="bentConnector3">
            <a:avLst>
              <a:gd name="adj1" fmla="val -4000"/>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2B769-D7B4-0F32-1B51-CD2A6AD70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B9A6A-5100-71DA-6BE9-6E29F6586C0E}"/>
              </a:ext>
            </a:extLst>
          </p:cNvPr>
          <p:cNvSpPr>
            <a:spLocks noGrp="1"/>
          </p:cNvSpPr>
          <p:nvPr>
            <p:ph type="title"/>
          </p:nvPr>
        </p:nvSpPr>
        <p:spPr>
          <a:xfrm>
            <a:off x="629841" y="273844"/>
            <a:ext cx="7886700" cy="994172"/>
          </a:xfrm>
        </p:spPr>
        <p:txBody>
          <a:bodyPr/>
          <a:lstStyle/>
          <a:p>
            <a:r>
              <a:rPr lang="en-US"/>
              <a:t>Data Visualization by R</a:t>
            </a:r>
            <a:br>
              <a:rPr lang="en-US"/>
            </a:br>
            <a:r>
              <a:rPr lang="en-US"/>
              <a:t>Try an AI and Report (5 min.)</a:t>
            </a:r>
            <a:endParaRPr lang="en-US" dirty="0"/>
          </a:p>
        </p:txBody>
      </p:sp>
      <p:sp>
        <p:nvSpPr>
          <p:cNvPr id="5" name="Text Placeholder 4">
            <a:extLst>
              <a:ext uri="{FF2B5EF4-FFF2-40B4-BE49-F238E27FC236}">
                <a16:creationId xmlns:a16="http://schemas.microsoft.com/office/drawing/2014/main" id="{D9A207F9-6E12-E7E9-8D7C-7817BE3B9CE9}"/>
              </a:ext>
            </a:extLst>
          </p:cNvPr>
          <p:cNvSpPr>
            <a:spLocks noGrp="1"/>
          </p:cNvSpPr>
          <p:nvPr>
            <p:ph type="body" idx="1"/>
          </p:nvPr>
        </p:nvSpPr>
        <p:spPr>
          <a:xfrm>
            <a:off x="135319" y="1260873"/>
            <a:ext cx="2299970" cy="411173"/>
          </a:xfrm>
        </p:spPr>
        <p:txBody>
          <a:bodyPr>
            <a:normAutofit/>
          </a:bodyPr>
          <a:lstStyle/>
          <a:p>
            <a:r>
              <a:rPr lang="en-US" sz="1200" dirty="0"/>
              <a:t>Choose any of these AI tool</a:t>
            </a:r>
          </a:p>
        </p:txBody>
      </p:sp>
      <p:sp>
        <p:nvSpPr>
          <p:cNvPr id="3" name="Content Placeholder 2">
            <a:extLst>
              <a:ext uri="{FF2B5EF4-FFF2-40B4-BE49-F238E27FC236}">
                <a16:creationId xmlns:a16="http://schemas.microsoft.com/office/drawing/2014/main" id="{ED8111B6-5667-6BBE-BB26-1931A2BB7316}"/>
              </a:ext>
            </a:extLst>
          </p:cNvPr>
          <p:cNvSpPr>
            <a:spLocks noGrp="1"/>
          </p:cNvSpPr>
          <p:nvPr>
            <p:ph sz="half" idx="2"/>
          </p:nvPr>
        </p:nvSpPr>
        <p:spPr>
          <a:xfrm>
            <a:off x="135319" y="1804161"/>
            <a:ext cx="2299970" cy="2763441"/>
          </a:xfrm>
        </p:spPr>
        <p:txBody>
          <a:bodyPr>
            <a:noAutofit/>
          </a:bodyPr>
          <a:lstStyle/>
          <a:p>
            <a:pPr marL="0" indent="0">
              <a:buNone/>
            </a:pPr>
            <a:r>
              <a:rPr lang="en-US" sz="900" b="1" dirty="0"/>
              <a:t>General</a:t>
            </a:r>
          </a:p>
          <a:p>
            <a:r>
              <a:rPr lang="en-US" sz="900" dirty="0"/>
              <a:t>ChatGPT: </a:t>
            </a:r>
            <a:r>
              <a:rPr lang="en-US" sz="900" dirty="0">
                <a:hlinkClick r:id="rId3"/>
              </a:rPr>
              <a:t>https://chatgpt.com</a:t>
            </a:r>
            <a:r>
              <a:rPr lang="en-US" sz="900" dirty="0"/>
              <a:t> </a:t>
            </a:r>
          </a:p>
          <a:p>
            <a:r>
              <a:rPr lang="en-US" sz="900" dirty="0"/>
              <a:t>Claude: </a:t>
            </a:r>
            <a:r>
              <a:rPr lang="en-US" sz="900" dirty="0">
                <a:hlinkClick r:id="rId4"/>
              </a:rPr>
              <a:t>https://claude.ai</a:t>
            </a:r>
            <a:r>
              <a:rPr lang="en-US" sz="900" dirty="0"/>
              <a:t> </a:t>
            </a:r>
          </a:p>
          <a:p>
            <a:r>
              <a:rPr lang="en-US" sz="900" dirty="0"/>
              <a:t>Copilot: </a:t>
            </a:r>
            <a:r>
              <a:rPr lang="en-US" sz="900" dirty="0">
                <a:hlinkClick r:id="rId5"/>
              </a:rPr>
              <a:t>https://copilot.microsoft.com</a:t>
            </a:r>
            <a:r>
              <a:rPr lang="en-US" sz="900" dirty="0"/>
              <a:t> </a:t>
            </a:r>
          </a:p>
          <a:p>
            <a:r>
              <a:rPr lang="en-US" sz="900" dirty="0"/>
              <a:t>Gemini: </a:t>
            </a:r>
            <a:r>
              <a:rPr lang="en-US" sz="900" dirty="0">
                <a:hlinkClick r:id="rId6"/>
              </a:rPr>
              <a:t>https://gemini.google.com</a:t>
            </a:r>
            <a:r>
              <a:rPr lang="en-US" sz="900" dirty="0"/>
              <a:t> </a:t>
            </a:r>
          </a:p>
          <a:p>
            <a:r>
              <a:rPr lang="en-US" sz="900" dirty="0"/>
              <a:t>Perplexity: </a:t>
            </a:r>
            <a:r>
              <a:rPr lang="en-US" sz="900" dirty="0">
                <a:hlinkClick r:id="rId7"/>
              </a:rPr>
              <a:t>https://perplexity.ai</a:t>
            </a:r>
            <a:endParaRPr lang="en-US" sz="900" dirty="0"/>
          </a:p>
        </p:txBody>
      </p:sp>
      <p:sp>
        <p:nvSpPr>
          <p:cNvPr id="6" name="Text Placeholder 5">
            <a:extLst>
              <a:ext uri="{FF2B5EF4-FFF2-40B4-BE49-F238E27FC236}">
                <a16:creationId xmlns:a16="http://schemas.microsoft.com/office/drawing/2014/main" id="{99304D40-47BD-850C-39BF-65D43532461C}"/>
              </a:ext>
            </a:extLst>
          </p:cNvPr>
          <p:cNvSpPr>
            <a:spLocks noGrp="1"/>
          </p:cNvSpPr>
          <p:nvPr>
            <p:ph type="body" sz="quarter" idx="3"/>
          </p:nvPr>
        </p:nvSpPr>
        <p:spPr>
          <a:xfrm>
            <a:off x="2511104" y="1260872"/>
            <a:ext cx="3887391" cy="411173"/>
          </a:xfrm>
        </p:spPr>
        <p:txBody>
          <a:bodyPr>
            <a:normAutofit/>
          </a:bodyPr>
          <a:lstStyle/>
          <a:p>
            <a:r>
              <a:rPr lang="en-US" sz="1200" dirty="0"/>
              <a:t>AI PROMPT to create R code for data visualization</a:t>
            </a:r>
            <a:endParaRPr lang="en-US" sz="1200" dirty="0">
              <a:solidFill>
                <a:srgbClr val="FF0000"/>
              </a:solidFill>
            </a:endParaRPr>
          </a:p>
        </p:txBody>
      </p:sp>
      <p:sp>
        <p:nvSpPr>
          <p:cNvPr id="4" name="Content Placeholder 3">
            <a:extLst>
              <a:ext uri="{FF2B5EF4-FFF2-40B4-BE49-F238E27FC236}">
                <a16:creationId xmlns:a16="http://schemas.microsoft.com/office/drawing/2014/main" id="{4B520DA9-7298-F3BF-8444-F436B4A4CA02}"/>
              </a:ext>
            </a:extLst>
          </p:cNvPr>
          <p:cNvSpPr>
            <a:spLocks noGrp="1"/>
          </p:cNvSpPr>
          <p:nvPr>
            <p:ph sz="quarter" idx="4"/>
          </p:nvPr>
        </p:nvSpPr>
        <p:spPr>
          <a:xfrm>
            <a:off x="2435289" y="1672046"/>
            <a:ext cx="6573391" cy="2895556"/>
          </a:xfrm>
        </p:spPr>
        <p:txBody>
          <a:bodyPr>
            <a:noAutofit/>
          </a:bodyPr>
          <a:lstStyle/>
          <a:p>
            <a:r>
              <a:rPr lang="en-US" sz="1000" b="1" dirty="0"/>
              <a:t>SYSTEM / CONTEXT:</a:t>
            </a:r>
            <a:r>
              <a:rPr lang="en-US" sz="1000" dirty="0"/>
              <a:t> You are an assistant to create R code for data visualization. Keep R code simple and easy to read, and add notations as needed. You don’t need to create data. The name of dataset, and variable(s) will be provided. Provide R code to download maps from </a:t>
            </a:r>
            <a:r>
              <a:rPr lang="en-US" sz="1000" dirty="0">
                <a:solidFill>
                  <a:srgbClr val="178CCB"/>
                </a:solidFill>
                <a:hlinkClick r:id="rId8"/>
              </a:rPr>
              <a:t>https://gadm.org/</a:t>
            </a:r>
            <a:r>
              <a:rPr lang="en-US" sz="1000" dirty="0"/>
              <a:t> if needed.</a:t>
            </a:r>
          </a:p>
          <a:p>
            <a:r>
              <a:rPr lang="en-US" sz="1000" b="1" dirty="0"/>
              <a:t>USER PROMPT:</a:t>
            </a:r>
            <a:endParaRPr lang="en-US" sz="1000" dirty="0"/>
          </a:p>
          <a:p>
            <a:pPr lvl="0"/>
            <a:r>
              <a:rPr lang="en-US" sz="1000" dirty="0"/>
              <a:t>I want an R code using “</a:t>
            </a:r>
            <a:r>
              <a:rPr lang="en-US" sz="1000" i="1" dirty="0">
                <a:solidFill>
                  <a:srgbClr val="EC1848"/>
                </a:solidFill>
              </a:rPr>
              <a:t>dataset (example: V)</a:t>
            </a:r>
            <a:r>
              <a:rPr lang="en-US" sz="1000" dirty="0"/>
              <a:t>” to create a “</a:t>
            </a:r>
            <a:r>
              <a:rPr lang="en-US" sz="1000" i="1" dirty="0">
                <a:solidFill>
                  <a:srgbClr val="EC1848"/>
                </a:solidFill>
              </a:rPr>
              <a:t>Bar chart, Line chart, Mosaic chart, Histogram, Boxplot, Scatterplot and regression line, or Map</a:t>
            </a:r>
            <a:r>
              <a:rPr lang="en-US" sz="1000" i="1" dirty="0"/>
              <a:t>” </a:t>
            </a:r>
            <a:r>
              <a:rPr lang="en-US" sz="1000" dirty="0"/>
              <a:t>for “</a:t>
            </a:r>
            <a:r>
              <a:rPr lang="en-US" sz="1000" i="1" dirty="0">
                <a:solidFill>
                  <a:srgbClr val="EC1848"/>
                </a:solidFill>
              </a:rPr>
              <a:t>Relationship Between Province Poverty Rate (variable: poverty_rate) and Literacy Rate (variable: literacy_rate)</a:t>
            </a:r>
            <a:r>
              <a:rPr lang="en-US" sz="1000" dirty="0"/>
              <a:t>” in “Vietnam”. Follow the principles of effective visualization exactly:</a:t>
            </a:r>
          </a:p>
          <a:p>
            <a:pPr lvl="0"/>
            <a:r>
              <a:rPr lang="en-US" sz="1000" b="1" dirty="0"/>
              <a:t>Simplicity</a:t>
            </a:r>
            <a:r>
              <a:rPr lang="en-US" sz="1000" dirty="0"/>
              <a:t>: Keep the visualization simple by avoiding unnecessary elements (lines, colors, no grids, etc.), so the main message is easy to understand.</a:t>
            </a:r>
          </a:p>
          <a:p>
            <a:pPr lvl="0"/>
            <a:r>
              <a:rPr lang="en-US" sz="1000" b="1" dirty="0"/>
              <a:t>Clarity</a:t>
            </a:r>
            <a:r>
              <a:rPr lang="en-US" sz="1000" dirty="0"/>
              <a:t>: Use clear labels, titles, and legends so viewers can quickly interpret the information.</a:t>
            </a:r>
          </a:p>
          <a:p>
            <a:r>
              <a:rPr lang="en-US" sz="1000" b="1" dirty="0"/>
              <a:t>Accuracy</a:t>
            </a:r>
            <a:r>
              <a:rPr lang="en-US" sz="1000" dirty="0"/>
              <a:t>: Ensure the data are represented truthfully without misleading scales or distortions. Set the limits to the range of data.</a:t>
            </a:r>
          </a:p>
          <a:p>
            <a:pPr lvl="0"/>
            <a:r>
              <a:rPr lang="en-US" sz="1000" b="1" dirty="0"/>
              <a:t>Appropriate</a:t>
            </a:r>
            <a:r>
              <a:rPr lang="en-US" sz="1000" dirty="0"/>
              <a:t>: Choose the chart type that best matches the data and the question being addressed.</a:t>
            </a:r>
          </a:p>
          <a:p>
            <a:pPr lvl="0"/>
            <a:r>
              <a:rPr lang="en-US" sz="1000" b="1" dirty="0"/>
              <a:t>Consistent formatting</a:t>
            </a:r>
            <a:r>
              <a:rPr lang="en-US" sz="1000" dirty="0"/>
              <a:t>: Use consistent colors, fonts, and styles across charts to improve readability and comparison.</a:t>
            </a:r>
          </a:p>
          <a:p>
            <a:pPr lvl="0"/>
            <a:r>
              <a:rPr lang="en-US" sz="1000" b="1" dirty="0"/>
              <a:t>Exporting Publication-Ready Figures</a:t>
            </a:r>
            <a:r>
              <a:rPr lang="en-US" sz="1000" dirty="0"/>
              <a:t>: Show and save the visualization as jpg, dpi = 300.</a:t>
            </a:r>
          </a:p>
        </p:txBody>
      </p:sp>
      <p:cxnSp>
        <p:nvCxnSpPr>
          <p:cNvPr id="13" name="Straight Connector 12">
            <a:extLst>
              <a:ext uri="{FF2B5EF4-FFF2-40B4-BE49-F238E27FC236}">
                <a16:creationId xmlns:a16="http://schemas.microsoft.com/office/drawing/2014/main" id="{E073EC13-6D0D-EFF2-F92F-3734855E4195}"/>
              </a:ext>
            </a:extLst>
          </p:cNvPr>
          <p:cNvCxnSpPr>
            <a:cxnSpLocks/>
          </p:cNvCxnSpPr>
          <p:nvPr/>
        </p:nvCxnSpPr>
        <p:spPr>
          <a:xfrm>
            <a:off x="135319" y="1672046"/>
            <a:ext cx="22159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160ED79-C52B-31BD-B172-A95D290E50FF}"/>
              </a:ext>
            </a:extLst>
          </p:cNvPr>
          <p:cNvCxnSpPr>
            <a:cxnSpLocks/>
          </p:cNvCxnSpPr>
          <p:nvPr/>
        </p:nvCxnSpPr>
        <p:spPr>
          <a:xfrm>
            <a:off x="2511104" y="1672046"/>
            <a:ext cx="6427623"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3131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r>
              <a:rPr dirty="0"/>
              <a:t>Clear visuals strengthen research communication</a:t>
            </a:r>
          </a:p>
          <a:p>
            <a:r>
              <a:rPr dirty="0"/>
              <a:t>ggplot2 enables flexible and high-quality plots</a:t>
            </a:r>
          </a:p>
          <a:p>
            <a:r>
              <a:rPr dirty="0"/>
              <a:t>Maps highlight geographic health patterns</a:t>
            </a:r>
          </a:p>
          <a:p>
            <a:r>
              <a:rPr dirty="0"/>
              <a:t>Reproducible workflows improve transparency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3403A-101D-F33F-263B-D4C393086E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630B14-8FBC-26C0-7CEC-A4E10D4CAEE2}"/>
              </a:ext>
            </a:extLst>
          </p:cNvPr>
          <p:cNvSpPr>
            <a:spLocks noGrp="1"/>
          </p:cNvSpPr>
          <p:nvPr>
            <p:ph type="title"/>
          </p:nvPr>
        </p:nvSpPr>
        <p:spPr/>
        <p:txBody>
          <a:bodyPr/>
          <a:lstStyle/>
          <a:p>
            <a:r>
              <a:rPr lang="en-US" dirty="0"/>
              <a:t>Discussion and Q&amp;A</a:t>
            </a:r>
          </a:p>
        </p:txBody>
      </p:sp>
      <p:pic>
        <p:nvPicPr>
          <p:cNvPr id="5" name="Picture 4" descr="A colorful circle with lines on it&#10;&#10;Description automatically generated">
            <a:extLst>
              <a:ext uri="{FF2B5EF4-FFF2-40B4-BE49-F238E27FC236}">
                <a16:creationId xmlns:a16="http://schemas.microsoft.com/office/drawing/2014/main" id="{DDE7B232-BDCB-C9C7-74CF-F2A153928F6B}"/>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7600227" y="1497816"/>
            <a:ext cx="1543773" cy="3207617"/>
          </a:xfrm>
          <a:prstGeom prst="rect">
            <a:avLst/>
          </a:prstGeom>
        </p:spPr>
      </p:pic>
      <p:sp>
        <p:nvSpPr>
          <p:cNvPr id="2" name="TextBox 1">
            <a:extLst>
              <a:ext uri="{FF2B5EF4-FFF2-40B4-BE49-F238E27FC236}">
                <a16:creationId xmlns:a16="http://schemas.microsoft.com/office/drawing/2014/main" id="{1C9193E5-DA18-D8E6-31B5-9B469A496D6E}"/>
              </a:ext>
            </a:extLst>
          </p:cNvPr>
          <p:cNvSpPr txBox="1"/>
          <p:nvPr/>
        </p:nvSpPr>
        <p:spPr bwMode="auto">
          <a:xfrm>
            <a:off x="389369" y="3442995"/>
            <a:ext cx="5679632" cy="615553"/>
          </a:xfrm>
          <a:prstGeom prst="rect">
            <a:avLst/>
          </a:prstGeom>
          <a:noFill/>
          <a:ln w="19050" algn="ctr">
            <a:noFill/>
            <a:miter lim="800000"/>
            <a:headEnd/>
            <a:tailEnd/>
          </a:ln>
        </p:spPr>
        <p:txBody>
          <a:bodyPr wrap="none" lIns="0" tIns="0" rIns="0" bIns="0" rtlCol="0">
            <a:spAutoFit/>
          </a:bodyPr>
          <a:lstStyle/>
          <a:p>
            <a:r>
              <a:rPr lang="en-US" sz="2000" dirty="0"/>
              <a:t>Slides, Data sets, Stata, and R codes:</a:t>
            </a:r>
            <a:endParaRPr lang="en-US" sz="2000" dirty="0">
              <a:hlinkClick r:id="rId4"/>
            </a:endParaRPr>
          </a:p>
          <a:p>
            <a:r>
              <a:rPr lang="en-US" sz="2000" dirty="0">
                <a:hlinkClick r:id="rId5"/>
              </a:rPr>
              <a:t>https://github.com/amirzazadeh/DataVisualization</a:t>
            </a:r>
            <a:r>
              <a:rPr lang="en-US" sz="2000" dirty="0"/>
              <a:t> </a:t>
            </a:r>
          </a:p>
        </p:txBody>
      </p:sp>
    </p:spTree>
    <p:extLst>
      <p:ext uri="{BB962C8B-B14F-4D97-AF65-F5344CB8AC3E}">
        <p14:creationId xmlns:p14="http://schemas.microsoft.com/office/powerpoint/2010/main" val="380577840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0C56D-E988-3C95-5926-0E6BDBA1B6C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676418-7644-5CD2-1B77-DDF17606CB30}"/>
              </a:ext>
            </a:extLst>
          </p:cNvPr>
          <p:cNvSpPr>
            <a:spLocks noGrp="1"/>
          </p:cNvSpPr>
          <p:nvPr>
            <p:ph type="sldNum" sz="quarter" idx="12"/>
          </p:nvPr>
        </p:nvSpPr>
        <p:spPr/>
        <p:txBody>
          <a:bodyPr/>
          <a:lstStyle/>
          <a:p>
            <a:fld id="{7BCC8D0D-EAEC-449D-9161-023DFF90F2E2}" type="slidenum">
              <a:rPr lang="en-US" smtClean="0"/>
              <a:pPr/>
              <a:t>37</a:t>
            </a:fld>
            <a:endParaRPr lang="en-US" dirty="0"/>
          </a:p>
        </p:txBody>
      </p:sp>
      <p:sp>
        <p:nvSpPr>
          <p:cNvPr id="8" name="Text Placeholder 7">
            <a:extLst>
              <a:ext uri="{FF2B5EF4-FFF2-40B4-BE49-F238E27FC236}">
                <a16:creationId xmlns:a16="http://schemas.microsoft.com/office/drawing/2014/main" id="{5C106CEC-B81E-9159-DB6B-9113CAAADEB6}"/>
              </a:ext>
            </a:extLst>
          </p:cNvPr>
          <p:cNvSpPr>
            <a:spLocks noGrp="1"/>
          </p:cNvSpPr>
          <p:nvPr>
            <p:ph type="body" sz="quarter" idx="13"/>
          </p:nvPr>
        </p:nvSpPr>
        <p:spPr>
          <a:xfrm>
            <a:off x="437601" y="1231641"/>
            <a:ext cx="8229323" cy="3370792"/>
          </a:xfrm>
        </p:spPr>
        <p:txBody>
          <a:bodyPr>
            <a:normAutofit fontScale="85000" lnSpcReduction="10000"/>
          </a:bodyPr>
          <a:lstStyle/>
          <a:p>
            <a:r>
              <a:rPr lang="en-US" sz="3000" b="1" dirty="0"/>
              <a:t>Training Materials (Slides, Stata/R codes, Data):</a:t>
            </a:r>
          </a:p>
          <a:p>
            <a:endParaRPr lang="en-US" sz="1400" b="1" dirty="0"/>
          </a:p>
          <a:p>
            <a:r>
              <a:rPr lang="en-US" sz="1400" b="1" dirty="0"/>
              <a:t>Session 1: Survival analysis with time-varying covariates</a:t>
            </a:r>
          </a:p>
          <a:p>
            <a:pPr marL="457200" indent="-457200">
              <a:buFont typeface="Arial" panose="020B0604020202020204" pitchFamily="34" charset="0"/>
              <a:buChar char="•"/>
            </a:pPr>
            <a:r>
              <a:rPr lang="en-US" sz="1400" dirty="0"/>
              <a:t>March 5 at 9-10am Vietnam time</a:t>
            </a:r>
          </a:p>
          <a:p>
            <a:pPr marL="457200" indent="-457200">
              <a:buFont typeface="Arial" panose="020B0604020202020204" pitchFamily="34" charset="0"/>
              <a:buChar char="•"/>
            </a:pPr>
            <a:r>
              <a:rPr lang="en-US" sz="1400" dirty="0">
                <a:hlinkClick r:id="rId3"/>
              </a:rPr>
              <a:t>https://github.com/amirzazadeh/survival</a:t>
            </a:r>
            <a:r>
              <a:rPr lang="en-US" sz="1400" dirty="0"/>
              <a:t> </a:t>
            </a:r>
          </a:p>
          <a:p>
            <a:endParaRPr lang="en-US" sz="1400" b="1" dirty="0"/>
          </a:p>
          <a:p>
            <a:r>
              <a:rPr lang="en-US" sz="1400" b="1" dirty="0"/>
              <a:t>Session 2: Predictor Selection Strategies in Regression Models</a:t>
            </a:r>
          </a:p>
          <a:p>
            <a:pPr marL="457200" indent="-457200">
              <a:buFont typeface="Arial" panose="020B0604020202020204" pitchFamily="34" charset="0"/>
              <a:buChar char="•"/>
            </a:pPr>
            <a:r>
              <a:rPr lang="en-US" sz="1400" dirty="0"/>
              <a:t>Date/time: March 12 at 9-10am Vietnam time</a:t>
            </a:r>
          </a:p>
          <a:p>
            <a:pPr marL="457200" indent="-457200">
              <a:buFont typeface="Arial" panose="020B0604020202020204" pitchFamily="34" charset="0"/>
              <a:buChar char="•"/>
            </a:pPr>
            <a:r>
              <a:rPr lang="en-US" sz="1400" dirty="0">
                <a:hlinkClick r:id="rId4"/>
              </a:rPr>
              <a:t>https://github.com/amirzazadeh/predictor-selection</a:t>
            </a:r>
            <a:r>
              <a:rPr lang="en-US" sz="1400" dirty="0"/>
              <a:t> </a:t>
            </a:r>
          </a:p>
          <a:p>
            <a:endParaRPr lang="en-US" sz="1400" b="1" dirty="0"/>
          </a:p>
          <a:p>
            <a:r>
              <a:rPr lang="en-US" sz="1400" b="1" dirty="0"/>
              <a:t>Session 3: Data visualization in R (plots and maps) to make report/factsheet</a:t>
            </a:r>
          </a:p>
          <a:p>
            <a:pPr marL="457200" indent="-457200">
              <a:buFont typeface="Arial" panose="020B0604020202020204" pitchFamily="34" charset="0"/>
              <a:buChar char="•"/>
            </a:pPr>
            <a:r>
              <a:rPr lang="en-US" sz="1400" dirty="0"/>
              <a:t>Date/time: March 19 at 9-10am Vietnam time</a:t>
            </a:r>
          </a:p>
          <a:p>
            <a:pPr marL="457200" indent="-457200">
              <a:buFont typeface="Arial" panose="020B0604020202020204" pitchFamily="34" charset="0"/>
              <a:buChar char="•"/>
            </a:pPr>
            <a:r>
              <a:rPr lang="en-US" sz="1400" dirty="0">
                <a:hlinkClick r:id="rId5"/>
              </a:rPr>
              <a:t>https://github.com/amirzazadeh/DataVisualization</a:t>
            </a:r>
            <a:r>
              <a:rPr lang="en-US" sz="1400" dirty="0"/>
              <a:t> </a:t>
            </a:r>
          </a:p>
        </p:txBody>
      </p:sp>
      <p:sp>
        <p:nvSpPr>
          <p:cNvPr id="14" name="TextBox 13">
            <a:extLst>
              <a:ext uri="{FF2B5EF4-FFF2-40B4-BE49-F238E27FC236}">
                <a16:creationId xmlns:a16="http://schemas.microsoft.com/office/drawing/2014/main" id="{ABFFE3E9-83E3-3B4B-14FC-E8AB47AAFC52}"/>
              </a:ext>
            </a:extLst>
          </p:cNvPr>
          <p:cNvSpPr txBox="1"/>
          <p:nvPr/>
        </p:nvSpPr>
        <p:spPr bwMode="auto">
          <a:xfrm>
            <a:off x="499505" y="2403938"/>
            <a:ext cx="265603" cy="307777"/>
          </a:xfrm>
          <a:prstGeom prst="rect">
            <a:avLst/>
          </a:prstGeom>
          <a:noFill/>
          <a:ln w="19050" algn="ctr">
            <a:noFill/>
            <a:miter lim="800000"/>
            <a:headEnd/>
            <a:tailEnd/>
          </a:ln>
        </p:spPr>
        <p:txBody>
          <a:bodyPr wrap="square" lIns="0" tIns="0" rIns="0" bIns="0" rtlCol="0">
            <a:spAutoFit/>
          </a:bodyPr>
          <a:lstStyle/>
          <a:p>
            <a:r>
              <a:rPr lang="en-US" sz="2000" dirty="0"/>
              <a:t>✅</a:t>
            </a:r>
          </a:p>
        </p:txBody>
      </p:sp>
      <p:sp>
        <p:nvSpPr>
          <p:cNvPr id="4" name="TextBox 3">
            <a:extLst>
              <a:ext uri="{FF2B5EF4-FFF2-40B4-BE49-F238E27FC236}">
                <a16:creationId xmlns:a16="http://schemas.microsoft.com/office/drawing/2014/main" id="{F0278FD0-41E2-F033-1E09-FA19BBAC073A}"/>
              </a:ext>
            </a:extLst>
          </p:cNvPr>
          <p:cNvSpPr txBox="1"/>
          <p:nvPr/>
        </p:nvSpPr>
        <p:spPr bwMode="auto">
          <a:xfrm>
            <a:off x="490174" y="3359160"/>
            <a:ext cx="265603" cy="307777"/>
          </a:xfrm>
          <a:prstGeom prst="rect">
            <a:avLst/>
          </a:prstGeom>
          <a:noFill/>
          <a:ln w="19050" algn="ctr">
            <a:noFill/>
            <a:miter lim="800000"/>
            <a:headEnd/>
            <a:tailEnd/>
          </a:ln>
        </p:spPr>
        <p:txBody>
          <a:bodyPr wrap="square" lIns="0" tIns="0" rIns="0" bIns="0" rtlCol="0">
            <a:spAutoFit/>
          </a:bodyPr>
          <a:lstStyle/>
          <a:p>
            <a:r>
              <a:rPr lang="en-US" sz="2000" dirty="0"/>
              <a:t>✅</a:t>
            </a:r>
          </a:p>
        </p:txBody>
      </p:sp>
      <p:sp>
        <p:nvSpPr>
          <p:cNvPr id="3" name="TextBox 2">
            <a:extLst>
              <a:ext uri="{FF2B5EF4-FFF2-40B4-BE49-F238E27FC236}">
                <a16:creationId xmlns:a16="http://schemas.microsoft.com/office/drawing/2014/main" id="{C93FB454-CFC0-88F6-D65B-144474D108A6}"/>
              </a:ext>
            </a:extLst>
          </p:cNvPr>
          <p:cNvSpPr txBox="1"/>
          <p:nvPr/>
        </p:nvSpPr>
        <p:spPr bwMode="auto">
          <a:xfrm>
            <a:off x="467745" y="4333042"/>
            <a:ext cx="265603" cy="307777"/>
          </a:xfrm>
          <a:prstGeom prst="rect">
            <a:avLst/>
          </a:prstGeom>
          <a:noFill/>
          <a:ln w="19050" algn="ctr">
            <a:noFill/>
            <a:miter lim="800000"/>
            <a:headEnd/>
            <a:tailEnd/>
          </a:ln>
        </p:spPr>
        <p:txBody>
          <a:bodyPr wrap="square" lIns="0" tIns="0" rIns="0" bIns="0" rtlCol="0">
            <a:spAutoFit/>
          </a:bodyPr>
          <a:lstStyle/>
          <a:p>
            <a:r>
              <a:rPr lang="en-US" sz="2000" dirty="0"/>
              <a:t>✅</a:t>
            </a:r>
          </a:p>
        </p:txBody>
      </p:sp>
    </p:spTree>
    <p:extLst>
      <p:ext uri="{BB962C8B-B14F-4D97-AF65-F5344CB8AC3E}">
        <p14:creationId xmlns:p14="http://schemas.microsoft.com/office/powerpoint/2010/main" val="467849560"/>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4C9719-A4FF-DBEA-DCDF-5C0BF2E43AB4}"/>
              </a:ext>
            </a:extLst>
          </p:cNvPr>
          <p:cNvSpPr>
            <a:spLocks noGrp="1"/>
          </p:cNvSpPr>
          <p:nvPr>
            <p:ph type="sldNum" sz="quarter" idx="12"/>
          </p:nvPr>
        </p:nvSpPr>
        <p:spPr/>
        <p:txBody>
          <a:bodyPr/>
          <a:lstStyle/>
          <a:p>
            <a:fld id="{7BCC8D0D-EAEC-449D-9161-023DFF90F2E2}" type="slidenum">
              <a:rPr lang="en-US" smtClean="0"/>
              <a:pPr/>
              <a:t>38</a:t>
            </a:fld>
            <a:endParaRPr lang="en-US" dirty="0"/>
          </a:p>
        </p:txBody>
      </p:sp>
      <p:pic>
        <p:nvPicPr>
          <p:cNvPr id="7" name="Picture 6">
            <a:extLst>
              <a:ext uri="{FF2B5EF4-FFF2-40B4-BE49-F238E27FC236}">
                <a16:creationId xmlns:a16="http://schemas.microsoft.com/office/drawing/2014/main" id="{54ABC9CB-6D98-C0B6-083E-32CB4B2444BB}"/>
              </a:ext>
            </a:extLst>
          </p:cNvPr>
          <p:cNvPicPr>
            <a:picLocks noChangeAspect="1"/>
          </p:cNvPicPr>
          <p:nvPr/>
        </p:nvPicPr>
        <p:blipFill>
          <a:blip r:embed="rId3"/>
          <a:srcRect t="30839"/>
          <a:stretch>
            <a:fillRect/>
          </a:stretch>
        </p:blipFill>
        <p:spPr>
          <a:xfrm>
            <a:off x="2081816" y="1422400"/>
            <a:ext cx="4422615" cy="2595515"/>
          </a:xfrm>
          <a:prstGeom prst="rect">
            <a:avLst/>
          </a:prstGeom>
        </p:spPr>
      </p:pic>
      <p:pic>
        <p:nvPicPr>
          <p:cNvPr id="11" name="Picture 10">
            <a:extLst>
              <a:ext uri="{FF2B5EF4-FFF2-40B4-BE49-F238E27FC236}">
                <a16:creationId xmlns:a16="http://schemas.microsoft.com/office/drawing/2014/main" id="{A65E18D2-853C-E8E4-06B5-A486C35A841D}"/>
              </a:ext>
            </a:extLst>
          </p:cNvPr>
          <p:cNvPicPr>
            <a:picLocks noChangeAspect="1"/>
          </p:cNvPicPr>
          <p:nvPr/>
        </p:nvPicPr>
        <p:blipFill>
          <a:blip r:embed="rId4"/>
          <a:stretch>
            <a:fillRect/>
          </a:stretch>
        </p:blipFill>
        <p:spPr>
          <a:xfrm>
            <a:off x="7376160" y="438765"/>
            <a:ext cx="1351280" cy="1351280"/>
          </a:xfrm>
          <a:prstGeom prst="rect">
            <a:avLst/>
          </a:prstGeom>
        </p:spPr>
      </p:pic>
      <p:sp>
        <p:nvSpPr>
          <p:cNvPr id="12" name="TextBox 11">
            <a:extLst>
              <a:ext uri="{FF2B5EF4-FFF2-40B4-BE49-F238E27FC236}">
                <a16:creationId xmlns:a16="http://schemas.microsoft.com/office/drawing/2014/main" id="{11764177-52DB-078F-800D-E4B23D6A443F}"/>
              </a:ext>
            </a:extLst>
          </p:cNvPr>
          <p:cNvSpPr txBox="1"/>
          <p:nvPr/>
        </p:nvSpPr>
        <p:spPr bwMode="auto">
          <a:xfrm>
            <a:off x="2201704" y="4338320"/>
            <a:ext cx="5578450" cy="246221"/>
          </a:xfrm>
          <a:prstGeom prst="rect">
            <a:avLst/>
          </a:prstGeom>
          <a:noFill/>
          <a:ln w="19050" algn="ctr">
            <a:noFill/>
            <a:miter lim="800000"/>
            <a:headEnd/>
            <a:tailEnd/>
          </a:ln>
        </p:spPr>
        <p:txBody>
          <a:bodyPr wrap="none" lIns="0" tIns="0" rIns="0" bIns="0" rtlCol="0">
            <a:spAutoFit/>
          </a:bodyPr>
          <a:lstStyle/>
          <a:p>
            <a:r>
              <a:rPr lang="en-US" sz="1600" dirty="0">
                <a:hlinkClick r:id="rId5"/>
              </a:rPr>
              <a:t>https://ucsf.co1.qualtrics.com/jfe/form/SV_0T9P2PqlLB3LoIS</a:t>
            </a:r>
            <a:r>
              <a:rPr lang="en-US" sz="1600" dirty="0"/>
              <a:t> </a:t>
            </a:r>
          </a:p>
        </p:txBody>
      </p:sp>
      <p:sp>
        <p:nvSpPr>
          <p:cNvPr id="13" name="TextBox 12">
            <a:extLst>
              <a:ext uri="{FF2B5EF4-FFF2-40B4-BE49-F238E27FC236}">
                <a16:creationId xmlns:a16="http://schemas.microsoft.com/office/drawing/2014/main" id="{179F7D52-2AC5-C32D-958F-AEF98AD871C1}"/>
              </a:ext>
            </a:extLst>
          </p:cNvPr>
          <p:cNvSpPr txBox="1"/>
          <p:nvPr/>
        </p:nvSpPr>
        <p:spPr bwMode="auto">
          <a:xfrm>
            <a:off x="2201704" y="987085"/>
            <a:ext cx="2911053" cy="276999"/>
          </a:xfrm>
          <a:prstGeom prst="rect">
            <a:avLst/>
          </a:prstGeom>
          <a:solidFill>
            <a:schemeClr val="bg1"/>
          </a:solidFill>
          <a:ln w="19050" algn="ctr">
            <a:noFill/>
            <a:miter lim="800000"/>
            <a:headEnd/>
            <a:tailEnd/>
          </a:ln>
        </p:spPr>
        <p:txBody>
          <a:bodyPr wrap="none" lIns="0" tIns="0" rIns="0" bIns="0" rtlCol="0">
            <a:spAutoFit/>
          </a:bodyPr>
          <a:lstStyle/>
          <a:p>
            <a:r>
              <a:rPr lang="en-US" b="1" dirty="0">
                <a:solidFill>
                  <a:srgbClr val="FF0000"/>
                </a:solidFill>
              </a:rPr>
              <a:t>3-Minute Feedback Survey</a:t>
            </a:r>
          </a:p>
        </p:txBody>
      </p:sp>
    </p:spTree>
    <p:extLst>
      <p:ext uri="{BB962C8B-B14F-4D97-AF65-F5344CB8AC3E}">
        <p14:creationId xmlns:p14="http://schemas.microsoft.com/office/powerpoint/2010/main" val="164528571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020B19A-C81C-AABC-3B3A-7DC70A947394}"/>
              </a:ext>
            </a:extLst>
          </p:cNvPr>
          <p:cNvSpPr>
            <a:spLocks noGrp="1"/>
          </p:cNvSpPr>
          <p:nvPr>
            <p:ph type="body" sz="quarter" idx="13"/>
          </p:nvPr>
        </p:nvSpPr>
        <p:spPr/>
        <p:txBody>
          <a:bodyPr>
            <a:normAutofit fontScale="55000" lnSpcReduction="20000"/>
          </a:bodyPr>
          <a:lstStyle/>
          <a:p>
            <a:r>
              <a:rPr lang="en-US" b="1" dirty="0"/>
              <a:t>Online Statistical Data Consultation</a:t>
            </a:r>
            <a:endParaRPr lang="en-US" dirty="0"/>
          </a:p>
          <a:p>
            <a:r>
              <a:rPr lang="en-US" dirty="0"/>
              <a:t>These online consultation sessions provide individualized</a:t>
            </a:r>
            <a:br>
              <a:rPr lang="en-US" dirty="0"/>
            </a:br>
            <a:r>
              <a:rPr lang="en-US" dirty="0"/>
              <a:t>support for data analysis and statistical questions to colleagues from Vietnam.</a:t>
            </a:r>
          </a:p>
          <a:p>
            <a:r>
              <a:rPr lang="en-US" b="1" dirty="0"/>
              <a:t>Format</a:t>
            </a:r>
            <a:r>
              <a:rPr lang="en-US" dirty="0"/>
              <a:t>: 30-minute online consultation</a:t>
            </a:r>
          </a:p>
          <a:p>
            <a:r>
              <a:rPr lang="en-US" b="1" dirty="0"/>
              <a:t>Schedule</a:t>
            </a:r>
            <a:r>
              <a:rPr lang="en-US" dirty="0"/>
              <a:t>: Every Thursday</a:t>
            </a:r>
          </a:p>
          <a:p>
            <a:pPr marL="457200" lvl="0" indent="-457200">
              <a:buFont typeface="Arial" panose="020B0604020202020204" pitchFamily="34" charset="0"/>
              <a:buChar char="•"/>
            </a:pPr>
            <a:r>
              <a:rPr lang="en-US" dirty="0"/>
              <a:t>Time 1: 9:00 - 9:30 AM (Vietnam time)</a:t>
            </a:r>
          </a:p>
          <a:p>
            <a:pPr marL="457200" lvl="0" indent="-457200">
              <a:buFont typeface="Arial" panose="020B0604020202020204" pitchFamily="34" charset="0"/>
              <a:buChar char="•"/>
            </a:pPr>
            <a:r>
              <a:rPr lang="en-US" dirty="0"/>
              <a:t>Time 2: 9:30 - 10:00 AM (Vietnam time)</a:t>
            </a:r>
          </a:p>
          <a:p>
            <a:r>
              <a:rPr lang="en-US" b="1" dirty="0"/>
              <a:t>Mode</a:t>
            </a:r>
            <a:r>
              <a:rPr lang="en-US" dirty="0"/>
              <a:t>: Online (Zoom)</a:t>
            </a:r>
          </a:p>
          <a:p>
            <a:endParaRPr lang="en-US" dirty="0"/>
          </a:p>
        </p:txBody>
      </p:sp>
      <p:sp>
        <p:nvSpPr>
          <p:cNvPr id="9" name="Text Placeholder 8">
            <a:extLst>
              <a:ext uri="{FF2B5EF4-FFF2-40B4-BE49-F238E27FC236}">
                <a16:creationId xmlns:a16="http://schemas.microsoft.com/office/drawing/2014/main" id="{81CCB8A7-A8B3-FE33-2392-5582D926A444}"/>
              </a:ext>
            </a:extLst>
          </p:cNvPr>
          <p:cNvSpPr>
            <a:spLocks noGrp="1"/>
          </p:cNvSpPr>
          <p:nvPr>
            <p:ph type="body" sz="quarter" idx="14"/>
          </p:nvPr>
        </p:nvSpPr>
        <p:spPr>
          <a:xfrm>
            <a:off x="447674" y="3696829"/>
            <a:ext cx="7959208" cy="430429"/>
          </a:xfrm>
        </p:spPr>
        <p:txBody>
          <a:bodyPr>
            <a:normAutofit lnSpcReduction="10000"/>
          </a:bodyPr>
          <a:lstStyle/>
          <a:p>
            <a:r>
              <a:rPr lang="en-US" dirty="0">
                <a:hlinkClick r:id="rId3"/>
              </a:rPr>
              <a:t>https://calendly.com/ali-mirzazadeh/30-min-vietnam-statistical-consultation</a:t>
            </a:r>
            <a:endParaRPr lang="en-US" dirty="0"/>
          </a:p>
          <a:p>
            <a:endParaRPr lang="en-US" dirty="0"/>
          </a:p>
        </p:txBody>
      </p:sp>
      <p:pic>
        <p:nvPicPr>
          <p:cNvPr id="11" name="Picture 10">
            <a:extLst>
              <a:ext uri="{FF2B5EF4-FFF2-40B4-BE49-F238E27FC236}">
                <a16:creationId xmlns:a16="http://schemas.microsoft.com/office/drawing/2014/main" id="{3D033866-7CC4-98B8-ABD4-7BEC0D6E118A}"/>
              </a:ext>
            </a:extLst>
          </p:cNvPr>
          <p:cNvPicPr>
            <a:picLocks noChangeAspect="1"/>
          </p:cNvPicPr>
          <p:nvPr/>
        </p:nvPicPr>
        <p:blipFill>
          <a:blip r:embed="rId4"/>
          <a:stretch>
            <a:fillRect/>
          </a:stretch>
        </p:blipFill>
        <p:spPr>
          <a:xfrm>
            <a:off x="7269713" y="129439"/>
            <a:ext cx="1573568" cy="1560119"/>
          </a:xfrm>
          <a:prstGeom prst="rect">
            <a:avLst/>
          </a:prstGeom>
        </p:spPr>
      </p:pic>
    </p:spTree>
    <p:extLst>
      <p:ext uri="{BB962C8B-B14F-4D97-AF65-F5344CB8AC3E}">
        <p14:creationId xmlns:p14="http://schemas.microsoft.com/office/powerpoint/2010/main" val="515031273"/>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2356611"/>
      </p:ext>
    </p:extLst>
  </p:cSld>
  <p:clrMapOvr>
    <a:masterClrMapping/>
  </p:clrMapOvr>
  <p:transition>
    <p:fade/>
  </p:transition>
</p:sld>
</file>

<file path=ppt/theme/theme1.xml><?xml version="1.0" encoding="utf-8"?>
<a:theme xmlns:a="http://schemas.openxmlformats.org/drawingml/2006/main" name="UCSF Classic">
  <a:themeElements>
    <a:clrScheme name="UCSF 1">
      <a:dk1>
        <a:srgbClr val="052049"/>
      </a:dk1>
      <a:lt1>
        <a:srgbClr val="FFFFFF"/>
      </a:lt1>
      <a:dk2>
        <a:srgbClr val="052049"/>
      </a:dk2>
      <a:lt2>
        <a:srgbClr val="FFFFFF"/>
      </a:lt2>
      <a:accent1>
        <a:srgbClr val="0093D0"/>
      </a:accent1>
      <a:accent2>
        <a:srgbClr val="16A0AC"/>
      </a:accent2>
      <a:accent3>
        <a:srgbClr val="32A03E"/>
      </a:accent3>
      <a:accent4>
        <a:srgbClr val="A238BA"/>
      </a:accent4>
      <a:accent5>
        <a:srgbClr val="C32882"/>
      </a:accent5>
      <a:accent6>
        <a:srgbClr val="6C61D0"/>
      </a:accent6>
      <a:hlink>
        <a:srgbClr val="178CCB"/>
      </a:hlink>
      <a:folHlink>
        <a:srgbClr val="5F5F5F"/>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noAutofit/>
      </a:bodyPr>
      <a:lstStyle>
        <a:defPPr marL="342900" indent="-342900">
          <a:buClr>
            <a:schemeClr val="accent1"/>
          </a:buClr>
          <a:buSzPct val="80000"/>
          <a:buFont typeface="Wingdings" charset="2"/>
          <a:buChar char="§"/>
          <a:defRPr sz="2000" dirty="0" smtClean="0">
            <a:solidFill>
              <a:schemeClr val="tx1"/>
            </a:solidFill>
          </a:defRPr>
        </a:defPPr>
      </a:lstStyle>
    </a:txDef>
  </a:objectDefaults>
  <a:extraClrSchemeLst/>
  <a:extLst>
    <a:ext uri="{05A4C25C-085E-4340-85A3-A5531E510DB2}">
      <thm15:themeFamily xmlns:thm15="http://schemas.microsoft.com/office/thememl/2012/main" name="e3_UCSF-16x9-FontA_test2" id="{24DA3907-1B0C-0B4F-8531-D21433304D1E}" vid="{D9C2AF2E-EB53-994D-B007-E3AEEE4B0E8B}"/>
    </a:ext>
  </a:extLst>
</a:theme>
</file>

<file path=ppt/theme/theme2.xml><?xml version="1.0" encoding="utf-8"?>
<a:theme xmlns:a="http://schemas.openxmlformats.org/drawingml/2006/main" name="UCSF Contemporary Pattern 1">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UCSF">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e3_UCSF-16x9-FontA_test2" id="{24DA3907-1B0C-0B4F-8531-D21433304D1E}" vid="{5AF78529-A89B-1E41-BE10-0E2BEF66F84E}"/>
    </a:ext>
  </a:extLst>
</a:theme>
</file>

<file path=ppt/theme/theme3.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Coalesse Palette">
      <a:dk1>
        <a:sysClr val="windowText" lastClr="000000"/>
      </a:dk1>
      <a:lt1>
        <a:sysClr val="window" lastClr="FFFFFF"/>
      </a:lt1>
      <a:dk2>
        <a:srgbClr val="342B2A"/>
      </a:dk2>
      <a:lt2>
        <a:srgbClr val="DAD6CB"/>
      </a:lt2>
      <a:accent1>
        <a:srgbClr val="E55302"/>
      </a:accent1>
      <a:accent2>
        <a:srgbClr val="5F3032"/>
      </a:accent2>
      <a:accent3>
        <a:srgbClr val="005774"/>
      </a:accent3>
      <a:accent4>
        <a:srgbClr val="9BA03C"/>
      </a:accent4>
      <a:accent5>
        <a:srgbClr val="34AA71"/>
      </a:accent5>
      <a:accent6>
        <a:srgbClr val="F3BD48"/>
      </a:accent6>
      <a:hlink>
        <a:srgbClr val="34AA71"/>
      </a:hlink>
      <a:folHlink>
        <a:srgbClr val="8C8C8C"/>
      </a:folHlink>
    </a:clrScheme>
    <a:fontScheme name="Coalesse">
      <a:majorFont>
        <a:latin typeface="Arial"/>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BFD5D484ED57438231C5F4848B6EC7" ma:contentTypeVersion="0" ma:contentTypeDescription="Create a new document." ma:contentTypeScope="" ma:versionID="48808eaeca51724a2208bf8797897858">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E5686649-89C0-47C3-BB59-3DECE68F34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F8A51949-CE2D-4D1D-81B7-CD96A1311979}">
  <ds:schemaRefs>
    <ds:schemaRef ds:uri="http://schemas.microsoft.com/sharepoint/v3/contenttype/forms"/>
  </ds:schemaRefs>
</ds:datastoreItem>
</file>

<file path=customXml/itemProps3.xml><?xml version="1.0" encoding="utf-8"?>
<ds:datastoreItem xmlns:ds="http://schemas.openxmlformats.org/officeDocument/2006/customXml" ds:itemID="{DB48DB2A-A2BB-49B9-B517-04CB45F2482A}">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e3_UCSF-16x9-FontA_Draft4 (1)</Template>
  <TotalTime>11351</TotalTime>
  <Words>3408</Words>
  <Application>Microsoft Macintosh PowerPoint</Application>
  <PresentationFormat>On-screen Show (16:9)</PresentationFormat>
  <Paragraphs>459</Paragraphs>
  <Slides>40</Slides>
  <Notes>40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.AppleSystemUIFont</vt:lpstr>
      <vt:lpstr>Arial</vt:lpstr>
      <vt:lpstr>Calibri</vt:lpstr>
      <vt:lpstr>Garamond</vt:lpstr>
      <vt:lpstr>Wingdings</vt:lpstr>
      <vt:lpstr>UCSF Classic</vt:lpstr>
      <vt:lpstr>UCSF Contemporary Pattern 1</vt:lpstr>
      <vt:lpstr>Data visualization in R (plots and maps)</vt:lpstr>
      <vt:lpstr>Learning Objectives</vt:lpstr>
      <vt:lpstr>About me </vt:lpstr>
      <vt:lpstr>Principles of Effective Data Visualization</vt:lpstr>
      <vt:lpstr>Why Visualization Matters in Public Health</vt:lpstr>
      <vt:lpstr>Principles of Effective Visualization</vt:lpstr>
      <vt:lpstr>Example of and Effective Visualization</vt:lpstr>
      <vt:lpstr>Common Visualization Types in public health</vt:lpstr>
      <vt:lpstr>Common Visualization Types in public health:</vt:lpstr>
      <vt:lpstr>Bar charts</vt:lpstr>
      <vt:lpstr>Line charts</vt:lpstr>
      <vt:lpstr>Mozaic charts</vt:lpstr>
      <vt:lpstr>Histograms</vt:lpstr>
      <vt:lpstr>Boxplots</vt:lpstr>
      <vt:lpstr>Scatterplots</vt:lpstr>
      <vt:lpstr>Maps</vt:lpstr>
      <vt:lpstr>Create plots by R (ggplot2)</vt:lpstr>
      <vt:lpstr>Introduction to ggplot2</vt:lpstr>
      <vt:lpstr>Basic Structure of ggplot2</vt:lpstr>
      <vt:lpstr>Example: Scatter Plot in ggplot2</vt:lpstr>
      <vt:lpstr>Common Geoms</vt:lpstr>
      <vt:lpstr>Example: Improved Scatter Plot in ggplot2</vt:lpstr>
      <vt:lpstr>PRACTICE 1 - Using the dataset V, create a simple bar chart that shows the number of provinces in each region</vt:lpstr>
      <vt:lpstr>PRACTICE 2 - Using the dataset V, create a simple boxplot to display the distribution of poverty rates across regions, showing the poverty rates of provinces within each region.</vt:lpstr>
      <vt:lpstr>Building Maps and Reproducible Workflows In R</vt:lpstr>
      <vt:lpstr>Why Spatial Visualization Matters</vt:lpstr>
      <vt:lpstr>Why conduct spatial data analysis and visualization in R?</vt:lpstr>
      <vt:lpstr>Create a Map of Vietnam (R Code)</vt:lpstr>
      <vt:lpstr>Show Literacy in Vietnam (R Code)</vt:lpstr>
      <vt:lpstr>Show Literacy in Vietnam (R Code)</vt:lpstr>
      <vt:lpstr>Mapping Tips</vt:lpstr>
      <vt:lpstr>Reproducible Workflows</vt:lpstr>
      <vt:lpstr>Exporting Publication-Ready Figures</vt:lpstr>
      <vt:lpstr>Data Visualization by R Try an AI and Report (5 min.)</vt:lpstr>
      <vt:lpstr>Key Takeaways</vt:lpstr>
      <vt:lpstr>Discussion and Q&amp;A</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your template!</dc:title>
  <dc:subject>Presentation Template</dc:subject>
  <dc:creator>Microsoft Office User</dc:creator>
  <dc:description>Derek MacDavid | derek@bigpicdesign.com</dc:description>
  <cp:lastModifiedBy>Mirzazadeh, Ali</cp:lastModifiedBy>
  <cp:revision>194</cp:revision>
  <dcterms:created xsi:type="dcterms:W3CDTF">2017-04-18T17:07:44Z</dcterms:created>
  <dcterms:modified xsi:type="dcterms:W3CDTF">2026-03-17T17:26:29Z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0x01010009BFD5D484ED57438231C5F4848B6EC7</vt:lpwstr>
  </property>
</Properties>
</file>